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heme/theme2.xml" ContentType="application/vnd.openxmlformats-officedocument.theme+xml"/>
  <Override PartName="/ppt/tags/tag36.xml" ContentType="application/vnd.openxmlformats-officedocument.presentationml.tags+xml"/>
  <Override PartName="/ppt/notesSlides/notesSlide1.xml" ContentType="application/vnd.openxmlformats-officedocument.presentationml.notesSlide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57.xml" ContentType="application/vnd.openxmlformats-officedocument.presentationml.tags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97" r:id="rId4"/>
    <p:sldId id="298" r:id="rId5"/>
    <p:sldId id="258" r:id="rId6"/>
    <p:sldId id="259" r:id="rId7"/>
    <p:sldId id="260" r:id="rId8"/>
    <p:sldId id="261" r:id="rId9"/>
    <p:sldId id="262" r:id="rId10"/>
    <p:sldId id="320" r:id="rId11"/>
    <p:sldId id="263" r:id="rId12"/>
    <p:sldId id="264" r:id="rId13"/>
    <p:sldId id="321" r:id="rId14"/>
    <p:sldId id="265" r:id="rId15"/>
    <p:sldId id="266" r:id="rId16"/>
    <p:sldId id="267" r:id="rId17"/>
    <p:sldId id="322" r:id="rId18"/>
    <p:sldId id="268" r:id="rId19"/>
    <p:sldId id="269" r:id="rId20"/>
    <p:sldId id="323" r:id="rId21"/>
    <p:sldId id="270" r:id="rId22"/>
    <p:sldId id="271" r:id="rId23"/>
    <p:sldId id="272" r:id="rId24"/>
    <p:sldId id="273" r:id="rId25"/>
    <p:sldId id="274" r:id="rId26"/>
  </p:sldIdLst>
  <p:sldSz cx="12192000" cy="6858000"/>
  <p:notesSz cx="6858000" cy="9144000"/>
  <p:custDataLst>
    <p:tags r:id="rId2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7F08"/>
    <a:srgbClr val="08F1F4"/>
    <a:srgbClr val="0C0588"/>
    <a:srgbClr val="0AE9F5"/>
    <a:srgbClr val="00C9DC"/>
    <a:srgbClr val="969696"/>
    <a:srgbClr val="254FEB"/>
    <a:srgbClr val="F0F5FC"/>
    <a:srgbClr val="0A3CF5"/>
    <a:srgbClr val="0A06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86"/>
    <p:restoredTop sz="96405"/>
  </p:normalViewPr>
  <p:slideViewPr>
    <p:cSldViewPr snapToGrid="0" snapToObjects="1">
      <p:cViewPr varScale="1">
        <p:scale>
          <a:sx n="128" d="100"/>
          <a:sy n="128" d="100"/>
        </p:scale>
        <p:origin x="235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2A1F87-F110-1C45-9864-1659D3ED583F}" type="datetimeFigureOut">
              <a:rPr kumimoji="1" lang="zh-CN" altLang="en-US" smtClean="0"/>
              <a:t>2026/10/2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D39FF4-4997-9F4F-A2B0-9107E5679A8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各位评委好，我们的作品是 CPN-HRL-DAG，团队名称是云边智链。项目用可验证的调度方案，缩短云、边、端工作流的总完成时间。项目定位与功能依据为 README.md 和 docs/项目说明书.pdf。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云、边缘和终端的算力与通信条件不同，任务之间还有前后依赖，因此不能只选择计算最快的节点。跨节点数据传输和同一节点上的任务排队，都会推迟工作流完成。我们聚焦离线 DAG 调度，把依赖、资源和通信放进同一时间线，优化总完成时间。问题定义依据为 README.md 及 src/src/cpn_hrl_dag/scheduling/。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我们希望同时做到更短、更可信和可复现。系统输入 DAG 与资源配置，输出每个任务的节点和执行区间，并检查依赖、资源可行性和节点时间线。当前实现是调度仿真与算法实验框架，真实集群执行是后续工作。依据为 README.md 的主要功能与已知限制。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最接近的 CPN-HRL 已有两层学习决策和分阶段训练，我们将它适配到离线 DAG。HEFT 与 PEFT 提供启发式调度基础，本项目加入关键链搜索、独立完整候选以及统一校验。优势是能在同一环境下比较、解释和复核方案。来源为 docs/创新说明文档.docx，CPN-HRL DOI 为 10.1007/s44443-026-00690-x，HEFT DOI 为 10.1109/71.993206，PEFT DOI 为 10.1109/TPDS.2013.57。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我们的主要贡献归纳为两项：离线 DAG 分层调度适配，以及独立候选搜索与校验。LSTM、GAT、PPO、HEFT、PEFT 和束搜索都有已有来源；新增的是面向本问题的动作、时间线和机制集成。具体代码和验证依据见 docs/创新说明文档.docx。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当前输入包括任务依赖、执行代价与通信配置，输出每项任务的节点和执行区间，并进行完整合法性检查。视频处理和数据分析是潜在工作流建模示例，尚未开展对应业务部署。项目目前支持离线仿真与回放，真实多机执行和动态任务到达属于后续验证范围。依据为项目 README.md、src/src/cpn_hrl_dag/env/dag_env.py 及 demo 运行产物。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架构从场景与固定数据划分开始，在统一仿真环境中建模执行和通信。HEFT、独立搜索和冻结的 HRL 分别生成完整调度，再校验并选择完成时间最短的方案。HRL 不进入搜索分支，最终方案会再重放，因此分支贡献可以单独分析。依据为 src/src/cpn_hrl_dag/policies/hybrid.py、env/dag_env.py 和 evaluation/reporting.py。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工程上提供固定划分、随机种子、配置哈希和运行记录，便于复核结果。已在 openEuler 和 openKylin 的 x86_64 CPU 虚拟机中完成安装、测试、冒烟训练、评测和重载流程。内置六个演示场景与权重，依赖准备后可以离线展示。依据为 tests/platform/openeuler_vm_20260930/README.md、tests/platform/openkylin_vm_20260930/README.md 和 demo/manifest.json。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第一项贡献解决两层学习动作如何符合 DAG 依赖。高层只选前驱已放置的就绪任务，低层只选设备和容量可行的节点，实际开始时刻再由数据到达和空闲区间决定。我们把 HEFT 排序与 EFT 分配作为先验，网络学习有界残差，并用零初始化建立可核对的初始行为。训练阶段明确动作来源、更新层和冻结层，PPO 更新复用采样掩码；实现和验证分别见 policies/hrl.py、algorithms/phases.py、algorithms/ppo.py 及 src/tests/test_ppo_mask.py、test_training_utilities.py、test_simulator.py。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第二项贡献围绕完整候选的搜索与验证。搜索从实际时间线提取关键链，考虑前驱数据到达和节点前序任务阻塞，再做任务次序调整和任务块联合迁移。前缀快照与状态克隆复用未变部分，HEFT、搜索与 HRL 独立生成完整调度，统一校验后取最小完成时间，精确持平优先 HEFT。候选全部成功、合法且在同一确定性模拟器评分时，所选结果不劣于 HEFT，但不保证全局最优；实现和验证见 policies/portfolio.py、policies/hybrid.py、scheduling/simulator.py 及 src/tests/test_advanced_search.py、test_independent_hybrid.py。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Graph PPO 由单个 actor 在全部合法任务和节点配对中选择动作。Tier MAPPO 使用端、边、云三个 actor 各自提出合法动作，再由分类协调器选出一个提案，缺失或无合法动作的层不参与。两者共享图编码器，均不使用 HEFT 残差、搜索候选或学习安全封装。HRL搜索则分别完成 HEFT、独立搜索和冻结 HRL 调度，统一校验后择优。这里描述的是本项目统一环境中的基线实现；依据为 src/src/cpn_hrl_dag/models/graph_baselines.py、policies/graph_baselines.py、policies/hybrid.py 与 src/tests/test_graph_baselines.py。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三种子复用同一组一百零八个验证场景、五十四个基础 DAG。Graph PPO 的平均归一化完成时间为 1.029373，Tier MAPPO 为 1.097279，HRL搜索为 0.918223，较 HEFT 降低约百分之八点一八。HRL搜索每场景 CPU 推理平均为 5.297 秒，Graph PPO 为 0.821 秒，Tier MAPPO 为 1.060 秒，因此也应比较推理成本。主要收益来自搜索，HRL额外严格改善仅出现在种子2026的两个场景，验证集参与选模，所以这些数值不是独立测试集的泛化结论。HRL搜索对应实验记录的 hybrid 方法，数据依据为 tests/results/multiseed_20260925_122243/mean_std.csv 与 hybrid_attribution_by_seed.csv。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每种子的三个学习模型采用相同的 2592 episodes 和 384900 次任务决策预算，三种子复用相同的 108 个验证场景。独立搜索 mean_ratio 为 0.918239，HRL搜索为 0.918223，主要收益来自搜索，HRL额外增量仅在种子2026的两个场景出现，跨种子平均约为0.001603个百分点。组合每种子相对HEFT均为106个场景改善、零退化和两个持平，全部调度合法；这是本批次固定场景的观察结果。CPU计时包括候选生成、校验、选择与最终重放，验证集参与选模，当前没有独立test泛化证据，324条seed与场景记录也不是324个独立样本。依据为 tests/results/multiseed_20260925_122243/三种子训练验收与结果报告.md 及 mean_std.csv、training_budget.csv、hybrid_attribution_by_seed.csv。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下面演示完整流程：先用 run_demo.py 在 CPU 上重新生成结果，再打开离线页面并选择一百任务的异构场景。页面展示四种方案的校验状态、完成时间与推理耗时，结果已保存，可随时复查。这里的一百任务场景改善百分之二十四点二二，只代表这个样例；六场景平均改善约百分之五点三六，不能替代完整验证成绩。画面与数值来自 demo/runs/20261001_154343_944150/index.html、summary.json 和 status.json。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在相同场景下切换 HEFT、搜索、HRL 和组合方案，能够看到对应的节点时间线。这个样例中，HEFT 完成时间是一百五十六点一七二，搜索与组合均为一百一十八点三五四，纯 HRL 为一百五十九点二四九，组合选择了搜索候选。播放、暂停与拖动时间滑块展示的是已验证调度的回放，时间单位沿用源数据与模拟器。画面与数值依据为 demo/runs/20261001_154343_944150/results.json 和离线页面。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点击任务，可以沿 DAG 查看它的前驱、工作量、分配节点和执行区间。这里选择 T49，可以核对其七个前驱及在 cloud_1 上的执行位置；依赖是否满足由调度校验器检查。最后导出本次结果 JSON，并查看保存的 CSV 指标与来源记录，完成从场景到可复核结果的闭环。画面与证据来自 demo/runs/20261001_154343_944150/ 的页面、results.json、metrics.csv 与 provenance.json。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当前价值是提供统一的调度比较环境，将执行区间、合法性和推理成本一起记录，并通过时间线和DAG详情支持复核。下一步先冻结配置开展独立test评估，受控比较训练阶段，再研究搜索预算与质量的取舍。真实多机通信、执行误差与故障反馈尚需单独验证；openEuler与openKylin的CPU虚拟机烟测仅提供兼容性证据。依据为 README.md、demo/runs/20261001_154343_944150/、tests/results/multiseed_20260925_122243/三种子训练验收与结果报告.md、tests/platform/openeuler_vm_20260930/README.md 与 tests/platform/openkylin_vm_20260930/README.md。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项目的价值是把调度优化、合法性校验和可复现展示连在一起，让云边端工作流的方案可以比较和复核。下一步将加强独立测试、学习增益与推理成本评估，并验证真实多机执行。谢谢各位评委，欢迎提问。现有能力与边界依据为 README.md 和 docs/创新说明文档.docx。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16x9kv-底图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7" name="标题 1"/>
          <p:cNvSpPr>
            <a:spLocks noGrp="1"/>
          </p:cNvSpPr>
          <p:nvPr>
            <p:ph type="ctrTitle" hasCustomPrompt="1"/>
          </p:nvPr>
        </p:nvSpPr>
        <p:spPr>
          <a:xfrm>
            <a:off x="1157605" y="1861820"/>
            <a:ext cx="9876790" cy="1758950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6000" b="1" i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kumimoji="1" lang="zh-CN" altLang="en-US" dirty="0"/>
              <a:t>单击此处编辑作品名称</a:t>
            </a:r>
          </a:p>
        </p:txBody>
      </p:sp>
      <p:sp>
        <p:nvSpPr>
          <p:cNvPr id="38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BA00916-396A-A444-B6A6-572F44C7530F}" type="datetimeFigureOut">
              <a:rPr kumimoji="1" lang="zh-CN" altLang="en-US" smtClean="0"/>
              <a:t>2026/10/2</a:t>
            </a:fld>
            <a:endParaRPr kumimoji="1" lang="zh-CN" altLang="en-US"/>
          </a:p>
        </p:txBody>
      </p:sp>
      <p:sp>
        <p:nvSpPr>
          <p:cNvPr id="39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40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4" name="文本占位符 9"/>
          <p:cNvSpPr>
            <a:spLocks noGrp="1"/>
          </p:cNvSpPr>
          <p:nvPr>
            <p:ph type="body" sz="quarter" idx="14" hasCustomPrompt="1"/>
          </p:nvPr>
        </p:nvSpPr>
        <p:spPr>
          <a:xfrm>
            <a:off x="5099050" y="4641215"/>
            <a:ext cx="3993515" cy="290195"/>
          </a:xfrm>
        </p:spPr>
        <p:txBody>
          <a:bodyPr anchor="t"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ea"/>
                <a:ea typeface="+mn-ea"/>
              </a:defRPr>
            </a:lvl1pPr>
            <a:lvl2pPr>
              <a:defRPr sz="2000">
                <a:latin typeface="+mj-ea"/>
                <a:ea typeface="+mj-ea"/>
              </a:defRPr>
            </a:lvl2pPr>
            <a:lvl3pPr>
              <a:defRPr sz="2000">
                <a:latin typeface="+mj-ea"/>
                <a:ea typeface="+mj-ea"/>
              </a:defRPr>
            </a:lvl3pPr>
            <a:lvl4pPr>
              <a:defRPr sz="2000">
                <a:latin typeface="+mj-ea"/>
                <a:ea typeface="+mj-ea"/>
              </a:defRPr>
            </a:lvl4pPr>
            <a:lvl5pPr>
              <a:defRPr sz="2000">
                <a:latin typeface="+mj-ea"/>
                <a:ea typeface="+mj-ea"/>
              </a:defRPr>
            </a:lvl5pPr>
          </a:lstStyle>
          <a:p>
            <a:pPr lvl="0"/>
            <a:r>
              <a:rPr kumimoji="1" lang="zh-CN" altLang="en-US" dirty="0"/>
              <a:t>编辑队伍名称</a:t>
            </a:r>
            <a:r>
              <a:rPr kumimoji="1" lang="en-US" altLang="zh-CN" dirty="0"/>
              <a:t> </a:t>
            </a:r>
            <a:r>
              <a:rPr kumimoji="1" lang="zh-CN" altLang="en-US" dirty="0"/>
              <a:t>禁止出现学校和成员信息</a:t>
            </a:r>
          </a:p>
        </p:txBody>
      </p:sp>
      <p:sp>
        <p:nvSpPr>
          <p:cNvPr id="7" name="文本占位符 9"/>
          <p:cNvSpPr>
            <a:spLocks noGrp="1"/>
          </p:cNvSpPr>
          <p:nvPr>
            <p:ph type="body" sz="quarter" idx="20" hasCustomPrompt="1"/>
          </p:nvPr>
        </p:nvSpPr>
        <p:spPr>
          <a:xfrm>
            <a:off x="5099050" y="5077460"/>
            <a:ext cx="3992880" cy="290195"/>
          </a:xfrm>
        </p:spPr>
        <p:txBody>
          <a:bodyPr anchor="t"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ea"/>
                <a:ea typeface="+mn-ea"/>
              </a:defRPr>
            </a:lvl1pPr>
            <a:lvl2pPr>
              <a:defRPr sz="2000">
                <a:latin typeface="+mj-ea"/>
                <a:ea typeface="+mj-ea"/>
              </a:defRPr>
            </a:lvl2pPr>
            <a:lvl3pPr>
              <a:defRPr sz="2000">
                <a:latin typeface="+mj-ea"/>
                <a:ea typeface="+mj-ea"/>
              </a:defRPr>
            </a:lvl3pPr>
            <a:lvl4pPr>
              <a:defRPr sz="2000">
                <a:latin typeface="+mj-ea"/>
                <a:ea typeface="+mj-ea"/>
              </a:defRPr>
            </a:lvl4pPr>
            <a:lvl5pPr>
              <a:defRPr sz="2000">
                <a:latin typeface="+mj-ea"/>
                <a:ea typeface="+mj-ea"/>
              </a:defRPr>
            </a:lvl5pPr>
          </a:lstStyle>
          <a:p>
            <a:pPr lvl="0"/>
            <a:r>
              <a:rPr kumimoji="1" lang="zh-CN" altLang="en-US" dirty="0"/>
              <a:t>编辑完成日期</a:t>
            </a:r>
            <a:r>
              <a:rPr kumimoji="1" lang="en-US" altLang="zh-CN" dirty="0"/>
              <a:t> </a:t>
            </a:r>
            <a:r>
              <a:rPr kumimoji="1" lang="zh-CN" altLang="en-US" dirty="0">
                <a:sym typeface="+mn-ea"/>
              </a:rPr>
              <a:t>禁止出现学校和成员信息</a:t>
            </a:r>
            <a:endParaRPr kumimoji="1" lang="zh-CN" altLang="en-US" dirty="0"/>
          </a:p>
          <a:p>
            <a:pPr lvl="0"/>
            <a:endParaRPr kumimoji="1" lang="en-US" altLang="zh-CN" dirty="0"/>
          </a:p>
        </p:txBody>
      </p:sp>
      <p:sp>
        <p:nvSpPr>
          <p:cNvPr id="9" name="文本占位符 9"/>
          <p:cNvSpPr>
            <a:spLocks noGrp="1"/>
          </p:cNvSpPr>
          <p:nvPr>
            <p:ph type="body" sz="quarter" idx="22" hasCustomPrompt="1"/>
          </p:nvPr>
        </p:nvSpPr>
        <p:spPr>
          <a:xfrm>
            <a:off x="3937218" y="4640664"/>
            <a:ext cx="1161805" cy="290369"/>
          </a:xfrm>
        </p:spPr>
        <p:txBody>
          <a:bodyPr anchor="t"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ea"/>
                <a:ea typeface="+mn-ea"/>
              </a:defRPr>
            </a:lvl1pPr>
            <a:lvl2pPr>
              <a:defRPr sz="2000">
                <a:latin typeface="+mj-ea"/>
                <a:ea typeface="+mj-ea"/>
              </a:defRPr>
            </a:lvl2pPr>
            <a:lvl3pPr>
              <a:defRPr sz="2000">
                <a:latin typeface="+mj-ea"/>
                <a:ea typeface="+mj-ea"/>
              </a:defRPr>
            </a:lvl3pPr>
            <a:lvl4pPr>
              <a:defRPr sz="2000">
                <a:latin typeface="+mj-ea"/>
                <a:ea typeface="+mj-ea"/>
              </a:defRPr>
            </a:lvl4pPr>
            <a:lvl5pPr>
              <a:defRPr sz="2000">
                <a:latin typeface="+mj-ea"/>
                <a:ea typeface="+mj-ea"/>
              </a:defRPr>
            </a:lvl5pPr>
          </a:lstStyle>
          <a:p>
            <a:pPr lvl="0"/>
            <a:r>
              <a:rPr kumimoji="1" lang="zh-CN" altLang="en-US" dirty="0"/>
              <a:t>参赛团队：</a:t>
            </a:r>
          </a:p>
        </p:txBody>
      </p:sp>
      <p:sp>
        <p:nvSpPr>
          <p:cNvPr id="54" name="文本占位符 9"/>
          <p:cNvSpPr>
            <a:spLocks noGrp="1"/>
          </p:cNvSpPr>
          <p:nvPr>
            <p:ph type="body" sz="quarter" idx="25" hasCustomPrompt="1"/>
          </p:nvPr>
        </p:nvSpPr>
        <p:spPr>
          <a:xfrm>
            <a:off x="3937218" y="5077480"/>
            <a:ext cx="1161805" cy="290371"/>
          </a:xfrm>
        </p:spPr>
        <p:txBody>
          <a:bodyPr anchor="t"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ea"/>
                <a:ea typeface="+mn-ea"/>
              </a:defRPr>
            </a:lvl1pPr>
            <a:lvl2pPr>
              <a:defRPr sz="2000">
                <a:latin typeface="+mj-ea"/>
                <a:ea typeface="+mj-ea"/>
              </a:defRPr>
            </a:lvl2pPr>
            <a:lvl3pPr>
              <a:defRPr sz="2000">
                <a:latin typeface="+mj-ea"/>
                <a:ea typeface="+mj-ea"/>
              </a:defRPr>
            </a:lvl3pPr>
            <a:lvl4pPr>
              <a:defRPr sz="2000">
                <a:latin typeface="+mj-ea"/>
                <a:ea typeface="+mj-ea"/>
              </a:defRPr>
            </a:lvl4pPr>
            <a:lvl5pPr>
              <a:defRPr sz="2000">
                <a:latin typeface="+mj-ea"/>
                <a:ea typeface="+mj-ea"/>
              </a:defRPr>
            </a:lvl5pPr>
          </a:lstStyle>
          <a:p>
            <a:pPr lvl="0"/>
            <a:r>
              <a:rPr kumimoji="1" lang="zh-CN" altLang="en-US" dirty="0"/>
              <a:t>完成日期：</a:t>
            </a:r>
          </a:p>
        </p:txBody>
      </p:sp>
      <p:pic>
        <p:nvPicPr>
          <p:cNvPr id="2" name="图片 1" descr="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00380" y="294640"/>
            <a:ext cx="11202035" cy="4222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bg>
      <p:bgPr>
        <a:solidFill>
          <a:srgbClr val="F0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  <a:t>2026/10/2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grpSp>
        <p:nvGrpSpPr>
          <p:cNvPr id="105" name="组合 104"/>
          <p:cNvGrpSpPr/>
          <p:nvPr userDrawn="1"/>
        </p:nvGrpSpPr>
        <p:grpSpPr>
          <a:xfrm>
            <a:off x="364475" y="2361991"/>
            <a:ext cx="4978706" cy="1729076"/>
            <a:chOff x="342441" y="2221843"/>
            <a:chExt cx="4978706" cy="1729076"/>
          </a:xfrm>
        </p:grpSpPr>
        <p:sp>
          <p:nvSpPr>
            <p:cNvPr id="107" name="标题 1"/>
            <p:cNvSpPr txBox="1"/>
            <p:nvPr userDrawn="1">
              <p:custDataLst>
                <p:tags r:id="rId1"/>
              </p:custDataLst>
            </p:nvPr>
          </p:nvSpPr>
          <p:spPr>
            <a:xfrm>
              <a:off x="1168706" y="3243360"/>
              <a:ext cx="3326176" cy="70755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600" b="1" kern="1200">
                  <a:solidFill>
                    <a:schemeClr val="tx2">
                      <a:lumMod val="50000"/>
                    </a:schemeClr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kumimoji="1" lang="en-US" altLang="zh-CN" sz="4000" dirty="0">
                  <a:solidFill>
                    <a:schemeClr val="tx2">
                      <a:lumMod val="20000"/>
                      <a:lumOff val="80000"/>
                      <a:alpha val="30000"/>
                    </a:schemeClr>
                  </a:solidFill>
                </a:rPr>
                <a:t>CONTENTS</a:t>
              </a:r>
            </a:p>
          </p:txBody>
        </p:sp>
        <p:sp>
          <p:nvSpPr>
            <p:cNvPr id="112" name="标题 1"/>
            <p:cNvSpPr txBox="1"/>
            <p:nvPr userDrawn="1">
              <p:custDataLst>
                <p:tags r:id="rId2"/>
              </p:custDataLst>
            </p:nvPr>
          </p:nvSpPr>
          <p:spPr>
            <a:xfrm>
              <a:off x="342441" y="2221843"/>
              <a:ext cx="4978706" cy="1021517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600" b="1" kern="1200">
                  <a:solidFill>
                    <a:schemeClr val="tx2">
                      <a:lumMod val="50000"/>
                    </a:schemeClr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kumimoji="1" lang="zh-CN" altLang="en-US" sz="6600" dirty="0">
                  <a:solidFill>
                    <a:srgbClr val="080A12"/>
                  </a:solidFill>
                </a:rPr>
                <a:t>目录</a:t>
              </a:r>
            </a:p>
          </p:txBody>
        </p:sp>
      </p:grp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35" y="0"/>
            <a:ext cx="12191365" cy="568325"/>
          </a:xfrm>
          <a:prstGeom prst="rect">
            <a:avLst/>
          </a:prstGeom>
        </p:spPr>
      </p:pic>
      <p:pic>
        <p:nvPicPr>
          <p:cNvPr id="2" name="图片 1" descr="logo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00380" y="73025"/>
            <a:ext cx="11202035" cy="4222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16x9kv-底图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  <a:t>2026/10/2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8" name="标题 1"/>
          <p:cNvSpPr txBox="1"/>
          <p:nvPr userDrawn="1"/>
        </p:nvSpPr>
        <p:spPr>
          <a:xfrm>
            <a:off x="2316480" y="2591380"/>
            <a:ext cx="2661920" cy="838835"/>
          </a:xfrm>
          <a:prstGeom prst="rect">
            <a:avLst/>
          </a:prstGeom>
          <a:noFill/>
        </p:spPr>
        <p:txBody>
          <a:bodyPr vert="horz" wrap="square" lIns="90000" tIns="45720" rIns="91440" bIns="45720" rtlCol="0" anchor="ctr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8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kumimoji="1" lang="en-US" altLang="zh-CN" sz="5400" b="1" cap="none" spc="0" dirty="0">
                <a:ln w="6600">
                  <a:noFill/>
                  <a:prstDash val="solid"/>
                </a:ln>
                <a:solidFill>
                  <a:schemeClr val="bg1"/>
                </a:solidFill>
                <a:effectLst/>
              </a:rPr>
              <a:t>Part 01</a:t>
            </a:r>
          </a:p>
        </p:txBody>
      </p:sp>
      <p:sp>
        <p:nvSpPr>
          <p:cNvPr id="29" name="文本占位符 17"/>
          <p:cNvSpPr>
            <a:spLocks noGrp="1"/>
          </p:cNvSpPr>
          <p:nvPr>
            <p:ph type="body" sz="quarter" idx="13" hasCustomPrompt="1"/>
          </p:nvPr>
        </p:nvSpPr>
        <p:spPr>
          <a:xfrm>
            <a:off x="5192421" y="2453241"/>
            <a:ext cx="4304799" cy="1115113"/>
          </a:xfrm>
        </p:spPr>
        <p:txBody>
          <a:bodyPr lIns="90000" anchor="ctr">
            <a:noAutofit/>
          </a:bodyPr>
          <a:lstStyle>
            <a:lvl1pPr marL="0" indent="0" algn="l">
              <a:buNone/>
              <a:defRPr sz="6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zh-CN" altLang="en-US" dirty="0"/>
              <a:t>项目介绍</a:t>
            </a:r>
          </a:p>
        </p:txBody>
      </p:sp>
      <p:sp>
        <p:nvSpPr>
          <p:cNvPr id="42" name="文本占位符 41"/>
          <p:cNvSpPr>
            <a:spLocks noGrp="1"/>
          </p:cNvSpPr>
          <p:nvPr>
            <p:ph type="body" sz="quarter" idx="14" hasCustomPrompt="1"/>
          </p:nvPr>
        </p:nvSpPr>
        <p:spPr>
          <a:xfrm>
            <a:off x="2330450" y="3770630"/>
            <a:ext cx="7531100" cy="972185"/>
          </a:xfrm>
        </p:spPr>
        <p:txBody>
          <a:bodyPr>
            <a:normAutofit/>
          </a:bodyPr>
          <a:lstStyle>
            <a:lvl1pPr marL="0" indent="0" algn="r">
              <a:lnSpc>
                <a:spcPct val="150000"/>
              </a:lnSpc>
              <a:buNone/>
              <a:defRPr sz="1400">
                <a:solidFill>
                  <a:schemeClr val="bg1"/>
                </a:solidFill>
                <a:latin typeface="+mj-ea"/>
                <a:ea typeface="+mj-ea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CN" altLang="en-US" dirty="0"/>
              <a:t>单击编辑文本，文字是您思想的提炼，为了最终演示的良好效果，请尽量言简意赅的阐述观点</a:t>
            </a:r>
          </a:p>
        </p:txBody>
      </p:sp>
      <p:pic>
        <p:nvPicPr>
          <p:cNvPr id="7" name="图片 6" descr="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00380" y="294640"/>
            <a:ext cx="11202035" cy="4222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bg>
      <p:bgPr>
        <a:solidFill>
          <a:srgbClr val="F0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  <a:t>2026/10/2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529218" y="1445886"/>
            <a:ext cx="11133563" cy="4622027"/>
          </a:xfrm>
        </p:spPr>
        <p:txBody>
          <a:bodyPr/>
          <a:lstStyle>
            <a:lvl1pPr>
              <a:defRPr b="0" i="0">
                <a:solidFill>
                  <a:srgbClr val="090509"/>
                </a:solidFill>
                <a:latin typeface="+mn-ea"/>
                <a:ea typeface="+mn-ea"/>
              </a:defRPr>
            </a:lvl1pPr>
            <a:lvl2pPr>
              <a:defRPr b="0" i="0">
                <a:solidFill>
                  <a:srgbClr val="090509"/>
                </a:solidFill>
                <a:latin typeface="+mn-ea"/>
                <a:ea typeface="+mn-ea"/>
              </a:defRPr>
            </a:lvl2pPr>
            <a:lvl3pPr>
              <a:defRPr b="0" i="0">
                <a:solidFill>
                  <a:srgbClr val="090509"/>
                </a:solidFill>
                <a:latin typeface="+mn-ea"/>
                <a:ea typeface="+mn-ea"/>
              </a:defRPr>
            </a:lvl3pPr>
            <a:lvl4pPr>
              <a:defRPr b="0" i="0">
                <a:solidFill>
                  <a:srgbClr val="090509"/>
                </a:solidFill>
                <a:latin typeface="+mn-ea"/>
                <a:ea typeface="+mn-ea"/>
              </a:defRPr>
            </a:lvl4pPr>
            <a:lvl5pPr>
              <a:defRPr b="0" i="0">
                <a:solidFill>
                  <a:srgbClr val="090509"/>
                </a:solidFill>
                <a:latin typeface="+mn-ea"/>
                <a:ea typeface="+mn-ea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12" name="标题 1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28955" y="522605"/>
            <a:ext cx="7624445" cy="491490"/>
          </a:xfrm>
        </p:spPr>
        <p:txBody>
          <a:bodyPr wrap="square" anchor="ctr" anchorCtr="0">
            <a:spAutoFit/>
          </a:bodyPr>
          <a:lstStyle>
            <a:lvl1pPr>
              <a:lnSpc>
                <a:spcPct val="100000"/>
              </a:lnSpc>
              <a:defRPr sz="2600" b="1">
                <a:solidFill>
                  <a:srgbClr val="254FEB"/>
                </a:solidFill>
                <a:effectLst/>
                <a:latin typeface="+mj-ea"/>
                <a:ea typeface="+mj-ea"/>
              </a:defRPr>
            </a:lvl1pPr>
          </a:lstStyle>
          <a:p>
            <a:r>
              <a:rPr lang="en-US" altLang="zh-CN" dirty="0"/>
              <a:t>1.1 </a:t>
            </a:r>
            <a:r>
              <a:rPr lang="zh-CN" altLang="en-US" dirty="0"/>
              <a:t>设计背景</a:t>
            </a:r>
          </a:p>
        </p:txBody>
      </p:sp>
      <p:sp>
        <p:nvSpPr>
          <p:cNvPr id="8" name="任意多边形 7"/>
          <p:cNvSpPr/>
          <p:nvPr userDrawn="1">
            <p:custDataLst>
              <p:tags r:id="rId2"/>
            </p:custDataLst>
          </p:nvPr>
        </p:nvSpPr>
        <p:spPr>
          <a:xfrm>
            <a:off x="589280" y="1022985"/>
            <a:ext cx="793750" cy="78105"/>
          </a:xfrm>
          <a:custGeom>
            <a:avLst/>
            <a:gdLst>
              <a:gd name="adj" fmla="val 84552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250" h="123">
                <a:moveTo>
                  <a:pt x="0" y="123"/>
                </a:moveTo>
                <a:lnTo>
                  <a:pt x="104" y="0"/>
                </a:lnTo>
                <a:lnTo>
                  <a:pt x="218" y="0"/>
                </a:lnTo>
                <a:lnTo>
                  <a:pt x="114" y="123"/>
                </a:lnTo>
                <a:lnTo>
                  <a:pt x="0" y="123"/>
                </a:lnTo>
                <a:close/>
                <a:moveTo>
                  <a:pt x="172" y="123"/>
                </a:moveTo>
                <a:lnTo>
                  <a:pt x="276" y="0"/>
                </a:lnTo>
                <a:lnTo>
                  <a:pt x="390" y="0"/>
                </a:lnTo>
                <a:lnTo>
                  <a:pt x="286" y="123"/>
                </a:lnTo>
                <a:lnTo>
                  <a:pt x="172" y="123"/>
                </a:lnTo>
                <a:close/>
                <a:moveTo>
                  <a:pt x="344" y="123"/>
                </a:moveTo>
                <a:lnTo>
                  <a:pt x="448" y="0"/>
                </a:lnTo>
                <a:lnTo>
                  <a:pt x="562" y="0"/>
                </a:lnTo>
                <a:lnTo>
                  <a:pt x="458" y="123"/>
                </a:lnTo>
                <a:lnTo>
                  <a:pt x="344" y="123"/>
                </a:lnTo>
                <a:close/>
                <a:moveTo>
                  <a:pt x="516" y="123"/>
                </a:moveTo>
                <a:lnTo>
                  <a:pt x="620" y="0"/>
                </a:lnTo>
                <a:lnTo>
                  <a:pt x="734" y="0"/>
                </a:lnTo>
                <a:lnTo>
                  <a:pt x="630" y="123"/>
                </a:lnTo>
                <a:lnTo>
                  <a:pt x="516" y="123"/>
                </a:lnTo>
                <a:close/>
                <a:moveTo>
                  <a:pt x="688" y="123"/>
                </a:moveTo>
                <a:lnTo>
                  <a:pt x="792" y="0"/>
                </a:lnTo>
                <a:lnTo>
                  <a:pt x="906" y="0"/>
                </a:lnTo>
                <a:lnTo>
                  <a:pt x="802" y="123"/>
                </a:lnTo>
                <a:lnTo>
                  <a:pt x="688" y="123"/>
                </a:lnTo>
                <a:close/>
                <a:moveTo>
                  <a:pt x="860" y="123"/>
                </a:moveTo>
                <a:lnTo>
                  <a:pt x="964" y="0"/>
                </a:lnTo>
                <a:lnTo>
                  <a:pt x="1078" y="0"/>
                </a:lnTo>
                <a:lnTo>
                  <a:pt x="974" y="123"/>
                </a:lnTo>
                <a:lnTo>
                  <a:pt x="860" y="123"/>
                </a:lnTo>
                <a:close/>
                <a:moveTo>
                  <a:pt x="1032" y="123"/>
                </a:moveTo>
                <a:lnTo>
                  <a:pt x="1136" y="0"/>
                </a:lnTo>
                <a:lnTo>
                  <a:pt x="1250" y="0"/>
                </a:lnTo>
                <a:lnTo>
                  <a:pt x="1146" y="123"/>
                </a:lnTo>
                <a:lnTo>
                  <a:pt x="1032" y="123"/>
                </a:lnTo>
                <a:close/>
              </a:path>
            </a:pathLst>
          </a:custGeom>
          <a:gradFill>
            <a:gsLst>
              <a:gs pos="29000">
                <a:srgbClr val="254FEB"/>
              </a:gs>
              <a:gs pos="100000">
                <a:srgbClr val="254FE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12191365" cy="568325"/>
          </a:xfrm>
          <a:prstGeom prst="rect">
            <a:avLst/>
          </a:prstGeom>
        </p:spPr>
      </p:pic>
      <p:pic>
        <p:nvPicPr>
          <p:cNvPr id="2" name="图片 1" descr="logo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00380" y="73025"/>
            <a:ext cx="11202035" cy="4222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仅标题">
    <p:bg>
      <p:bgPr>
        <a:solidFill>
          <a:srgbClr val="F0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  <a:t>2026/10/2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529218" y="1445886"/>
            <a:ext cx="11133563" cy="4622027"/>
          </a:xfrm>
        </p:spPr>
        <p:txBody>
          <a:bodyPr/>
          <a:lstStyle>
            <a:lvl1pPr>
              <a:defRPr b="0" i="0">
                <a:solidFill>
                  <a:srgbClr val="090509"/>
                </a:solidFill>
                <a:latin typeface="+mn-ea"/>
                <a:ea typeface="+mn-ea"/>
              </a:defRPr>
            </a:lvl1pPr>
            <a:lvl2pPr>
              <a:defRPr b="0" i="0">
                <a:solidFill>
                  <a:srgbClr val="090509"/>
                </a:solidFill>
                <a:latin typeface="+mn-ea"/>
                <a:ea typeface="+mn-ea"/>
              </a:defRPr>
            </a:lvl2pPr>
            <a:lvl3pPr>
              <a:defRPr b="0" i="0">
                <a:solidFill>
                  <a:srgbClr val="090509"/>
                </a:solidFill>
                <a:latin typeface="+mn-ea"/>
                <a:ea typeface="+mn-ea"/>
              </a:defRPr>
            </a:lvl3pPr>
            <a:lvl4pPr>
              <a:defRPr b="0" i="0">
                <a:solidFill>
                  <a:srgbClr val="090509"/>
                </a:solidFill>
                <a:latin typeface="+mn-ea"/>
                <a:ea typeface="+mn-ea"/>
              </a:defRPr>
            </a:lvl4pPr>
            <a:lvl5pPr>
              <a:defRPr b="0" i="0">
                <a:solidFill>
                  <a:srgbClr val="090509"/>
                </a:solidFill>
                <a:latin typeface="+mn-ea"/>
                <a:ea typeface="+mn-ea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12" name="标题 1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28955" y="522605"/>
            <a:ext cx="7624445" cy="491490"/>
          </a:xfrm>
        </p:spPr>
        <p:txBody>
          <a:bodyPr wrap="square" anchor="ctr" anchorCtr="0">
            <a:spAutoFit/>
          </a:bodyPr>
          <a:lstStyle>
            <a:lvl1pPr>
              <a:lnSpc>
                <a:spcPct val="100000"/>
              </a:lnSpc>
              <a:defRPr sz="2600" b="1">
                <a:solidFill>
                  <a:srgbClr val="254FEB"/>
                </a:solidFill>
                <a:effectLst/>
                <a:latin typeface="+mj-ea"/>
                <a:ea typeface="+mj-ea"/>
                <a:cs typeface="+mj-ea"/>
              </a:defRPr>
            </a:lvl1pPr>
          </a:lstStyle>
          <a:p>
            <a:r>
              <a:rPr lang="en-US" altLang="zh-CN" dirty="0"/>
              <a:t>1.2 </a:t>
            </a:r>
            <a:r>
              <a:rPr lang="zh-CN" altLang="en-US" dirty="0"/>
              <a:t>设计目标</a:t>
            </a:r>
          </a:p>
        </p:txBody>
      </p:sp>
      <p:sp>
        <p:nvSpPr>
          <p:cNvPr id="10" name="任意多边形 9"/>
          <p:cNvSpPr/>
          <p:nvPr userDrawn="1">
            <p:custDataLst>
              <p:tags r:id="rId2"/>
            </p:custDataLst>
          </p:nvPr>
        </p:nvSpPr>
        <p:spPr>
          <a:xfrm>
            <a:off x="589280" y="1022985"/>
            <a:ext cx="793750" cy="78105"/>
          </a:xfrm>
          <a:custGeom>
            <a:avLst/>
            <a:gdLst>
              <a:gd name="adj" fmla="val 84552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250" h="123">
                <a:moveTo>
                  <a:pt x="0" y="123"/>
                </a:moveTo>
                <a:lnTo>
                  <a:pt x="104" y="0"/>
                </a:lnTo>
                <a:lnTo>
                  <a:pt x="218" y="0"/>
                </a:lnTo>
                <a:lnTo>
                  <a:pt x="114" y="123"/>
                </a:lnTo>
                <a:lnTo>
                  <a:pt x="0" y="123"/>
                </a:lnTo>
                <a:close/>
                <a:moveTo>
                  <a:pt x="172" y="123"/>
                </a:moveTo>
                <a:lnTo>
                  <a:pt x="276" y="0"/>
                </a:lnTo>
                <a:lnTo>
                  <a:pt x="390" y="0"/>
                </a:lnTo>
                <a:lnTo>
                  <a:pt x="286" y="123"/>
                </a:lnTo>
                <a:lnTo>
                  <a:pt x="172" y="123"/>
                </a:lnTo>
                <a:close/>
                <a:moveTo>
                  <a:pt x="344" y="123"/>
                </a:moveTo>
                <a:lnTo>
                  <a:pt x="448" y="0"/>
                </a:lnTo>
                <a:lnTo>
                  <a:pt x="562" y="0"/>
                </a:lnTo>
                <a:lnTo>
                  <a:pt x="458" y="123"/>
                </a:lnTo>
                <a:lnTo>
                  <a:pt x="344" y="123"/>
                </a:lnTo>
                <a:close/>
                <a:moveTo>
                  <a:pt x="516" y="123"/>
                </a:moveTo>
                <a:lnTo>
                  <a:pt x="620" y="0"/>
                </a:lnTo>
                <a:lnTo>
                  <a:pt x="734" y="0"/>
                </a:lnTo>
                <a:lnTo>
                  <a:pt x="630" y="123"/>
                </a:lnTo>
                <a:lnTo>
                  <a:pt x="516" y="123"/>
                </a:lnTo>
                <a:close/>
                <a:moveTo>
                  <a:pt x="688" y="123"/>
                </a:moveTo>
                <a:lnTo>
                  <a:pt x="792" y="0"/>
                </a:lnTo>
                <a:lnTo>
                  <a:pt x="906" y="0"/>
                </a:lnTo>
                <a:lnTo>
                  <a:pt x="802" y="123"/>
                </a:lnTo>
                <a:lnTo>
                  <a:pt x="688" y="123"/>
                </a:lnTo>
                <a:close/>
                <a:moveTo>
                  <a:pt x="860" y="123"/>
                </a:moveTo>
                <a:lnTo>
                  <a:pt x="964" y="0"/>
                </a:lnTo>
                <a:lnTo>
                  <a:pt x="1078" y="0"/>
                </a:lnTo>
                <a:lnTo>
                  <a:pt x="974" y="123"/>
                </a:lnTo>
                <a:lnTo>
                  <a:pt x="860" y="123"/>
                </a:lnTo>
                <a:close/>
                <a:moveTo>
                  <a:pt x="1032" y="123"/>
                </a:moveTo>
                <a:lnTo>
                  <a:pt x="1136" y="0"/>
                </a:lnTo>
                <a:lnTo>
                  <a:pt x="1250" y="0"/>
                </a:lnTo>
                <a:lnTo>
                  <a:pt x="1146" y="123"/>
                </a:lnTo>
                <a:lnTo>
                  <a:pt x="1032" y="123"/>
                </a:lnTo>
                <a:close/>
              </a:path>
            </a:pathLst>
          </a:custGeom>
          <a:gradFill>
            <a:gsLst>
              <a:gs pos="29000">
                <a:srgbClr val="254FEB"/>
              </a:gs>
              <a:gs pos="100000">
                <a:srgbClr val="254FE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12191365" cy="568325"/>
          </a:xfrm>
          <a:prstGeom prst="rect">
            <a:avLst/>
          </a:prstGeom>
        </p:spPr>
      </p:pic>
      <p:pic>
        <p:nvPicPr>
          <p:cNvPr id="2" name="图片 1" descr="logo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00380" y="73025"/>
            <a:ext cx="11202035" cy="4222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仅标题">
    <p:bg>
      <p:bgPr>
        <a:solidFill>
          <a:srgbClr val="F0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  <a:t>2026/10/2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529218" y="1445886"/>
            <a:ext cx="11133563" cy="4622027"/>
          </a:xfrm>
        </p:spPr>
        <p:txBody>
          <a:bodyPr/>
          <a:lstStyle>
            <a:lvl1pPr>
              <a:defRPr b="0" i="0">
                <a:solidFill>
                  <a:srgbClr val="090509"/>
                </a:solidFill>
                <a:latin typeface="+mn-ea"/>
                <a:ea typeface="+mn-ea"/>
              </a:defRPr>
            </a:lvl1pPr>
            <a:lvl2pPr>
              <a:defRPr b="0" i="0">
                <a:solidFill>
                  <a:srgbClr val="090509"/>
                </a:solidFill>
                <a:latin typeface="+mn-ea"/>
                <a:ea typeface="+mn-ea"/>
              </a:defRPr>
            </a:lvl2pPr>
            <a:lvl3pPr>
              <a:defRPr b="0" i="0">
                <a:solidFill>
                  <a:srgbClr val="090509"/>
                </a:solidFill>
                <a:latin typeface="+mn-ea"/>
                <a:ea typeface="+mn-ea"/>
              </a:defRPr>
            </a:lvl3pPr>
            <a:lvl4pPr>
              <a:defRPr b="0" i="0">
                <a:solidFill>
                  <a:srgbClr val="090509"/>
                </a:solidFill>
                <a:latin typeface="+mn-ea"/>
                <a:ea typeface="+mn-ea"/>
              </a:defRPr>
            </a:lvl4pPr>
            <a:lvl5pPr>
              <a:defRPr b="0" i="0">
                <a:solidFill>
                  <a:srgbClr val="090509"/>
                </a:solidFill>
                <a:latin typeface="+mn-ea"/>
                <a:ea typeface="+mn-ea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12" name="标题 1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28955" y="522605"/>
            <a:ext cx="7624445" cy="491490"/>
          </a:xfrm>
        </p:spPr>
        <p:txBody>
          <a:bodyPr wrap="square" anchor="ctr" anchorCtr="0">
            <a:spAutoFit/>
          </a:bodyPr>
          <a:lstStyle>
            <a:lvl1pPr>
              <a:lnSpc>
                <a:spcPct val="100000"/>
              </a:lnSpc>
              <a:defRPr sz="2600" b="1">
                <a:solidFill>
                  <a:srgbClr val="254FEB"/>
                </a:solidFill>
                <a:effectLst/>
                <a:latin typeface="+mj-ea"/>
                <a:ea typeface="+mj-ea"/>
                <a:cs typeface="+mj-ea"/>
              </a:defRPr>
            </a:lvl1pPr>
          </a:lstStyle>
          <a:p>
            <a:r>
              <a:rPr lang="en-US" altLang="zh-CN" dirty="0"/>
              <a:t>1.3 </a:t>
            </a:r>
            <a:r>
              <a:rPr lang="zh-CN" altLang="en-US" dirty="0"/>
              <a:t>设计简介</a:t>
            </a:r>
          </a:p>
        </p:txBody>
      </p:sp>
      <p:sp>
        <p:nvSpPr>
          <p:cNvPr id="10" name="任意多边形 9"/>
          <p:cNvSpPr/>
          <p:nvPr userDrawn="1">
            <p:custDataLst>
              <p:tags r:id="rId2"/>
            </p:custDataLst>
          </p:nvPr>
        </p:nvSpPr>
        <p:spPr>
          <a:xfrm>
            <a:off x="589280" y="1022985"/>
            <a:ext cx="793750" cy="78105"/>
          </a:xfrm>
          <a:custGeom>
            <a:avLst/>
            <a:gdLst>
              <a:gd name="adj" fmla="val 84552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250" h="123">
                <a:moveTo>
                  <a:pt x="0" y="123"/>
                </a:moveTo>
                <a:lnTo>
                  <a:pt x="104" y="0"/>
                </a:lnTo>
                <a:lnTo>
                  <a:pt x="218" y="0"/>
                </a:lnTo>
                <a:lnTo>
                  <a:pt x="114" y="123"/>
                </a:lnTo>
                <a:lnTo>
                  <a:pt x="0" y="123"/>
                </a:lnTo>
                <a:close/>
                <a:moveTo>
                  <a:pt x="172" y="123"/>
                </a:moveTo>
                <a:lnTo>
                  <a:pt x="276" y="0"/>
                </a:lnTo>
                <a:lnTo>
                  <a:pt x="390" y="0"/>
                </a:lnTo>
                <a:lnTo>
                  <a:pt x="286" y="123"/>
                </a:lnTo>
                <a:lnTo>
                  <a:pt x="172" y="123"/>
                </a:lnTo>
                <a:close/>
                <a:moveTo>
                  <a:pt x="344" y="123"/>
                </a:moveTo>
                <a:lnTo>
                  <a:pt x="448" y="0"/>
                </a:lnTo>
                <a:lnTo>
                  <a:pt x="562" y="0"/>
                </a:lnTo>
                <a:lnTo>
                  <a:pt x="458" y="123"/>
                </a:lnTo>
                <a:lnTo>
                  <a:pt x="344" y="123"/>
                </a:lnTo>
                <a:close/>
                <a:moveTo>
                  <a:pt x="516" y="123"/>
                </a:moveTo>
                <a:lnTo>
                  <a:pt x="620" y="0"/>
                </a:lnTo>
                <a:lnTo>
                  <a:pt x="734" y="0"/>
                </a:lnTo>
                <a:lnTo>
                  <a:pt x="630" y="123"/>
                </a:lnTo>
                <a:lnTo>
                  <a:pt x="516" y="123"/>
                </a:lnTo>
                <a:close/>
                <a:moveTo>
                  <a:pt x="688" y="123"/>
                </a:moveTo>
                <a:lnTo>
                  <a:pt x="792" y="0"/>
                </a:lnTo>
                <a:lnTo>
                  <a:pt x="906" y="0"/>
                </a:lnTo>
                <a:lnTo>
                  <a:pt x="802" y="123"/>
                </a:lnTo>
                <a:lnTo>
                  <a:pt x="688" y="123"/>
                </a:lnTo>
                <a:close/>
                <a:moveTo>
                  <a:pt x="860" y="123"/>
                </a:moveTo>
                <a:lnTo>
                  <a:pt x="964" y="0"/>
                </a:lnTo>
                <a:lnTo>
                  <a:pt x="1078" y="0"/>
                </a:lnTo>
                <a:lnTo>
                  <a:pt x="974" y="123"/>
                </a:lnTo>
                <a:lnTo>
                  <a:pt x="860" y="123"/>
                </a:lnTo>
                <a:close/>
                <a:moveTo>
                  <a:pt x="1032" y="123"/>
                </a:moveTo>
                <a:lnTo>
                  <a:pt x="1136" y="0"/>
                </a:lnTo>
                <a:lnTo>
                  <a:pt x="1250" y="0"/>
                </a:lnTo>
                <a:lnTo>
                  <a:pt x="1146" y="123"/>
                </a:lnTo>
                <a:lnTo>
                  <a:pt x="1032" y="123"/>
                </a:lnTo>
                <a:close/>
              </a:path>
            </a:pathLst>
          </a:custGeom>
          <a:gradFill>
            <a:gsLst>
              <a:gs pos="29000">
                <a:srgbClr val="254FEB"/>
              </a:gs>
              <a:gs pos="100000">
                <a:srgbClr val="254FE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35" y="0"/>
            <a:ext cx="12191365" cy="568325"/>
          </a:xfrm>
          <a:prstGeom prst="rect">
            <a:avLst/>
          </a:prstGeom>
        </p:spPr>
      </p:pic>
      <p:pic>
        <p:nvPicPr>
          <p:cNvPr id="2" name="图片 1" descr="logo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00380" y="73025"/>
            <a:ext cx="11202035" cy="4222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仅标题">
    <p:bg>
      <p:bgPr>
        <a:solidFill>
          <a:srgbClr val="F0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  <a:t>2026/10/2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529218" y="1445886"/>
            <a:ext cx="11133563" cy="4622027"/>
          </a:xfrm>
        </p:spPr>
        <p:txBody>
          <a:bodyPr/>
          <a:lstStyle>
            <a:lvl1pPr>
              <a:defRPr b="0" i="0">
                <a:solidFill>
                  <a:srgbClr val="090509"/>
                </a:solidFill>
                <a:latin typeface="+mn-ea"/>
                <a:ea typeface="+mn-ea"/>
              </a:defRPr>
            </a:lvl1pPr>
            <a:lvl2pPr>
              <a:defRPr b="0" i="0">
                <a:solidFill>
                  <a:srgbClr val="090509"/>
                </a:solidFill>
                <a:latin typeface="+mn-ea"/>
                <a:ea typeface="+mn-ea"/>
              </a:defRPr>
            </a:lvl2pPr>
            <a:lvl3pPr>
              <a:defRPr b="0" i="0">
                <a:solidFill>
                  <a:srgbClr val="090509"/>
                </a:solidFill>
                <a:latin typeface="+mn-ea"/>
                <a:ea typeface="+mn-ea"/>
              </a:defRPr>
            </a:lvl3pPr>
            <a:lvl4pPr>
              <a:defRPr b="0" i="0">
                <a:solidFill>
                  <a:srgbClr val="090509"/>
                </a:solidFill>
                <a:latin typeface="+mn-ea"/>
                <a:ea typeface="+mn-ea"/>
              </a:defRPr>
            </a:lvl4pPr>
            <a:lvl5pPr>
              <a:defRPr b="0" i="0">
                <a:solidFill>
                  <a:srgbClr val="090509"/>
                </a:solidFill>
                <a:latin typeface="+mn-ea"/>
                <a:ea typeface="+mn-ea"/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12" name="标题 1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28955" y="522605"/>
            <a:ext cx="7624445" cy="491490"/>
          </a:xfrm>
        </p:spPr>
        <p:txBody>
          <a:bodyPr wrap="square" anchor="ctr" anchorCtr="0">
            <a:spAutoFit/>
          </a:bodyPr>
          <a:lstStyle>
            <a:lvl1pPr>
              <a:lnSpc>
                <a:spcPct val="100000"/>
              </a:lnSpc>
              <a:defRPr sz="2600" b="1">
                <a:solidFill>
                  <a:srgbClr val="254FEB"/>
                </a:solidFill>
                <a:effectLst/>
                <a:latin typeface="+mj-ea"/>
                <a:ea typeface="+mj-ea"/>
                <a:cs typeface="+mj-ea"/>
              </a:defRPr>
            </a:lvl1pPr>
          </a:lstStyle>
          <a:p>
            <a:r>
              <a:rPr lang="en-US" altLang="zh-CN" dirty="0"/>
              <a:t>1.4 </a:t>
            </a:r>
            <a:r>
              <a:rPr lang="zh-CN" altLang="en-US" dirty="0"/>
              <a:t>作品原创性情况说明</a:t>
            </a:r>
          </a:p>
        </p:txBody>
      </p:sp>
      <p:sp>
        <p:nvSpPr>
          <p:cNvPr id="10" name="任意多边形 9"/>
          <p:cNvSpPr/>
          <p:nvPr userDrawn="1">
            <p:custDataLst>
              <p:tags r:id="rId2"/>
            </p:custDataLst>
          </p:nvPr>
        </p:nvSpPr>
        <p:spPr>
          <a:xfrm>
            <a:off x="589280" y="1022985"/>
            <a:ext cx="793750" cy="78105"/>
          </a:xfrm>
          <a:custGeom>
            <a:avLst/>
            <a:gdLst>
              <a:gd name="adj" fmla="val 84552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250" h="123">
                <a:moveTo>
                  <a:pt x="0" y="123"/>
                </a:moveTo>
                <a:lnTo>
                  <a:pt x="104" y="0"/>
                </a:lnTo>
                <a:lnTo>
                  <a:pt x="218" y="0"/>
                </a:lnTo>
                <a:lnTo>
                  <a:pt x="114" y="123"/>
                </a:lnTo>
                <a:lnTo>
                  <a:pt x="0" y="123"/>
                </a:lnTo>
                <a:close/>
                <a:moveTo>
                  <a:pt x="172" y="123"/>
                </a:moveTo>
                <a:lnTo>
                  <a:pt x="276" y="0"/>
                </a:lnTo>
                <a:lnTo>
                  <a:pt x="390" y="0"/>
                </a:lnTo>
                <a:lnTo>
                  <a:pt x="286" y="123"/>
                </a:lnTo>
                <a:lnTo>
                  <a:pt x="172" y="123"/>
                </a:lnTo>
                <a:close/>
                <a:moveTo>
                  <a:pt x="344" y="123"/>
                </a:moveTo>
                <a:lnTo>
                  <a:pt x="448" y="0"/>
                </a:lnTo>
                <a:lnTo>
                  <a:pt x="562" y="0"/>
                </a:lnTo>
                <a:lnTo>
                  <a:pt x="458" y="123"/>
                </a:lnTo>
                <a:lnTo>
                  <a:pt x="344" y="123"/>
                </a:lnTo>
                <a:close/>
                <a:moveTo>
                  <a:pt x="516" y="123"/>
                </a:moveTo>
                <a:lnTo>
                  <a:pt x="620" y="0"/>
                </a:lnTo>
                <a:lnTo>
                  <a:pt x="734" y="0"/>
                </a:lnTo>
                <a:lnTo>
                  <a:pt x="630" y="123"/>
                </a:lnTo>
                <a:lnTo>
                  <a:pt x="516" y="123"/>
                </a:lnTo>
                <a:close/>
                <a:moveTo>
                  <a:pt x="688" y="123"/>
                </a:moveTo>
                <a:lnTo>
                  <a:pt x="792" y="0"/>
                </a:lnTo>
                <a:lnTo>
                  <a:pt x="906" y="0"/>
                </a:lnTo>
                <a:lnTo>
                  <a:pt x="802" y="123"/>
                </a:lnTo>
                <a:lnTo>
                  <a:pt x="688" y="123"/>
                </a:lnTo>
                <a:close/>
                <a:moveTo>
                  <a:pt x="860" y="123"/>
                </a:moveTo>
                <a:lnTo>
                  <a:pt x="964" y="0"/>
                </a:lnTo>
                <a:lnTo>
                  <a:pt x="1078" y="0"/>
                </a:lnTo>
                <a:lnTo>
                  <a:pt x="974" y="123"/>
                </a:lnTo>
                <a:lnTo>
                  <a:pt x="860" y="123"/>
                </a:lnTo>
                <a:close/>
                <a:moveTo>
                  <a:pt x="1032" y="123"/>
                </a:moveTo>
                <a:lnTo>
                  <a:pt x="1136" y="0"/>
                </a:lnTo>
                <a:lnTo>
                  <a:pt x="1250" y="0"/>
                </a:lnTo>
                <a:lnTo>
                  <a:pt x="1146" y="123"/>
                </a:lnTo>
                <a:lnTo>
                  <a:pt x="1032" y="123"/>
                </a:lnTo>
                <a:close/>
              </a:path>
            </a:pathLst>
          </a:custGeom>
          <a:gradFill>
            <a:gsLst>
              <a:gs pos="29000">
                <a:srgbClr val="254FEB"/>
              </a:gs>
              <a:gs pos="100000">
                <a:srgbClr val="254FE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35" y="0"/>
            <a:ext cx="12191365" cy="568325"/>
          </a:xfrm>
          <a:prstGeom prst="rect">
            <a:avLst/>
          </a:prstGeom>
        </p:spPr>
      </p:pic>
      <p:pic>
        <p:nvPicPr>
          <p:cNvPr id="2" name="图片 1" descr="logo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00380" y="73025"/>
            <a:ext cx="11202035" cy="4222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仅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16x9kv-底图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  <a:t>2026/10/2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4" name="标题 1"/>
          <p:cNvSpPr txBox="1"/>
          <p:nvPr userDrawn="1">
            <p:custDataLst>
              <p:tags r:id="rId1"/>
            </p:custDataLst>
          </p:nvPr>
        </p:nvSpPr>
        <p:spPr>
          <a:xfrm>
            <a:off x="2316480" y="2591380"/>
            <a:ext cx="2661920" cy="838835"/>
          </a:xfrm>
          <a:prstGeom prst="rect">
            <a:avLst/>
          </a:prstGeom>
          <a:noFill/>
        </p:spPr>
        <p:txBody>
          <a:bodyPr vert="horz" wrap="square" lIns="90000" tIns="45720" rIns="91440" bIns="45720" rtlCol="0" anchor="ctr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8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kumimoji="1" lang="en-US" altLang="zh-CN" sz="5400" b="1" cap="none" spc="0" dirty="0">
                <a:ln w="6600">
                  <a:noFill/>
                  <a:prstDash val="solid"/>
                </a:ln>
                <a:solidFill>
                  <a:schemeClr val="bg1"/>
                </a:solidFill>
                <a:effectLst/>
              </a:rPr>
              <a:t>Part 02</a:t>
            </a:r>
          </a:p>
        </p:txBody>
      </p:sp>
      <p:sp>
        <p:nvSpPr>
          <p:cNvPr id="15" name="文本占位符 17"/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192421" y="2453241"/>
            <a:ext cx="4304799" cy="1115113"/>
          </a:xfrm>
        </p:spPr>
        <p:txBody>
          <a:bodyPr lIns="90000" anchor="ctr">
            <a:noAutofit/>
          </a:bodyPr>
          <a:lstStyle>
            <a:lvl1pPr marL="0" indent="0" algn="l">
              <a:buNone/>
              <a:defRPr sz="6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zh-CN" altLang="en-US" dirty="0"/>
              <a:t>项目亮点</a:t>
            </a:r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4" hasCustomPrompt="1"/>
            <p:custDataLst>
              <p:tags r:id="rId3"/>
            </p:custDataLst>
          </p:nvPr>
        </p:nvSpPr>
        <p:spPr>
          <a:xfrm>
            <a:off x="2330450" y="3770630"/>
            <a:ext cx="7531100" cy="972185"/>
          </a:xfrm>
        </p:spPr>
        <p:txBody>
          <a:bodyPr>
            <a:normAutofit/>
          </a:bodyPr>
          <a:lstStyle>
            <a:lvl1pPr marL="0" indent="0" algn="r">
              <a:lnSpc>
                <a:spcPct val="150000"/>
              </a:lnSpc>
              <a:buNone/>
              <a:defRPr sz="1400">
                <a:solidFill>
                  <a:schemeClr val="bg1"/>
                </a:solidFill>
                <a:latin typeface="+mj-ea"/>
                <a:ea typeface="+mj-ea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CN" altLang="en-US" dirty="0"/>
              <a:t>单击编辑文本，文字是您思想的提炼，为了最终演示的良好效果，请尽量言简意赅的阐述观点</a:t>
            </a:r>
          </a:p>
        </p:txBody>
      </p:sp>
      <p:pic>
        <p:nvPicPr>
          <p:cNvPr id="7" name="图片 6" descr="logo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500380" y="294640"/>
            <a:ext cx="11202035" cy="4222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仅标题">
    <p:bg>
      <p:bgPr>
        <a:solidFill>
          <a:srgbClr val="F0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  <a:t>2026/10/2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529218" y="1445886"/>
            <a:ext cx="11133563" cy="4622027"/>
          </a:xfrm>
        </p:spPr>
        <p:txBody>
          <a:bodyPr/>
          <a:lstStyle>
            <a:lvl1pPr>
              <a:defRPr b="0" i="0">
                <a:solidFill>
                  <a:srgbClr val="090509"/>
                </a:solidFill>
                <a:latin typeface="+mn-ea"/>
                <a:ea typeface="+mn-ea"/>
              </a:defRPr>
            </a:lvl1pPr>
            <a:lvl2pPr>
              <a:defRPr b="0" i="0">
                <a:solidFill>
                  <a:srgbClr val="090509"/>
                </a:solidFill>
                <a:latin typeface="+mn-ea"/>
                <a:ea typeface="+mn-ea"/>
              </a:defRPr>
            </a:lvl2pPr>
            <a:lvl3pPr>
              <a:defRPr b="0" i="0">
                <a:solidFill>
                  <a:srgbClr val="090509"/>
                </a:solidFill>
                <a:latin typeface="+mn-ea"/>
                <a:ea typeface="+mn-ea"/>
              </a:defRPr>
            </a:lvl3pPr>
            <a:lvl4pPr>
              <a:defRPr b="0" i="0">
                <a:solidFill>
                  <a:srgbClr val="090509"/>
                </a:solidFill>
                <a:latin typeface="+mn-ea"/>
                <a:ea typeface="+mn-ea"/>
              </a:defRPr>
            </a:lvl4pPr>
            <a:lvl5pPr>
              <a:defRPr b="0" i="0">
                <a:solidFill>
                  <a:srgbClr val="090509"/>
                </a:solidFill>
                <a:latin typeface="+mn-ea"/>
                <a:ea typeface="+mn-ea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12" name="标题 1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28955" y="522605"/>
            <a:ext cx="7624445" cy="491490"/>
          </a:xfrm>
        </p:spPr>
        <p:txBody>
          <a:bodyPr wrap="square" anchor="ctr" anchorCtr="0">
            <a:spAutoFit/>
          </a:bodyPr>
          <a:lstStyle>
            <a:lvl1pPr>
              <a:lnSpc>
                <a:spcPct val="100000"/>
              </a:lnSpc>
              <a:defRPr sz="2600" b="1">
                <a:solidFill>
                  <a:srgbClr val="254FEB"/>
                </a:solidFill>
                <a:effectLst/>
                <a:latin typeface="+mj-ea"/>
                <a:ea typeface="+mj-ea"/>
                <a:cs typeface="+mj-ea"/>
              </a:defRPr>
            </a:lvl1pPr>
          </a:lstStyle>
          <a:p>
            <a:r>
              <a:rPr lang="en-US" altLang="zh-CN" dirty="0"/>
              <a:t>2.1 </a:t>
            </a:r>
            <a:r>
              <a:rPr lang="zh-CN" altLang="en-US" dirty="0"/>
              <a:t>功能亮点</a:t>
            </a:r>
          </a:p>
        </p:txBody>
      </p:sp>
      <p:sp>
        <p:nvSpPr>
          <p:cNvPr id="10" name="任意多边形 9"/>
          <p:cNvSpPr/>
          <p:nvPr userDrawn="1">
            <p:custDataLst>
              <p:tags r:id="rId2"/>
            </p:custDataLst>
          </p:nvPr>
        </p:nvSpPr>
        <p:spPr>
          <a:xfrm>
            <a:off x="589280" y="1022985"/>
            <a:ext cx="793750" cy="78105"/>
          </a:xfrm>
          <a:custGeom>
            <a:avLst/>
            <a:gdLst>
              <a:gd name="adj" fmla="val 84552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250" h="123">
                <a:moveTo>
                  <a:pt x="0" y="123"/>
                </a:moveTo>
                <a:lnTo>
                  <a:pt x="104" y="0"/>
                </a:lnTo>
                <a:lnTo>
                  <a:pt x="218" y="0"/>
                </a:lnTo>
                <a:lnTo>
                  <a:pt x="114" y="123"/>
                </a:lnTo>
                <a:lnTo>
                  <a:pt x="0" y="123"/>
                </a:lnTo>
                <a:close/>
                <a:moveTo>
                  <a:pt x="172" y="123"/>
                </a:moveTo>
                <a:lnTo>
                  <a:pt x="276" y="0"/>
                </a:lnTo>
                <a:lnTo>
                  <a:pt x="390" y="0"/>
                </a:lnTo>
                <a:lnTo>
                  <a:pt x="286" y="123"/>
                </a:lnTo>
                <a:lnTo>
                  <a:pt x="172" y="123"/>
                </a:lnTo>
                <a:close/>
                <a:moveTo>
                  <a:pt x="344" y="123"/>
                </a:moveTo>
                <a:lnTo>
                  <a:pt x="448" y="0"/>
                </a:lnTo>
                <a:lnTo>
                  <a:pt x="562" y="0"/>
                </a:lnTo>
                <a:lnTo>
                  <a:pt x="458" y="123"/>
                </a:lnTo>
                <a:lnTo>
                  <a:pt x="344" y="123"/>
                </a:lnTo>
                <a:close/>
                <a:moveTo>
                  <a:pt x="516" y="123"/>
                </a:moveTo>
                <a:lnTo>
                  <a:pt x="620" y="0"/>
                </a:lnTo>
                <a:lnTo>
                  <a:pt x="734" y="0"/>
                </a:lnTo>
                <a:lnTo>
                  <a:pt x="630" y="123"/>
                </a:lnTo>
                <a:lnTo>
                  <a:pt x="516" y="123"/>
                </a:lnTo>
                <a:close/>
                <a:moveTo>
                  <a:pt x="688" y="123"/>
                </a:moveTo>
                <a:lnTo>
                  <a:pt x="792" y="0"/>
                </a:lnTo>
                <a:lnTo>
                  <a:pt x="906" y="0"/>
                </a:lnTo>
                <a:lnTo>
                  <a:pt x="802" y="123"/>
                </a:lnTo>
                <a:lnTo>
                  <a:pt x="688" y="123"/>
                </a:lnTo>
                <a:close/>
                <a:moveTo>
                  <a:pt x="860" y="123"/>
                </a:moveTo>
                <a:lnTo>
                  <a:pt x="964" y="0"/>
                </a:lnTo>
                <a:lnTo>
                  <a:pt x="1078" y="0"/>
                </a:lnTo>
                <a:lnTo>
                  <a:pt x="974" y="123"/>
                </a:lnTo>
                <a:lnTo>
                  <a:pt x="860" y="123"/>
                </a:lnTo>
                <a:close/>
                <a:moveTo>
                  <a:pt x="1032" y="123"/>
                </a:moveTo>
                <a:lnTo>
                  <a:pt x="1136" y="0"/>
                </a:lnTo>
                <a:lnTo>
                  <a:pt x="1250" y="0"/>
                </a:lnTo>
                <a:lnTo>
                  <a:pt x="1146" y="123"/>
                </a:lnTo>
                <a:lnTo>
                  <a:pt x="1032" y="123"/>
                </a:lnTo>
                <a:close/>
              </a:path>
            </a:pathLst>
          </a:custGeom>
          <a:gradFill>
            <a:gsLst>
              <a:gs pos="29000">
                <a:srgbClr val="254FEB"/>
              </a:gs>
              <a:gs pos="100000">
                <a:srgbClr val="254FE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35" y="0"/>
            <a:ext cx="12191365" cy="568325"/>
          </a:xfrm>
          <a:prstGeom prst="rect">
            <a:avLst/>
          </a:prstGeom>
        </p:spPr>
      </p:pic>
      <p:pic>
        <p:nvPicPr>
          <p:cNvPr id="2" name="图片 1" descr="logo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00380" y="73025"/>
            <a:ext cx="11202035" cy="4222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仅标题">
    <p:bg>
      <p:bgPr>
        <a:solidFill>
          <a:srgbClr val="F0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  <a:t>2026/10/2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529218" y="1445886"/>
            <a:ext cx="11133563" cy="4622027"/>
          </a:xfrm>
        </p:spPr>
        <p:txBody>
          <a:bodyPr/>
          <a:lstStyle>
            <a:lvl1pPr>
              <a:defRPr b="0" i="0">
                <a:solidFill>
                  <a:srgbClr val="090509"/>
                </a:solidFill>
                <a:latin typeface="+mn-ea"/>
                <a:ea typeface="+mn-ea"/>
              </a:defRPr>
            </a:lvl1pPr>
            <a:lvl2pPr>
              <a:defRPr b="0" i="0">
                <a:solidFill>
                  <a:srgbClr val="090509"/>
                </a:solidFill>
                <a:latin typeface="+mn-ea"/>
                <a:ea typeface="+mn-ea"/>
              </a:defRPr>
            </a:lvl2pPr>
            <a:lvl3pPr>
              <a:defRPr b="0" i="0">
                <a:solidFill>
                  <a:srgbClr val="090509"/>
                </a:solidFill>
                <a:latin typeface="+mn-ea"/>
                <a:ea typeface="+mn-ea"/>
              </a:defRPr>
            </a:lvl3pPr>
            <a:lvl4pPr>
              <a:defRPr b="0" i="0">
                <a:solidFill>
                  <a:srgbClr val="090509"/>
                </a:solidFill>
                <a:latin typeface="+mn-ea"/>
                <a:ea typeface="+mn-ea"/>
              </a:defRPr>
            </a:lvl4pPr>
            <a:lvl5pPr>
              <a:defRPr b="0" i="0">
                <a:solidFill>
                  <a:srgbClr val="090509"/>
                </a:solidFill>
                <a:latin typeface="+mn-ea"/>
                <a:ea typeface="+mn-ea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12" name="标题 1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28955" y="522605"/>
            <a:ext cx="7624445" cy="491490"/>
          </a:xfrm>
        </p:spPr>
        <p:txBody>
          <a:bodyPr wrap="square" anchor="ctr" anchorCtr="0">
            <a:spAutoFit/>
          </a:bodyPr>
          <a:lstStyle>
            <a:lvl1pPr>
              <a:lnSpc>
                <a:spcPct val="100000"/>
              </a:lnSpc>
              <a:defRPr sz="2600" b="1">
                <a:solidFill>
                  <a:srgbClr val="254FEB"/>
                </a:solidFill>
                <a:effectLst/>
                <a:latin typeface="+mj-ea"/>
                <a:ea typeface="+mj-ea"/>
                <a:cs typeface="+mj-ea"/>
              </a:defRPr>
            </a:lvl1pPr>
          </a:lstStyle>
          <a:p>
            <a:r>
              <a:rPr lang="en-US" altLang="zh-CN" dirty="0"/>
              <a:t>2.2 XX</a:t>
            </a:r>
            <a:r>
              <a:rPr lang="zh-CN" altLang="en-US" dirty="0"/>
              <a:t>亮点</a:t>
            </a:r>
          </a:p>
        </p:txBody>
      </p:sp>
      <p:sp>
        <p:nvSpPr>
          <p:cNvPr id="10" name="任意多边形 9"/>
          <p:cNvSpPr/>
          <p:nvPr userDrawn="1">
            <p:custDataLst>
              <p:tags r:id="rId2"/>
            </p:custDataLst>
          </p:nvPr>
        </p:nvSpPr>
        <p:spPr>
          <a:xfrm>
            <a:off x="589280" y="1022985"/>
            <a:ext cx="793750" cy="78105"/>
          </a:xfrm>
          <a:custGeom>
            <a:avLst/>
            <a:gdLst>
              <a:gd name="adj" fmla="val 84552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250" h="123">
                <a:moveTo>
                  <a:pt x="0" y="123"/>
                </a:moveTo>
                <a:lnTo>
                  <a:pt x="104" y="0"/>
                </a:lnTo>
                <a:lnTo>
                  <a:pt x="218" y="0"/>
                </a:lnTo>
                <a:lnTo>
                  <a:pt x="114" y="123"/>
                </a:lnTo>
                <a:lnTo>
                  <a:pt x="0" y="123"/>
                </a:lnTo>
                <a:close/>
                <a:moveTo>
                  <a:pt x="172" y="123"/>
                </a:moveTo>
                <a:lnTo>
                  <a:pt x="276" y="0"/>
                </a:lnTo>
                <a:lnTo>
                  <a:pt x="390" y="0"/>
                </a:lnTo>
                <a:lnTo>
                  <a:pt x="286" y="123"/>
                </a:lnTo>
                <a:lnTo>
                  <a:pt x="172" y="123"/>
                </a:lnTo>
                <a:close/>
                <a:moveTo>
                  <a:pt x="344" y="123"/>
                </a:moveTo>
                <a:lnTo>
                  <a:pt x="448" y="0"/>
                </a:lnTo>
                <a:lnTo>
                  <a:pt x="562" y="0"/>
                </a:lnTo>
                <a:lnTo>
                  <a:pt x="458" y="123"/>
                </a:lnTo>
                <a:lnTo>
                  <a:pt x="344" y="123"/>
                </a:lnTo>
                <a:close/>
                <a:moveTo>
                  <a:pt x="516" y="123"/>
                </a:moveTo>
                <a:lnTo>
                  <a:pt x="620" y="0"/>
                </a:lnTo>
                <a:lnTo>
                  <a:pt x="734" y="0"/>
                </a:lnTo>
                <a:lnTo>
                  <a:pt x="630" y="123"/>
                </a:lnTo>
                <a:lnTo>
                  <a:pt x="516" y="123"/>
                </a:lnTo>
                <a:close/>
                <a:moveTo>
                  <a:pt x="688" y="123"/>
                </a:moveTo>
                <a:lnTo>
                  <a:pt x="792" y="0"/>
                </a:lnTo>
                <a:lnTo>
                  <a:pt x="906" y="0"/>
                </a:lnTo>
                <a:lnTo>
                  <a:pt x="802" y="123"/>
                </a:lnTo>
                <a:lnTo>
                  <a:pt x="688" y="123"/>
                </a:lnTo>
                <a:close/>
                <a:moveTo>
                  <a:pt x="860" y="123"/>
                </a:moveTo>
                <a:lnTo>
                  <a:pt x="964" y="0"/>
                </a:lnTo>
                <a:lnTo>
                  <a:pt x="1078" y="0"/>
                </a:lnTo>
                <a:lnTo>
                  <a:pt x="974" y="123"/>
                </a:lnTo>
                <a:lnTo>
                  <a:pt x="860" y="123"/>
                </a:lnTo>
                <a:close/>
                <a:moveTo>
                  <a:pt x="1032" y="123"/>
                </a:moveTo>
                <a:lnTo>
                  <a:pt x="1136" y="0"/>
                </a:lnTo>
                <a:lnTo>
                  <a:pt x="1250" y="0"/>
                </a:lnTo>
                <a:lnTo>
                  <a:pt x="1146" y="123"/>
                </a:lnTo>
                <a:lnTo>
                  <a:pt x="1032" y="123"/>
                </a:lnTo>
                <a:close/>
              </a:path>
            </a:pathLst>
          </a:custGeom>
          <a:gradFill>
            <a:gsLst>
              <a:gs pos="29000">
                <a:srgbClr val="254FEB"/>
              </a:gs>
              <a:gs pos="100000">
                <a:srgbClr val="254FE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35" y="0"/>
            <a:ext cx="12191365" cy="568325"/>
          </a:xfrm>
          <a:prstGeom prst="rect">
            <a:avLst/>
          </a:prstGeom>
        </p:spPr>
      </p:pic>
      <p:pic>
        <p:nvPicPr>
          <p:cNvPr id="2" name="图片 1" descr="logo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00380" y="73025"/>
            <a:ext cx="11202035" cy="4222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仅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16x9kv-底图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标题 1"/>
          <p:cNvSpPr txBox="1"/>
          <p:nvPr userDrawn="1">
            <p:custDataLst>
              <p:tags r:id="rId1"/>
            </p:custDataLst>
          </p:nvPr>
        </p:nvSpPr>
        <p:spPr>
          <a:xfrm>
            <a:off x="2316480" y="2591380"/>
            <a:ext cx="2661920" cy="838835"/>
          </a:xfrm>
          <a:prstGeom prst="rect">
            <a:avLst/>
          </a:prstGeom>
          <a:noFill/>
        </p:spPr>
        <p:txBody>
          <a:bodyPr vert="horz" wrap="square" lIns="90000" tIns="45720" rIns="91440" bIns="45720" rtlCol="0" anchor="ctr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8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kumimoji="1" lang="en-US" altLang="zh-CN" sz="5400" b="1" cap="none" spc="0" dirty="0">
                <a:ln w="6600">
                  <a:noFill/>
                  <a:prstDash val="solid"/>
                </a:ln>
                <a:solidFill>
                  <a:schemeClr val="bg1"/>
                </a:solidFill>
                <a:effectLst/>
              </a:rPr>
              <a:t>Part 03</a:t>
            </a:r>
          </a:p>
        </p:txBody>
      </p:sp>
      <p:sp>
        <p:nvSpPr>
          <p:cNvPr id="16" name="文本占位符 17"/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192421" y="2453241"/>
            <a:ext cx="4304799" cy="1115113"/>
          </a:xfrm>
        </p:spPr>
        <p:txBody>
          <a:bodyPr lIns="90000" anchor="ctr">
            <a:noAutofit/>
          </a:bodyPr>
          <a:lstStyle>
            <a:lvl1pPr marL="0" indent="0" algn="l">
              <a:buNone/>
              <a:defRPr sz="6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zh-CN" altLang="en-US" dirty="0"/>
              <a:t>技术难点</a:t>
            </a:r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4" hasCustomPrompt="1"/>
            <p:custDataLst>
              <p:tags r:id="rId3"/>
            </p:custDataLst>
          </p:nvPr>
        </p:nvSpPr>
        <p:spPr>
          <a:xfrm>
            <a:off x="2330450" y="3770630"/>
            <a:ext cx="7531100" cy="972185"/>
          </a:xfrm>
        </p:spPr>
        <p:txBody>
          <a:bodyPr>
            <a:normAutofit/>
          </a:bodyPr>
          <a:lstStyle>
            <a:lvl1pPr marL="0" indent="0" algn="r">
              <a:lnSpc>
                <a:spcPct val="150000"/>
              </a:lnSpc>
              <a:buNone/>
              <a:defRPr sz="1400">
                <a:solidFill>
                  <a:schemeClr val="bg1"/>
                </a:solidFill>
                <a:latin typeface="+mj-ea"/>
                <a:ea typeface="+mj-ea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CN" altLang="en-US" dirty="0"/>
              <a:t>单击编辑文本，文字是您思想的提炼，为了最终演示的良好效果，请尽量言简意赅的阐述观点</a:t>
            </a:r>
          </a:p>
        </p:txBody>
      </p:sp>
      <p:pic>
        <p:nvPicPr>
          <p:cNvPr id="2" name="图片 1" descr="logo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500380" y="294640"/>
            <a:ext cx="11202035" cy="4222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仅标题">
    <p:bg>
      <p:bgPr>
        <a:solidFill>
          <a:srgbClr val="F0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  <a:t>2026/10/2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529218" y="1445886"/>
            <a:ext cx="11133563" cy="4622027"/>
          </a:xfrm>
        </p:spPr>
        <p:txBody>
          <a:bodyPr/>
          <a:lstStyle>
            <a:lvl1pPr>
              <a:defRPr b="0" i="0">
                <a:solidFill>
                  <a:srgbClr val="090509"/>
                </a:solidFill>
                <a:latin typeface="+mn-ea"/>
                <a:ea typeface="+mn-ea"/>
              </a:defRPr>
            </a:lvl1pPr>
            <a:lvl2pPr>
              <a:defRPr b="0" i="0">
                <a:solidFill>
                  <a:srgbClr val="090509"/>
                </a:solidFill>
                <a:latin typeface="+mn-ea"/>
                <a:ea typeface="+mn-ea"/>
              </a:defRPr>
            </a:lvl2pPr>
            <a:lvl3pPr>
              <a:defRPr b="0" i="0">
                <a:solidFill>
                  <a:srgbClr val="090509"/>
                </a:solidFill>
                <a:latin typeface="+mn-ea"/>
                <a:ea typeface="+mn-ea"/>
              </a:defRPr>
            </a:lvl3pPr>
            <a:lvl4pPr>
              <a:defRPr b="0" i="0">
                <a:solidFill>
                  <a:srgbClr val="090509"/>
                </a:solidFill>
                <a:latin typeface="+mn-ea"/>
                <a:ea typeface="+mn-ea"/>
              </a:defRPr>
            </a:lvl4pPr>
            <a:lvl5pPr>
              <a:defRPr b="0" i="0">
                <a:solidFill>
                  <a:srgbClr val="090509"/>
                </a:solidFill>
                <a:latin typeface="+mn-ea"/>
                <a:ea typeface="+mn-ea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12" name="标题 1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28955" y="522605"/>
            <a:ext cx="7624445" cy="491490"/>
          </a:xfrm>
        </p:spPr>
        <p:txBody>
          <a:bodyPr wrap="square" anchor="ctr" anchorCtr="0">
            <a:spAutoFit/>
          </a:bodyPr>
          <a:lstStyle>
            <a:lvl1pPr>
              <a:lnSpc>
                <a:spcPct val="100000"/>
              </a:lnSpc>
              <a:defRPr sz="2600" b="1">
                <a:solidFill>
                  <a:srgbClr val="254FEB"/>
                </a:solidFill>
                <a:effectLst/>
                <a:latin typeface="+mj-ea"/>
                <a:ea typeface="+mj-ea"/>
                <a:cs typeface="+mj-ea"/>
              </a:defRPr>
            </a:lvl1pPr>
          </a:lstStyle>
          <a:p>
            <a:r>
              <a:rPr lang="en-US" altLang="zh-CN" dirty="0"/>
              <a:t>3.1</a:t>
            </a:r>
            <a:endParaRPr lang="zh-CN" altLang="en-US" dirty="0"/>
          </a:p>
        </p:txBody>
      </p:sp>
      <p:sp>
        <p:nvSpPr>
          <p:cNvPr id="10" name="任意多边形 9"/>
          <p:cNvSpPr/>
          <p:nvPr userDrawn="1">
            <p:custDataLst>
              <p:tags r:id="rId2"/>
            </p:custDataLst>
          </p:nvPr>
        </p:nvSpPr>
        <p:spPr>
          <a:xfrm>
            <a:off x="589280" y="1022985"/>
            <a:ext cx="793750" cy="78105"/>
          </a:xfrm>
          <a:custGeom>
            <a:avLst/>
            <a:gdLst>
              <a:gd name="adj" fmla="val 84552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250" h="123">
                <a:moveTo>
                  <a:pt x="0" y="123"/>
                </a:moveTo>
                <a:lnTo>
                  <a:pt x="104" y="0"/>
                </a:lnTo>
                <a:lnTo>
                  <a:pt x="218" y="0"/>
                </a:lnTo>
                <a:lnTo>
                  <a:pt x="114" y="123"/>
                </a:lnTo>
                <a:lnTo>
                  <a:pt x="0" y="123"/>
                </a:lnTo>
                <a:close/>
                <a:moveTo>
                  <a:pt x="172" y="123"/>
                </a:moveTo>
                <a:lnTo>
                  <a:pt x="276" y="0"/>
                </a:lnTo>
                <a:lnTo>
                  <a:pt x="390" y="0"/>
                </a:lnTo>
                <a:lnTo>
                  <a:pt x="286" y="123"/>
                </a:lnTo>
                <a:lnTo>
                  <a:pt x="172" y="123"/>
                </a:lnTo>
                <a:close/>
                <a:moveTo>
                  <a:pt x="344" y="123"/>
                </a:moveTo>
                <a:lnTo>
                  <a:pt x="448" y="0"/>
                </a:lnTo>
                <a:lnTo>
                  <a:pt x="562" y="0"/>
                </a:lnTo>
                <a:lnTo>
                  <a:pt x="458" y="123"/>
                </a:lnTo>
                <a:lnTo>
                  <a:pt x="344" y="123"/>
                </a:lnTo>
                <a:close/>
                <a:moveTo>
                  <a:pt x="516" y="123"/>
                </a:moveTo>
                <a:lnTo>
                  <a:pt x="620" y="0"/>
                </a:lnTo>
                <a:lnTo>
                  <a:pt x="734" y="0"/>
                </a:lnTo>
                <a:lnTo>
                  <a:pt x="630" y="123"/>
                </a:lnTo>
                <a:lnTo>
                  <a:pt x="516" y="123"/>
                </a:lnTo>
                <a:close/>
                <a:moveTo>
                  <a:pt x="688" y="123"/>
                </a:moveTo>
                <a:lnTo>
                  <a:pt x="792" y="0"/>
                </a:lnTo>
                <a:lnTo>
                  <a:pt x="906" y="0"/>
                </a:lnTo>
                <a:lnTo>
                  <a:pt x="802" y="123"/>
                </a:lnTo>
                <a:lnTo>
                  <a:pt x="688" y="123"/>
                </a:lnTo>
                <a:close/>
                <a:moveTo>
                  <a:pt x="860" y="123"/>
                </a:moveTo>
                <a:lnTo>
                  <a:pt x="964" y="0"/>
                </a:lnTo>
                <a:lnTo>
                  <a:pt x="1078" y="0"/>
                </a:lnTo>
                <a:lnTo>
                  <a:pt x="974" y="123"/>
                </a:lnTo>
                <a:lnTo>
                  <a:pt x="860" y="123"/>
                </a:lnTo>
                <a:close/>
                <a:moveTo>
                  <a:pt x="1032" y="123"/>
                </a:moveTo>
                <a:lnTo>
                  <a:pt x="1136" y="0"/>
                </a:lnTo>
                <a:lnTo>
                  <a:pt x="1250" y="0"/>
                </a:lnTo>
                <a:lnTo>
                  <a:pt x="1146" y="123"/>
                </a:lnTo>
                <a:lnTo>
                  <a:pt x="1032" y="123"/>
                </a:lnTo>
                <a:close/>
              </a:path>
            </a:pathLst>
          </a:custGeom>
          <a:gradFill>
            <a:gsLst>
              <a:gs pos="29000">
                <a:srgbClr val="254FEB"/>
              </a:gs>
              <a:gs pos="100000">
                <a:srgbClr val="254FE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35" y="0"/>
            <a:ext cx="12191365" cy="568325"/>
          </a:xfrm>
          <a:prstGeom prst="rect">
            <a:avLst/>
          </a:prstGeom>
        </p:spPr>
      </p:pic>
      <p:pic>
        <p:nvPicPr>
          <p:cNvPr id="2" name="图片 1" descr="logo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00380" y="73025"/>
            <a:ext cx="11202035" cy="4222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仅标题">
    <p:bg>
      <p:bgPr>
        <a:solidFill>
          <a:srgbClr val="F0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  <a:t>2026/10/2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529218" y="1445886"/>
            <a:ext cx="11133563" cy="4622027"/>
          </a:xfrm>
        </p:spPr>
        <p:txBody>
          <a:bodyPr/>
          <a:lstStyle>
            <a:lvl1pPr>
              <a:defRPr b="0" i="0">
                <a:solidFill>
                  <a:srgbClr val="090509"/>
                </a:solidFill>
                <a:latin typeface="+mn-ea"/>
                <a:ea typeface="+mn-ea"/>
              </a:defRPr>
            </a:lvl1pPr>
            <a:lvl2pPr>
              <a:defRPr b="0" i="0">
                <a:solidFill>
                  <a:srgbClr val="090509"/>
                </a:solidFill>
                <a:latin typeface="+mn-ea"/>
                <a:ea typeface="+mn-ea"/>
              </a:defRPr>
            </a:lvl2pPr>
            <a:lvl3pPr>
              <a:defRPr b="0" i="0">
                <a:solidFill>
                  <a:srgbClr val="090509"/>
                </a:solidFill>
                <a:latin typeface="+mn-ea"/>
                <a:ea typeface="+mn-ea"/>
              </a:defRPr>
            </a:lvl3pPr>
            <a:lvl4pPr>
              <a:defRPr b="0" i="0">
                <a:solidFill>
                  <a:srgbClr val="090509"/>
                </a:solidFill>
                <a:latin typeface="+mn-ea"/>
                <a:ea typeface="+mn-ea"/>
              </a:defRPr>
            </a:lvl4pPr>
            <a:lvl5pPr>
              <a:defRPr b="0" i="0">
                <a:solidFill>
                  <a:srgbClr val="090509"/>
                </a:solidFill>
                <a:latin typeface="+mn-ea"/>
                <a:ea typeface="+mn-ea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12" name="标题 1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28955" y="522605"/>
            <a:ext cx="7624445" cy="491490"/>
          </a:xfrm>
        </p:spPr>
        <p:txBody>
          <a:bodyPr wrap="square" anchor="ctr" anchorCtr="0">
            <a:spAutoFit/>
          </a:bodyPr>
          <a:lstStyle>
            <a:lvl1pPr>
              <a:lnSpc>
                <a:spcPct val="100000"/>
              </a:lnSpc>
              <a:defRPr sz="2600" b="1">
                <a:solidFill>
                  <a:srgbClr val="254FEB"/>
                </a:solidFill>
                <a:effectLst/>
                <a:latin typeface="+mj-ea"/>
                <a:ea typeface="+mj-ea"/>
                <a:cs typeface="+mj-ea"/>
              </a:defRPr>
            </a:lvl1pPr>
          </a:lstStyle>
          <a:p>
            <a:r>
              <a:rPr lang="en-US" altLang="zh-CN" dirty="0"/>
              <a:t>3.2</a:t>
            </a:r>
            <a:endParaRPr lang="zh-CN" altLang="en-US" dirty="0"/>
          </a:p>
        </p:txBody>
      </p:sp>
      <p:sp>
        <p:nvSpPr>
          <p:cNvPr id="10" name="任意多边形 9"/>
          <p:cNvSpPr/>
          <p:nvPr userDrawn="1">
            <p:custDataLst>
              <p:tags r:id="rId2"/>
            </p:custDataLst>
          </p:nvPr>
        </p:nvSpPr>
        <p:spPr>
          <a:xfrm>
            <a:off x="589280" y="1022985"/>
            <a:ext cx="793750" cy="78105"/>
          </a:xfrm>
          <a:custGeom>
            <a:avLst/>
            <a:gdLst>
              <a:gd name="adj" fmla="val 84552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250" h="123">
                <a:moveTo>
                  <a:pt x="0" y="123"/>
                </a:moveTo>
                <a:lnTo>
                  <a:pt x="104" y="0"/>
                </a:lnTo>
                <a:lnTo>
                  <a:pt x="218" y="0"/>
                </a:lnTo>
                <a:lnTo>
                  <a:pt x="114" y="123"/>
                </a:lnTo>
                <a:lnTo>
                  <a:pt x="0" y="123"/>
                </a:lnTo>
                <a:close/>
                <a:moveTo>
                  <a:pt x="172" y="123"/>
                </a:moveTo>
                <a:lnTo>
                  <a:pt x="276" y="0"/>
                </a:lnTo>
                <a:lnTo>
                  <a:pt x="390" y="0"/>
                </a:lnTo>
                <a:lnTo>
                  <a:pt x="286" y="123"/>
                </a:lnTo>
                <a:lnTo>
                  <a:pt x="172" y="123"/>
                </a:lnTo>
                <a:close/>
                <a:moveTo>
                  <a:pt x="344" y="123"/>
                </a:moveTo>
                <a:lnTo>
                  <a:pt x="448" y="0"/>
                </a:lnTo>
                <a:lnTo>
                  <a:pt x="562" y="0"/>
                </a:lnTo>
                <a:lnTo>
                  <a:pt x="458" y="123"/>
                </a:lnTo>
                <a:lnTo>
                  <a:pt x="344" y="123"/>
                </a:lnTo>
                <a:close/>
                <a:moveTo>
                  <a:pt x="516" y="123"/>
                </a:moveTo>
                <a:lnTo>
                  <a:pt x="620" y="0"/>
                </a:lnTo>
                <a:lnTo>
                  <a:pt x="734" y="0"/>
                </a:lnTo>
                <a:lnTo>
                  <a:pt x="630" y="123"/>
                </a:lnTo>
                <a:lnTo>
                  <a:pt x="516" y="123"/>
                </a:lnTo>
                <a:close/>
                <a:moveTo>
                  <a:pt x="688" y="123"/>
                </a:moveTo>
                <a:lnTo>
                  <a:pt x="792" y="0"/>
                </a:lnTo>
                <a:lnTo>
                  <a:pt x="906" y="0"/>
                </a:lnTo>
                <a:lnTo>
                  <a:pt x="802" y="123"/>
                </a:lnTo>
                <a:lnTo>
                  <a:pt x="688" y="123"/>
                </a:lnTo>
                <a:close/>
                <a:moveTo>
                  <a:pt x="860" y="123"/>
                </a:moveTo>
                <a:lnTo>
                  <a:pt x="964" y="0"/>
                </a:lnTo>
                <a:lnTo>
                  <a:pt x="1078" y="0"/>
                </a:lnTo>
                <a:lnTo>
                  <a:pt x="974" y="123"/>
                </a:lnTo>
                <a:lnTo>
                  <a:pt x="860" y="123"/>
                </a:lnTo>
                <a:close/>
                <a:moveTo>
                  <a:pt x="1032" y="123"/>
                </a:moveTo>
                <a:lnTo>
                  <a:pt x="1136" y="0"/>
                </a:lnTo>
                <a:lnTo>
                  <a:pt x="1250" y="0"/>
                </a:lnTo>
                <a:lnTo>
                  <a:pt x="1146" y="123"/>
                </a:lnTo>
                <a:lnTo>
                  <a:pt x="1032" y="123"/>
                </a:lnTo>
                <a:close/>
              </a:path>
            </a:pathLst>
          </a:custGeom>
          <a:gradFill>
            <a:gsLst>
              <a:gs pos="29000">
                <a:srgbClr val="254FEB"/>
              </a:gs>
              <a:gs pos="100000">
                <a:srgbClr val="254FE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35" y="0"/>
            <a:ext cx="12191365" cy="568325"/>
          </a:xfrm>
          <a:prstGeom prst="rect">
            <a:avLst/>
          </a:prstGeom>
        </p:spPr>
      </p:pic>
      <p:pic>
        <p:nvPicPr>
          <p:cNvPr id="2" name="图片 1" descr="logo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00380" y="73025"/>
            <a:ext cx="11202035" cy="4222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仅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16x9kv-底图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标题 1"/>
          <p:cNvSpPr txBox="1"/>
          <p:nvPr userDrawn="1">
            <p:custDataLst>
              <p:tags r:id="rId1"/>
            </p:custDataLst>
          </p:nvPr>
        </p:nvSpPr>
        <p:spPr>
          <a:xfrm>
            <a:off x="2316480" y="2591380"/>
            <a:ext cx="2661920" cy="838835"/>
          </a:xfrm>
          <a:prstGeom prst="rect">
            <a:avLst/>
          </a:prstGeom>
          <a:noFill/>
        </p:spPr>
        <p:txBody>
          <a:bodyPr vert="horz" wrap="square" lIns="90000" tIns="45720" rIns="91440" bIns="45720" rtlCol="0" anchor="ctr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8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kumimoji="1" lang="en-US" altLang="zh-CN" sz="5400" b="1" cap="none" spc="0" dirty="0">
                <a:ln w="6600">
                  <a:noFill/>
                  <a:prstDash val="solid"/>
                </a:ln>
                <a:solidFill>
                  <a:schemeClr val="bg1"/>
                </a:solidFill>
                <a:effectLst/>
              </a:rPr>
              <a:t>Part 04</a:t>
            </a:r>
          </a:p>
        </p:txBody>
      </p:sp>
      <p:sp>
        <p:nvSpPr>
          <p:cNvPr id="16" name="文本占位符 17"/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192421" y="2453241"/>
            <a:ext cx="4304799" cy="1115113"/>
          </a:xfrm>
        </p:spPr>
        <p:txBody>
          <a:bodyPr lIns="90000" anchor="ctr">
            <a:noAutofit/>
          </a:bodyPr>
          <a:lstStyle>
            <a:lvl1pPr marL="0" indent="0" algn="l">
              <a:buNone/>
              <a:defRPr sz="6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zh-CN" altLang="en-US" dirty="0"/>
              <a:t>项目测试</a:t>
            </a:r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4" hasCustomPrompt="1"/>
            <p:custDataLst>
              <p:tags r:id="rId3"/>
            </p:custDataLst>
          </p:nvPr>
        </p:nvSpPr>
        <p:spPr>
          <a:xfrm>
            <a:off x="2330450" y="3770630"/>
            <a:ext cx="7531100" cy="972185"/>
          </a:xfrm>
        </p:spPr>
        <p:txBody>
          <a:bodyPr>
            <a:normAutofit/>
          </a:bodyPr>
          <a:lstStyle>
            <a:lvl1pPr marL="0" indent="0" algn="r">
              <a:lnSpc>
                <a:spcPct val="150000"/>
              </a:lnSpc>
              <a:buNone/>
              <a:defRPr sz="1400">
                <a:solidFill>
                  <a:schemeClr val="bg1"/>
                </a:solidFill>
                <a:latin typeface="+mj-ea"/>
                <a:ea typeface="+mj-ea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CN" altLang="en-US" dirty="0"/>
              <a:t>单击编辑文本，文字是您思想的提炼，为了最终演示的良好效果，请尽量言简意赅的阐述观点</a:t>
            </a:r>
          </a:p>
        </p:txBody>
      </p:sp>
      <p:pic>
        <p:nvPicPr>
          <p:cNvPr id="2" name="图片 1" descr="logo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500380" y="294640"/>
            <a:ext cx="11202035" cy="4222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仅标题">
    <p:bg>
      <p:bgPr>
        <a:solidFill>
          <a:srgbClr val="F0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  <a:t>2026/10/2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529218" y="1445886"/>
            <a:ext cx="11133563" cy="4622027"/>
          </a:xfrm>
        </p:spPr>
        <p:txBody>
          <a:bodyPr/>
          <a:lstStyle>
            <a:lvl1pPr>
              <a:defRPr b="0" i="0">
                <a:solidFill>
                  <a:srgbClr val="090509"/>
                </a:solidFill>
                <a:latin typeface="+mn-ea"/>
                <a:ea typeface="+mn-ea"/>
              </a:defRPr>
            </a:lvl1pPr>
            <a:lvl2pPr>
              <a:defRPr b="0" i="0">
                <a:solidFill>
                  <a:srgbClr val="090509"/>
                </a:solidFill>
                <a:latin typeface="+mn-ea"/>
                <a:ea typeface="+mn-ea"/>
              </a:defRPr>
            </a:lvl2pPr>
            <a:lvl3pPr>
              <a:defRPr b="0" i="0">
                <a:solidFill>
                  <a:srgbClr val="090509"/>
                </a:solidFill>
                <a:latin typeface="+mn-ea"/>
                <a:ea typeface="+mn-ea"/>
              </a:defRPr>
            </a:lvl3pPr>
            <a:lvl4pPr>
              <a:defRPr b="0" i="0">
                <a:solidFill>
                  <a:srgbClr val="090509"/>
                </a:solidFill>
                <a:latin typeface="+mn-ea"/>
                <a:ea typeface="+mn-ea"/>
              </a:defRPr>
            </a:lvl4pPr>
            <a:lvl5pPr>
              <a:defRPr b="0" i="0">
                <a:solidFill>
                  <a:srgbClr val="090509"/>
                </a:solidFill>
                <a:latin typeface="+mn-ea"/>
                <a:ea typeface="+mn-ea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12" name="标题 1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28955" y="522605"/>
            <a:ext cx="7624445" cy="491490"/>
          </a:xfrm>
        </p:spPr>
        <p:txBody>
          <a:bodyPr wrap="square" anchor="ctr" anchorCtr="0">
            <a:spAutoFit/>
          </a:bodyPr>
          <a:lstStyle>
            <a:lvl1pPr>
              <a:lnSpc>
                <a:spcPct val="100000"/>
              </a:lnSpc>
              <a:defRPr sz="2600" b="1">
                <a:solidFill>
                  <a:srgbClr val="254FEB"/>
                </a:solidFill>
                <a:effectLst/>
                <a:latin typeface="+mj-ea"/>
                <a:ea typeface="+mj-ea"/>
                <a:cs typeface="+mj-ea"/>
              </a:defRPr>
            </a:lvl1pPr>
          </a:lstStyle>
          <a:p>
            <a:r>
              <a:rPr lang="en-US" altLang="zh-CN" dirty="0"/>
              <a:t>4.1 </a:t>
            </a:r>
            <a:r>
              <a:rPr lang="zh-CN" altLang="en-US" dirty="0"/>
              <a:t>项目测试结果说明</a:t>
            </a:r>
          </a:p>
        </p:txBody>
      </p:sp>
      <p:sp>
        <p:nvSpPr>
          <p:cNvPr id="10" name="任意多边形 9"/>
          <p:cNvSpPr/>
          <p:nvPr userDrawn="1">
            <p:custDataLst>
              <p:tags r:id="rId2"/>
            </p:custDataLst>
          </p:nvPr>
        </p:nvSpPr>
        <p:spPr>
          <a:xfrm>
            <a:off x="589280" y="1022985"/>
            <a:ext cx="793750" cy="78105"/>
          </a:xfrm>
          <a:custGeom>
            <a:avLst/>
            <a:gdLst>
              <a:gd name="adj" fmla="val 84552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250" h="123">
                <a:moveTo>
                  <a:pt x="0" y="123"/>
                </a:moveTo>
                <a:lnTo>
                  <a:pt x="104" y="0"/>
                </a:lnTo>
                <a:lnTo>
                  <a:pt x="218" y="0"/>
                </a:lnTo>
                <a:lnTo>
                  <a:pt x="114" y="123"/>
                </a:lnTo>
                <a:lnTo>
                  <a:pt x="0" y="123"/>
                </a:lnTo>
                <a:close/>
                <a:moveTo>
                  <a:pt x="172" y="123"/>
                </a:moveTo>
                <a:lnTo>
                  <a:pt x="276" y="0"/>
                </a:lnTo>
                <a:lnTo>
                  <a:pt x="390" y="0"/>
                </a:lnTo>
                <a:lnTo>
                  <a:pt x="286" y="123"/>
                </a:lnTo>
                <a:lnTo>
                  <a:pt x="172" y="123"/>
                </a:lnTo>
                <a:close/>
                <a:moveTo>
                  <a:pt x="344" y="123"/>
                </a:moveTo>
                <a:lnTo>
                  <a:pt x="448" y="0"/>
                </a:lnTo>
                <a:lnTo>
                  <a:pt x="562" y="0"/>
                </a:lnTo>
                <a:lnTo>
                  <a:pt x="458" y="123"/>
                </a:lnTo>
                <a:lnTo>
                  <a:pt x="344" y="123"/>
                </a:lnTo>
                <a:close/>
                <a:moveTo>
                  <a:pt x="516" y="123"/>
                </a:moveTo>
                <a:lnTo>
                  <a:pt x="620" y="0"/>
                </a:lnTo>
                <a:lnTo>
                  <a:pt x="734" y="0"/>
                </a:lnTo>
                <a:lnTo>
                  <a:pt x="630" y="123"/>
                </a:lnTo>
                <a:lnTo>
                  <a:pt x="516" y="123"/>
                </a:lnTo>
                <a:close/>
                <a:moveTo>
                  <a:pt x="688" y="123"/>
                </a:moveTo>
                <a:lnTo>
                  <a:pt x="792" y="0"/>
                </a:lnTo>
                <a:lnTo>
                  <a:pt x="906" y="0"/>
                </a:lnTo>
                <a:lnTo>
                  <a:pt x="802" y="123"/>
                </a:lnTo>
                <a:lnTo>
                  <a:pt x="688" y="123"/>
                </a:lnTo>
                <a:close/>
                <a:moveTo>
                  <a:pt x="860" y="123"/>
                </a:moveTo>
                <a:lnTo>
                  <a:pt x="964" y="0"/>
                </a:lnTo>
                <a:lnTo>
                  <a:pt x="1078" y="0"/>
                </a:lnTo>
                <a:lnTo>
                  <a:pt x="974" y="123"/>
                </a:lnTo>
                <a:lnTo>
                  <a:pt x="860" y="123"/>
                </a:lnTo>
                <a:close/>
                <a:moveTo>
                  <a:pt x="1032" y="123"/>
                </a:moveTo>
                <a:lnTo>
                  <a:pt x="1136" y="0"/>
                </a:lnTo>
                <a:lnTo>
                  <a:pt x="1250" y="0"/>
                </a:lnTo>
                <a:lnTo>
                  <a:pt x="1146" y="123"/>
                </a:lnTo>
                <a:lnTo>
                  <a:pt x="1032" y="123"/>
                </a:lnTo>
                <a:close/>
              </a:path>
            </a:pathLst>
          </a:custGeom>
          <a:gradFill>
            <a:gsLst>
              <a:gs pos="29000">
                <a:srgbClr val="254FEB"/>
              </a:gs>
              <a:gs pos="100000">
                <a:srgbClr val="254FE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35" y="0"/>
            <a:ext cx="12191365" cy="568325"/>
          </a:xfrm>
          <a:prstGeom prst="rect">
            <a:avLst/>
          </a:prstGeom>
        </p:spPr>
      </p:pic>
      <p:pic>
        <p:nvPicPr>
          <p:cNvPr id="2" name="图片 1" descr="logo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00380" y="73025"/>
            <a:ext cx="11202035" cy="4222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仅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16x9kv-底图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  <a:t>2026/10/2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5" name="标题 1"/>
          <p:cNvSpPr txBox="1"/>
          <p:nvPr userDrawn="1">
            <p:custDataLst>
              <p:tags r:id="rId1"/>
            </p:custDataLst>
          </p:nvPr>
        </p:nvSpPr>
        <p:spPr>
          <a:xfrm>
            <a:off x="2316480" y="2591380"/>
            <a:ext cx="2661920" cy="838835"/>
          </a:xfrm>
          <a:prstGeom prst="rect">
            <a:avLst/>
          </a:prstGeom>
          <a:noFill/>
        </p:spPr>
        <p:txBody>
          <a:bodyPr vert="horz" wrap="square" lIns="90000" tIns="45720" rIns="91440" bIns="45720" rtlCol="0" anchor="ctr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8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kumimoji="1" lang="en-US" altLang="zh-CN" sz="5400" b="1" cap="none" spc="0" dirty="0">
                <a:ln w="6600">
                  <a:noFill/>
                  <a:prstDash val="solid"/>
                </a:ln>
                <a:solidFill>
                  <a:schemeClr val="bg1"/>
                </a:solidFill>
                <a:effectLst/>
              </a:rPr>
              <a:t>Part 05</a:t>
            </a:r>
          </a:p>
        </p:txBody>
      </p:sp>
      <p:sp>
        <p:nvSpPr>
          <p:cNvPr id="16" name="文本占位符 17"/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192421" y="2453241"/>
            <a:ext cx="4304799" cy="1115113"/>
          </a:xfrm>
        </p:spPr>
        <p:txBody>
          <a:bodyPr lIns="90000" anchor="ctr">
            <a:noAutofit/>
          </a:bodyPr>
          <a:lstStyle>
            <a:lvl1pPr marL="0" indent="0" algn="l">
              <a:buNone/>
              <a:defRPr sz="6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zh-CN" altLang="en-US" dirty="0"/>
              <a:t>作品演示</a:t>
            </a:r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4" hasCustomPrompt="1"/>
            <p:custDataLst>
              <p:tags r:id="rId3"/>
            </p:custDataLst>
          </p:nvPr>
        </p:nvSpPr>
        <p:spPr>
          <a:xfrm>
            <a:off x="2330450" y="3770630"/>
            <a:ext cx="7531100" cy="972185"/>
          </a:xfrm>
        </p:spPr>
        <p:txBody>
          <a:bodyPr>
            <a:normAutofit/>
          </a:bodyPr>
          <a:lstStyle>
            <a:lvl1pPr marL="0" indent="0" algn="r">
              <a:lnSpc>
                <a:spcPct val="150000"/>
              </a:lnSpc>
              <a:buNone/>
              <a:defRPr sz="1400">
                <a:solidFill>
                  <a:schemeClr val="bg1"/>
                </a:solidFill>
                <a:latin typeface="+mj-ea"/>
                <a:ea typeface="+mj-ea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CN" altLang="en-US" dirty="0"/>
              <a:t>单击编辑文本，文字是您思想的提炼，为了最终演示的良好效果，请尽量言简意赅的阐述观点</a:t>
            </a:r>
          </a:p>
        </p:txBody>
      </p:sp>
      <p:pic>
        <p:nvPicPr>
          <p:cNvPr id="7" name="图片 6" descr="logo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500380" y="294640"/>
            <a:ext cx="11202035" cy="4222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仅标题">
    <p:bg>
      <p:bgPr>
        <a:solidFill>
          <a:srgbClr val="F0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  <a:t>2026/10/2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6" name="媒体占位符 5"/>
          <p:cNvSpPr>
            <a:spLocks noGrp="1"/>
          </p:cNvSpPr>
          <p:nvPr>
            <p:ph type="media" sz="quarter" idx="15"/>
          </p:nvPr>
        </p:nvSpPr>
        <p:spPr>
          <a:xfrm>
            <a:off x="529218" y="1419861"/>
            <a:ext cx="11133563" cy="4648052"/>
          </a:xfrm>
        </p:spPr>
        <p:txBody>
          <a:bodyPr/>
          <a:lstStyle>
            <a:lvl1pPr>
              <a:defRPr b="0" i="0">
                <a:solidFill>
                  <a:srgbClr val="090509"/>
                </a:solidFill>
                <a:latin typeface="+mn-ea"/>
                <a:ea typeface="+mn-ea"/>
              </a:defRPr>
            </a:lvl1pPr>
          </a:lstStyle>
          <a:p>
            <a:endParaRPr kumimoji="1" lang="zh-CN" altLang="en-US"/>
          </a:p>
        </p:txBody>
      </p:sp>
      <p:sp>
        <p:nvSpPr>
          <p:cNvPr id="12" name="标题 1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28955" y="522605"/>
            <a:ext cx="7624445" cy="491490"/>
          </a:xfrm>
        </p:spPr>
        <p:txBody>
          <a:bodyPr wrap="square" anchor="ctr" anchorCtr="0">
            <a:spAutoFit/>
          </a:bodyPr>
          <a:lstStyle>
            <a:lvl1pPr>
              <a:lnSpc>
                <a:spcPct val="100000"/>
              </a:lnSpc>
              <a:defRPr sz="2600" b="1">
                <a:solidFill>
                  <a:srgbClr val="254FEB"/>
                </a:solidFill>
                <a:effectLst/>
                <a:latin typeface="+mj-ea"/>
                <a:ea typeface="+mj-ea"/>
                <a:cs typeface="+mj-ea"/>
              </a:defRPr>
            </a:lvl1pPr>
          </a:lstStyle>
          <a:p>
            <a:r>
              <a:rPr lang="en-US" altLang="zh-CN" dirty="0"/>
              <a:t>5.1 </a:t>
            </a:r>
            <a:r>
              <a:rPr lang="zh-CN" altLang="en-US" dirty="0"/>
              <a:t>作品演示播放</a:t>
            </a:r>
          </a:p>
        </p:txBody>
      </p:sp>
      <p:sp>
        <p:nvSpPr>
          <p:cNvPr id="10" name="任意多边形 9"/>
          <p:cNvSpPr/>
          <p:nvPr userDrawn="1">
            <p:custDataLst>
              <p:tags r:id="rId2"/>
            </p:custDataLst>
          </p:nvPr>
        </p:nvSpPr>
        <p:spPr>
          <a:xfrm>
            <a:off x="589280" y="1022985"/>
            <a:ext cx="793750" cy="78105"/>
          </a:xfrm>
          <a:custGeom>
            <a:avLst/>
            <a:gdLst>
              <a:gd name="adj" fmla="val 84552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250" h="123">
                <a:moveTo>
                  <a:pt x="0" y="123"/>
                </a:moveTo>
                <a:lnTo>
                  <a:pt x="104" y="0"/>
                </a:lnTo>
                <a:lnTo>
                  <a:pt x="218" y="0"/>
                </a:lnTo>
                <a:lnTo>
                  <a:pt x="114" y="123"/>
                </a:lnTo>
                <a:lnTo>
                  <a:pt x="0" y="123"/>
                </a:lnTo>
                <a:close/>
                <a:moveTo>
                  <a:pt x="172" y="123"/>
                </a:moveTo>
                <a:lnTo>
                  <a:pt x="276" y="0"/>
                </a:lnTo>
                <a:lnTo>
                  <a:pt x="390" y="0"/>
                </a:lnTo>
                <a:lnTo>
                  <a:pt x="286" y="123"/>
                </a:lnTo>
                <a:lnTo>
                  <a:pt x="172" y="123"/>
                </a:lnTo>
                <a:close/>
                <a:moveTo>
                  <a:pt x="344" y="123"/>
                </a:moveTo>
                <a:lnTo>
                  <a:pt x="448" y="0"/>
                </a:lnTo>
                <a:lnTo>
                  <a:pt x="562" y="0"/>
                </a:lnTo>
                <a:lnTo>
                  <a:pt x="458" y="123"/>
                </a:lnTo>
                <a:lnTo>
                  <a:pt x="344" y="123"/>
                </a:lnTo>
                <a:close/>
                <a:moveTo>
                  <a:pt x="516" y="123"/>
                </a:moveTo>
                <a:lnTo>
                  <a:pt x="620" y="0"/>
                </a:lnTo>
                <a:lnTo>
                  <a:pt x="734" y="0"/>
                </a:lnTo>
                <a:lnTo>
                  <a:pt x="630" y="123"/>
                </a:lnTo>
                <a:lnTo>
                  <a:pt x="516" y="123"/>
                </a:lnTo>
                <a:close/>
                <a:moveTo>
                  <a:pt x="688" y="123"/>
                </a:moveTo>
                <a:lnTo>
                  <a:pt x="792" y="0"/>
                </a:lnTo>
                <a:lnTo>
                  <a:pt x="906" y="0"/>
                </a:lnTo>
                <a:lnTo>
                  <a:pt x="802" y="123"/>
                </a:lnTo>
                <a:lnTo>
                  <a:pt x="688" y="123"/>
                </a:lnTo>
                <a:close/>
                <a:moveTo>
                  <a:pt x="860" y="123"/>
                </a:moveTo>
                <a:lnTo>
                  <a:pt x="964" y="0"/>
                </a:lnTo>
                <a:lnTo>
                  <a:pt x="1078" y="0"/>
                </a:lnTo>
                <a:lnTo>
                  <a:pt x="974" y="123"/>
                </a:lnTo>
                <a:lnTo>
                  <a:pt x="860" y="123"/>
                </a:lnTo>
                <a:close/>
                <a:moveTo>
                  <a:pt x="1032" y="123"/>
                </a:moveTo>
                <a:lnTo>
                  <a:pt x="1136" y="0"/>
                </a:lnTo>
                <a:lnTo>
                  <a:pt x="1250" y="0"/>
                </a:lnTo>
                <a:lnTo>
                  <a:pt x="1146" y="123"/>
                </a:lnTo>
                <a:lnTo>
                  <a:pt x="1032" y="123"/>
                </a:lnTo>
                <a:close/>
              </a:path>
            </a:pathLst>
          </a:custGeom>
          <a:gradFill>
            <a:gsLst>
              <a:gs pos="29000">
                <a:srgbClr val="254FEB"/>
              </a:gs>
              <a:gs pos="100000">
                <a:srgbClr val="254FE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35" y="0"/>
            <a:ext cx="12191365" cy="568325"/>
          </a:xfrm>
          <a:prstGeom prst="rect">
            <a:avLst/>
          </a:prstGeom>
        </p:spPr>
      </p:pic>
      <p:pic>
        <p:nvPicPr>
          <p:cNvPr id="2" name="图片 1" descr="logo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00380" y="73025"/>
            <a:ext cx="11202035" cy="4222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16x9kv-底图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7" name="标题 1"/>
          <p:cNvSpPr>
            <a:spLocks noGrp="1"/>
          </p:cNvSpPr>
          <p:nvPr>
            <p:ph type="ctrTitle" hasCustomPrompt="1"/>
          </p:nvPr>
        </p:nvSpPr>
        <p:spPr>
          <a:xfrm>
            <a:off x="1157605" y="1861820"/>
            <a:ext cx="9876790" cy="1758950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6000" b="1" i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kumimoji="1" lang="zh-CN" altLang="en-US" dirty="0"/>
              <a:t>单击此处编辑结束语</a:t>
            </a:r>
          </a:p>
        </p:txBody>
      </p:sp>
      <p:sp>
        <p:nvSpPr>
          <p:cNvPr id="38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BA00916-396A-A444-B6A6-572F44C7530F}" type="datetimeFigureOut">
              <a:rPr kumimoji="1" lang="zh-CN" altLang="en-US" smtClean="0"/>
              <a:t>2026/10/2</a:t>
            </a:fld>
            <a:endParaRPr kumimoji="1" lang="zh-CN" altLang="en-US"/>
          </a:p>
        </p:txBody>
      </p:sp>
      <p:sp>
        <p:nvSpPr>
          <p:cNvPr id="39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40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4" name="文本占位符 9"/>
          <p:cNvSpPr>
            <a:spLocks noGrp="1"/>
          </p:cNvSpPr>
          <p:nvPr>
            <p:ph type="body" sz="quarter" idx="14" hasCustomPrompt="1"/>
          </p:nvPr>
        </p:nvSpPr>
        <p:spPr>
          <a:xfrm>
            <a:off x="5099050" y="4641215"/>
            <a:ext cx="3866515" cy="290195"/>
          </a:xfrm>
        </p:spPr>
        <p:txBody>
          <a:bodyPr anchor="t"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ea"/>
                <a:ea typeface="+mn-ea"/>
              </a:defRPr>
            </a:lvl1pPr>
            <a:lvl2pPr>
              <a:defRPr sz="2000">
                <a:latin typeface="+mj-ea"/>
                <a:ea typeface="+mj-ea"/>
              </a:defRPr>
            </a:lvl2pPr>
            <a:lvl3pPr>
              <a:defRPr sz="2000">
                <a:latin typeface="+mj-ea"/>
                <a:ea typeface="+mj-ea"/>
              </a:defRPr>
            </a:lvl3pPr>
            <a:lvl4pPr>
              <a:defRPr sz="2000">
                <a:latin typeface="+mj-ea"/>
                <a:ea typeface="+mj-ea"/>
              </a:defRPr>
            </a:lvl4pPr>
            <a:lvl5pPr>
              <a:defRPr sz="2000">
                <a:latin typeface="+mj-ea"/>
                <a:ea typeface="+mj-ea"/>
              </a:defRPr>
            </a:lvl5pPr>
          </a:lstStyle>
          <a:p>
            <a:pPr lvl="0"/>
            <a:r>
              <a:rPr kumimoji="1" lang="zh-CN" altLang="en-US" dirty="0"/>
              <a:t>编辑队伍名称</a:t>
            </a:r>
            <a:r>
              <a:rPr kumimoji="1" lang="en-US" altLang="zh-CN" dirty="0"/>
              <a:t> </a:t>
            </a:r>
            <a:r>
              <a:rPr kumimoji="1" lang="zh-CN" altLang="en-US" dirty="0">
                <a:sym typeface="+mn-ea"/>
              </a:rPr>
              <a:t>禁止出现学校和成员信息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  <p:sp>
        <p:nvSpPr>
          <p:cNvPr id="7" name="文本占位符 9"/>
          <p:cNvSpPr>
            <a:spLocks noGrp="1"/>
          </p:cNvSpPr>
          <p:nvPr>
            <p:ph type="body" sz="quarter" idx="20" hasCustomPrompt="1"/>
          </p:nvPr>
        </p:nvSpPr>
        <p:spPr>
          <a:xfrm>
            <a:off x="5099050" y="5077460"/>
            <a:ext cx="3866515" cy="290195"/>
          </a:xfrm>
        </p:spPr>
        <p:txBody>
          <a:bodyPr anchor="t"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ea"/>
                <a:ea typeface="+mn-ea"/>
              </a:defRPr>
            </a:lvl1pPr>
            <a:lvl2pPr>
              <a:defRPr sz="2000">
                <a:latin typeface="+mj-ea"/>
                <a:ea typeface="+mj-ea"/>
              </a:defRPr>
            </a:lvl2pPr>
            <a:lvl3pPr>
              <a:defRPr sz="2000">
                <a:latin typeface="+mj-ea"/>
                <a:ea typeface="+mj-ea"/>
              </a:defRPr>
            </a:lvl3pPr>
            <a:lvl4pPr>
              <a:defRPr sz="2000">
                <a:latin typeface="+mj-ea"/>
                <a:ea typeface="+mj-ea"/>
              </a:defRPr>
            </a:lvl4pPr>
            <a:lvl5pPr>
              <a:defRPr sz="2000">
                <a:latin typeface="+mj-ea"/>
                <a:ea typeface="+mj-ea"/>
              </a:defRPr>
            </a:lvl5pPr>
          </a:lstStyle>
          <a:p>
            <a:pPr lvl="0"/>
            <a:r>
              <a:rPr kumimoji="1" lang="zh-CN" altLang="en-US" dirty="0"/>
              <a:t>编辑完成日期</a:t>
            </a:r>
            <a:r>
              <a:rPr kumimoji="1" lang="en-US" altLang="zh-CN" dirty="0"/>
              <a:t> </a:t>
            </a:r>
            <a:r>
              <a:rPr kumimoji="1" lang="zh-CN" altLang="en-US" dirty="0">
                <a:sym typeface="+mn-ea"/>
              </a:rPr>
              <a:t>禁止出现学校和成员信息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  <p:sp>
        <p:nvSpPr>
          <p:cNvPr id="9" name="文本占位符 9"/>
          <p:cNvSpPr>
            <a:spLocks noGrp="1"/>
          </p:cNvSpPr>
          <p:nvPr>
            <p:ph type="body" sz="quarter" idx="22" hasCustomPrompt="1"/>
          </p:nvPr>
        </p:nvSpPr>
        <p:spPr>
          <a:xfrm>
            <a:off x="3937218" y="4640664"/>
            <a:ext cx="1161805" cy="290369"/>
          </a:xfrm>
        </p:spPr>
        <p:txBody>
          <a:bodyPr anchor="t"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ea"/>
                <a:ea typeface="+mn-ea"/>
              </a:defRPr>
            </a:lvl1pPr>
            <a:lvl2pPr>
              <a:defRPr sz="2000">
                <a:latin typeface="+mj-ea"/>
                <a:ea typeface="+mj-ea"/>
              </a:defRPr>
            </a:lvl2pPr>
            <a:lvl3pPr>
              <a:defRPr sz="2000">
                <a:latin typeface="+mj-ea"/>
                <a:ea typeface="+mj-ea"/>
              </a:defRPr>
            </a:lvl3pPr>
            <a:lvl4pPr>
              <a:defRPr sz="2000">
                <a:latin typeface="+mj-ea"/>
                <a:ea typeface="+mj-ea"/>
              </a:defRPr>
            </a:lvl4pPr>
            <a:lvl5pPr>
              <a:defRPr sz="2000">
                <a:latin typeface="+mj-ea"/>
                <a:ea typeface="+mj-ea"/>
              </a:defRPr>
            </a:lvl5pPr>
          </a:lstStyle>
          <a:p>
            <a:pPr lvl="0"/>
            <a:r>
              <a:rPr kumimoji="1" lang="zh-CN" altLang="en-US" dirty="0"/>
              <a:t>参赛团队：</a:t>
            </a:r>
          </a:p>
        </p:txBody>
      </p:sp>
      <p:sp>
        <p:nvSpPr>
          <p:cNvPr id="54" name="文本占位符 9"/>
          <p:cNvSpPr>
            <a:spLocks noGrp="1"/>
          </p:cNvSpPr>
          <p:nvPr>
            <p:ph type="body" sz="quarter" idx="25" hasCustomPrompt="1"/>
          </p:nvPr>
        </p:nvSpPr>
        <p:spPr>
          <a:xfrm>
            <a:off x="3937218" y="5077480"/>
            <a:ext cx="1161805" cy="290371"/>
          </a:xfrm>
        </p:spPr>
        <p:txBody>
          <a:bodyPr anchor="t"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ea"/>
                <a:ea typeface="+mn-ea"/>
              </a:defRPr>
            </a:lvl1pPr>
            <a:lvl2pPr>
              <a:defRPr sz="2000">
                <a:latin typeface="+mj-ea"/>
                <a:ea typeface="+mj-ea"/>
              </a:defRPr>
            </a:lvl2pPr>
            <a:lvl3pPr>
              <a:defRPr sz="2000">
                <a:latin typeface="+mj-ea"/>
                <a:ea typeface="+mj-ea"/>
              </a:defRPr>
            </a:lvl3pPr>
            <a:lvl4pPr>
              <a:defRPr sz="2000">
                <a:latin typeface="+mj-ea"/>
                <a:ea typeface="+mj-ea"/>
              </a:defRPr>
            </a:lvl4pPr>
            <a:lvl5pPr>
              <a:defRPr sz="2000">
                <a:latin typeface="+mj-ea"/>
                <a:ea typeface="+mj-ea"/>
              </a:defRPr>
            </a:lvl5pPr>
          </a:lstStyle>
          <a:p>
            <a:pPr lvl="0"/>
            <a:r>
              <a:rPr kumimoji="1" lang="zh-CN" altLang="en-US" dirty="0"/>
              <a:t>完成日期：</a:t>
            </a:r>
          </a:p>
        </p:txBody>
      </p:sp>
      <p:pic>
        <p:nvPicPr>
          <p:cNvPr id="2" name="图片 1" descr="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00380" y="294640"/>
            <a:ext cx="11202035" cy="4222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  <a:t>2026/10/2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  <a:t>2026/10/2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  <a:t>2026/10/2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  <a:t>2026/10/2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  <a:t>2026/10/2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  <a:t>2026/10/2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  <a:t>2026/10/2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  <a:t>2026/10/2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00916-396A-A444-B6A6-572F44C7530F}" type="datetimeFigureOut">
              <a:rPr kumimoji="1" lang="zh-CN" altLang="en-US" smtClean="0"/>
              <a:t>2026/10/2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A00916-396A-A444-B6A6-572F44C7530F}" type="datetimeFigureOut">
              <a:rPr kumimoji="1" lang="zh-CN" altLang="en-US" smtClean="0"/>
              <a:t>2026/10/2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B36D65-86F8-1345-A972-51E3FE9D245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3.xml"/><Relationship Id="rId1" Type="http://schemas.openxmlformats.org/officeDocument/2006/relationships/tags" Target="../tags/tag3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44.xml"/><Relationship Id="rId13" Type="http://schemas.openxmlformats.org/officeDocument/2006/relationships/tags" Target="../tags/tag49.xml"/><Relationship Id="rId18" Type="http://schemas.openxmlformats.org/officeDocument/2006/relationships/tags" Target="../tags/tag54.xml"/><Relationship Id="rId3" Type="http://schemas.openxmlformats.org/officeDocument/2006/relationships/tags" Target="../tags/tag39.xml"/><Relationship Id="rId21" Type="http://schemas.openxmlformats.org/officeDocument/2006/relationships/slideLayout" Target="../slideLayouts/slideLayout2.xml"/><Relationship Id="rId7" Type="http://schemas.openxmlformats.org/officeDocument/2006/relationships/tags" Target="../tags/tag43.xml"/><Relationship Id="rId12" Type="http://schemas.openxmlformats.org/officeDocument/2006/relationships/tags" Target="../tags/tag48.xml"/><Relationship Id="rId17" Type="http://schemas.openxmlformats.org/officeDocument/2006/relationships/tags" Target="../tags/tag53.xml"/><Relationship Id="rId2" Type="http://schemas.openxmlformats.org/officeDocument/2006/relationships/tags" Target="../tags/tag38.xml"/><Relationship Id="rId16" Type="http://schemas.openxmlformats.org/officeDocument/2006/relationships/tags" Target="../tags/tag52.xml"/><Relationship Id="rId20" Type="http://schemas.openxmlformats.org/officeDocument/2006/relationships/tags" Target="../tags/tag56.xml"/><Relationship Id="rId1" Type="http://schemas.openxmlformats.org/officeDocument/2006/relationships/tags" Target="../tags/tag37.xml"/><Relationship Id="rId6" Type="http://schemas.openxmlformats.org/officeDocument/2006/relationships/tags" Target="../tags/tag42.xml"/><Relationship Id="rId11" Type="http://schemas.openxmlformats.org/officeDocument/2006/relationships/tags" Target="../tags/tag47.xml"/><Relationship Id="rId5" Type="http://schemas.openxmlformats.org/officeDocument/2006/relationships/tags" Target="../tags/tag41.xml"/><Relationship Id="rId15" Type="http://schemas.openxmlformats.org/officeDocument/2006/relationships/tags" Target="../tags/tag51.xml"/><Relationship Id="rId10" Type="http://schemas.openxmlformats.org/officeDocument/2006/relationships/tags" Target="../tags/tag46.xml"/><Relationship Id="rId19" Type="http://schemas.openxmlformats.org/officeDocument/2006/relationships/tags" Target="../tags/tag55.xml"/><Relationship Id="rId4" Type="http://schemas.openxmlformats.org/officeDocument/2006/relationships/tags" Target="../tags/tag40.xml"/><Relationship Id="rId9" Type="http://schemas.openxmlformats.org/officeDocument/2006/relationships/tags" Target="../tags/tag45.xml"/><Relationship Id="rId14" Type="http://schemas.openxmlformats.org/officeDocument/2006/relationships/tags" Target="../tags/tag5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5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" y="0"/>
            <a:ext cx="12189460" cy="685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文本占位符 45"/>
          <p:cNvSpPr>
            <a:spLocks noGrp="1"/>
          </p:cNvSpPr>
          <p:nvPr>
            <p:ph type="body" sz="quarter" idx="14"/>
          </p:nvPr>
        </p:nvSpPr>
        <p:spPr>
          <a:xfrm>
            <a:off x="5735712" y="4785026"/>
            <a:ext cx="3971258" cy="290227"/>
          </a:xfrm>
          <a:prstGeom prst="rect">
            <a:avLst/>
          </a:prstGeom>
          <a:noFill/>
          <a:ln>
            <a:noFill/>
          </a:ln>
        </p:spPr>
        <p:txBody>
          <a:bodyPr wrap="none" lIns="82582" tIns="4477" rIns="0" bIns="0" anchor="t" anchorCtr="0">
            <a:noAutofit/>
          </a:bodyPr>
          <a:lstStyle/>
          <a:p>
            <a:pPr algn="l"/>
            <a:r>
              <a:rPr lang="zh-CN" sz="1800" dirty="0">
                <a:solidFill>
                  <a:srgbClr val="FFFFFF"/>
                </a:solidFill>
                <a:latin typeface="黑体"/>
                <a:ea typeface="Microsoft YaHei"/>
                <a:cs typeface="黑体"/>
              </a:rPr>
              <a:t>云边智链</a:t>
            </a:r>
          </a:p>
        </p:txBody>
      </p:sp>
      <p:sp>
        <p:nvSpPr>
          <p:cNvPr id="49" name="文本占位符 48"/>
          <p:cNvSpPr>
            <a:spLocks noGrp="1"/>
          </p:cNvSpPr>
          <p:nvPr>
            <p:ph type="body" sz="quarter" idx="20"/>
          </p:nvPr>
        </p:nvSpPr>
        <p:spPr>
          <a:xfrm>
            <a:off x="5735712" y="5222605"/>
            <a:ext cx="3997928" cy="290227"/>
          </a:xfrm>
          <a:prstGeom prst="rect">
            <a:avLst/>
          </a:prstGeom>
          <a:noFill/>
          <a:ln>
            <a:noFill/>
          </a:ln>
        </p:spPr>
        <p:txBody>
          <a:bodyPr wrap="none" lIns="82582" tIns="5048" rIns="0" bIns="0" anchor="t" anchorCtr="0">
            <a:noAutofit/>
          </a:bodyPr>
          <a:lstStyle/>
          <a:p>
            <a:pPr algn="l"/>
            <a:r>
              <a:rPr lang="zh-CN" sz="1800" dirty="0">
                <a:solidFill>
                  <a:srgbClr val="FFFFFF"/>
                </a:solidFill>
                <a:latin typeface="黑体"/>
                <a:ea typeface="Microsoft YaHei"/>
                <a:cs typeface="黑体"/>
              </a:rPr>
              <a:t>2026年10月</a:t>
            </a:r>
          </a:p>
        </p:txBody>
      </p:sp>
      <p:sp>
        <p:nvSpPr>
          <p:cNvPr id="51" name="文本占位符 50"/>
          <p:cNvSpPr>
            <a:spLocks noGrp="1"/>
          </p:cNvSpPr>
          <p:nvPr>
            <p:ph type="body" sz="quarter" idx="22"/>
          </p:nvPr>
        </p:nvSpPr>
        <p:spPr>
          <a:xfrm>
            <a:off x="4573912" y="4785777"/>
            <a:ext cx="1161805" cy="290369"/>
          </a:xfrm>
        </p:spPr>
        <p:txBody>
          <a:bodyPr/>
          <a:lstStyle/>
          <a:p>
            <a:r>
              <a:rPr lang="zh-CN" altLang="en-US" dirty="0"/>
              <a:t>参赛团队：</a:t>
            </a:r>
          </a:p>
        </p:txBody>
      </p:sp>
      <p:sp>
        <p:nvSpPr>
          <p:cNvPr id="54" name="文本占位符 53"/>
          <p:cNvSpPr>
            <a:spLocks noGrp="1"/>
          </p:cNvSpPr>
          <p:nvPr>
            <p:ph type="body" sz="quarter" idx="25"/>
          </p:nvPr>
        </p:nvSpPr>
        <p:spPr>
          <a:xfrm>
            <a:off x="4573912" y="5222593"/>
            <a:ext cx="1161805" cy="290371"/>
          </a:xfrm>
        </p:spPr>
        <p:txBody>
          <a:bodyPr/>
          <a:lstStyle/>
          <a:p>
            <a:r>
              <a:rPr lang="zh-CN" altLang="en-US"/>
              <a:t>完成日期：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8241030" y="5848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grpSp>
        <p:nvGrpSpPr>
          <p:cNvPr id="9" name="project-title"/>
          <p:cNvGrpSpPr/>
          <p:nvPr/>
        </p:nvGrpSpPr>
        <p:grpSpPr>
          <a:xfrm>
            <a:off x="4111664" y="2045018"/>
            <a:ext cx="3968671" cy="847725"/>
            <a:chOff x="4111664" y="2045018"/>
            <a:chExt cx="3968671" cy="847725"/>
          </a:xfrm>
        </p:grpSpPr>
        <p:sp>
          <p:nvSpPr>
            <p:cNvPr id="8" name="TextBox 8"/>
            <p:cNvSpPr txBox="1"/>
            <p:nvPr/>
          </p:nvSpPr>
          <p:spPr>
            <a:xfrm>
              <a:off x="4111664" y="2045018"/>
              <a:ext cx="3968671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350" b="1" dirty="0">
                  <a:solidFill>
                    <a:srgbClr val="FFFFFF"/>
                  </a:solidFill>
                  <a:latin typeface="黑体"/>
                  <a:ea typeface="黑体"/>
                  <a:cs typeface="黑体"/>
                </a:rPr>
                <a:t>CPN-HRL-DAG</a:t>
              </a:r>
            </a:p>
          </p:txBody>
        </p:sp>
      </p:grpSp>
      <p:grpSp>
        <p:nvGrpSpPr>
          <p:cNvPr id="11" name="project-subtitle"/>
          <p:cNvGrpSpPr/>
          <p:nvPr/>
        </p:nvGrpSpPr>
        <p:grpSpPr>
          <a:xfrm>
            <a:off x="3821656" y="2917508"/>
            <a:ext cx="4548689" cy="616077"/>
            <a:chOff x="3821656" y="2917508"/>
            <a:chExt cx="4548689" cy="616077"/>
          </a:xfrm>
        </p:grpSpPr>
        <p:sp>
          <p:nvSpPr>
            <p:cNvPr id="10" name="TextBox 10"/>
            <p:cNvSpPr txBox="1"/>
            <p:nvPr/>
          </p:nvSpPr>
          <p:spPr>
            <a:xfrm>
              <a:off x="3821656" y="2917508"/>
              <a:ext cx="454868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rgbClr val="FFFFFF"/>
                  </a:solidFill>
                  <a:latin typeface="黑体"/>
                  <a:ea typeface="Microsoft YaHei"/>
                  <a:cs typeface="黑体"/>
                </a:rPr>
                <a:t>云—边—端 DAG 任务调度</a:t>
              </a:r>
            </a:p>
          </p:txBody>
        </p:sp>
      </p:grpSp>
      <p:grpSp>
        <p:nvGrpSpPr>
          <p:cNvPr id="14" name="value"/>
          <p:cNvGrpSpPr/>
          <p:nvPr/>
        </p:nvGrpSpPr>
        <p:grpSpPr>
          <a:xfrm>
            <a:off x="3150235" y="3899059"/>
            <a:ext cx="5891530" cy="425386"/>
            <a:chOff x="3150235" y="3899059"/>
            <a:chExt cx="5891530" cy="425386"/>
          </a:xfrm>
        </p:grpSpPr>
        <p:sp>
          <p:nvSpPr>
            <p:cNvPr id="12" name="TextBox 12"/>
            <p:cNvSpPr txBox="1"/>
            <p:nvPr/>
          </p:nvSpPr>
          <p:spPr>
            <a:xfrm>
              <a:off x="3150235" y="3899059"/>
              <a:ext cx="5891530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80" dirty="0">
                  <a:solidFill>
                    <a:srgbClr val="FFFFFF"/>
                  </a:solidFill>
                  <a:latin typeface="黑体"/>
                  <a:ea typeface="Microsoft YaHei"/>
                  <a:cs typeface="黑体"/>
                </a:rPr>
                <a:t>用可验证的调度方案，缩短工作流总完成时间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>
            <p:custDataLst>
              <p:tags r:id="rId1"/>
            </p:custDataLst>
          </p:nvPr>
        </p:nvSpPr>
        <p:spPr>
          <a:xfrm>
            <a:off x="5092065" y="1496695"/>
            <a:ext cx="5114925" cy="741045"/>
          </a:xfrm>
          <a:prstGeom prst="round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2">
                  <a:lumMod val="20000"/>
                  <a:lumOff val="80000"/>
                  <a:alpha val="30000"/>
                </a:schemeClr>
              </a:solidFill>
            </a:endParaRPr>
          </a:p>
        </p:txBody>
      </p:sp>
      <p:sp>
        <p:nvSpPr>
          <p:cNvPr id="28" name="任意形状 10"/>
          <p:cNvSpPr/>
          <p:nvPr userDrawn="1">
            <p:custDataLst>
              <p:tags r:id="rId2"/>
            </p:custDataLst>
          </p:nvPr>
        </p:nvSpPr>
        <p:spPr>
          <a:xfrm rot="5400000">
            <a:off x="5560060" y="1378585"/>
            <a:ext cx="784860" cy="933450"/>
          </a:xfrm>
          <a:custGeom>
            <a:avLst/>
            <a:gdLst>
              <a:gd name="connsiteX0" fmla="*/ 0 w 1021517"/>
              <a:gd name="connsiteY0" fmla="*/ 1048944 h 1219200"/>
              <a:gd name="connsiteX1" fmla="*/ 0 w 1021517"/>
              <a:gd name="connsiteY1" fmla="*/ 343438 h 1219200"/>
              <a:gd name="connsiteX2" fmla="*/ 170256 w 1021517"/>
              <a:gd name="connsiteY2" fmla="*/ 173182 h 1219200"/>
              <a:gd name="connsiteX3" fmla="*/ 412580 w 1021517"/>
              <a:gd name="connsiteY3" fmla="*/ 173182 h 1219200"/>
              <a:gd name="connsiteX4" fmla="*/ 513025 w 1021517"/>
              <a:gd name="connsiteY4" fmla="*/ 0 h 1219200"/>
              <a:gd name="connsiteX5" fmla="*/ 613470 w 1021517"/>
              <a:gd name="connsiteY5" fmla="*/ 173182 h 1219200"/>
              <a:gd name="connsiteX6" fmla="*/ 851261 w 1021517"/>
              <a:gd name="connsiteY6" fmla="*/ 173182 h 1219200"/>
              <a:gd name="connsiteX7" fmla="*/ 1021517 w 1021517"/>
              <a:gd name="connsiteY7" fmla="*/ 343438 h 1219200"/>
              <a:gd name="connsiteX8" fmla="*/ 1021517 w 1021517"/>
              <a:gd name="connsiteY8" fmla="*/ 1048944 h 1219200"/>
              <a:gd name="connsiteX9" fmla="*/ 851261 w 1021517"/>
              <a:gd name="connsiteY9" fmla="*/ 1219200 h 1219200"/>
              <a:gd name="connsiteX10" fmla="*/ 170256 w 1021517"/>
              <a:gd name="connsiteY10" fmla="*/ 1219200 h 1219200"/>
              <a:gd name="connsiteX11" fmla="*/ 0 w 1021517"/>
              <a:gd name="connsiteY11" fmla="*/ 1048944 h 121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1517" h="1219200">
                <a:moveTo>
                  <a:pt x="0" y="1048944"/>
                </a:moveTo>
                <a:lnTo>
                  <a:pt x="0" y="343438"/>
                </a:lnTo>
                <a:cubicBezTo>
                  <a:pt x="0" y="249408"/>
                  <a:pt x="76226" y="173182"/>
                  <a:pt x="170256" y="173182"/>
                </a:cubicBezTo>
                <a:lnTo>
                  <a:pt x="412580" y="173182"/>
                </a:lnTo>
                <a:lnTo>
                  <a:pt x="513025" y="0"/>
                </a:lnTo>
                <a:lnTo>
                  <a:pt x="613470" y="173182"/>
                </a:lnTo>
                <a:lnTo>
                  <a:pt x="851261" y="173182"/>
                </a:lnTo>
                <a:cubicBezTo>
                  <a:pt x="945291" y="173182"/>
                  <a:pt x="1021517" y="249408"/>
                  <a:pt x="1021517" y="343438"/>
                </a:cubicBezTo>
                <a:lnTo>
                  <a:pt x="1021517" y="1048944"/>
                </a:lnTo>
                <a:cubicBezTo>
                  <a:pt x="1021517" y="1142974"/>
                  <a:pt x="945291" y="1219200"/>
                  <a:pt x="851261" y="1219200"/>
                </a:cubicBezTo>
                <a:lnTo>
                  <a:pt x="170256" y="1219200"/>
                </a:lnTo>
                <a:cubicBezTo>
                  <a:pt x="76226" y="1219200"/>
                  <a:pt x="0" y="1142974"/>
                  <a:pt x="0" y="1048944"/>
                </a:cubicBezTo>
                <a:close/>
              </a:path>
            </a:pathLst>
          </a:custGeom>
          <a:solidFill>
            <a:srgbClr val="254F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en-US" altLang="zh-CN" dirty="0">
              <a:solidFill>
                <a:srgbClr val="C00000"/>
              </a:solidFill>
            </a:endParaRPr>
          </a:p>
        </p:txBody>
      </p:sp>
      <p:sp>
        <p:nvSpPr>
          <p:cNvPr id="29" name="文本框 28"/>
          <p:cNvSpPr txBox="1"/>
          <p:nvPr userDrawn="1">
            <p:custDataLst>
              <p:tags r:id="rId3"/>
            </p:custDataLst>
          </p:nvPr>
        </p:nvSpPr>
        <p:spPr>
          <a:xfrm>
            <a:off x="5485765" y="1591310"/>
            <a:ext cx="796925" cy="52197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>
              <a:lnSpc>
                <a:spcPct val="100000"/>
              </a:lnSpc>
            </a:pPr>
            <a:r>
              <a:rPr kumimoji="1" lang="en-US" altLang="zh-CN" sz="2800" b="1" dirty="0">
                <a:solidFill>
                  <a:schemeClr val="bg1"/>
                </a:solidFill>
                <a:latin typeface="+mj-ea"/>
                <a:ea typeface="+mj-ea"/>
              </a:rPr>
              <a:t>01</a:t>
            </a:r>
          </a:p>
        </p:txBody>
      </p:sp>
      <p:sp>
        <p:nvSpPr>
          <p:cNvPr id="115" name="圆角矩形 114"/>
          <p:cNvSpPr/>
          <p:nvPr userDrawn="1">
            <p:custDataLst>
              <p:tags r:id="rId4"/>
            </p:custDataLst>
          </p:nvPr>
        </p:nvSpPr>
        <p:spPr>
          <a:xfrm>
            <a:off x="5092065" y="2439670"/>
            <a:ext cx="5114925" cy="741045"/>
          </a:xfrm>
          <a:prstGeom prst="round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2">
                  <a:lumMod val="20000"/>
                  <a:lumOff val="80000"/>
                  <a:alpha val="30000"/>
                </a:schemeClr>
              </a:solidFill>
            </a:endParaRPr>
          </a:p>
        </p:txBody>
      </p:sp>
      <p:sp>
        <p:nvSpPr>
          <p:cNvPr id="116" name="任意形状 10"/>
          <p:cNvSpPr/>
          <p:nvPr userDrawn="1">
            <p:custDataLst>
              <p:tags r:id="rId5"/>
            </p:custDataLst>
          </p:nvPr>
        </p:nvSpPr>
        <p:spPr>
          <a:xfrm rot="5400000">
            <a:off x="5560060" y="2321560"/>
            <a:ext cx="784860" cy="933450"/>
          </a:xfrm>
          <a:custGeom>
            <a:avLst/>
            <a:gdLst>
              <a:gd name="connsiteX0" fmla="*/ 0 w 1021517"/>
              <a:gd name="connsiteY0" fmla="*/ 1048944 h 1219200"/>
              <a:gd name="connsiteX1" fmla="*/ 0 w 1021517"/>
              <a:gd name="connsiteY1" fmla="*/ 343438 h 1219200"/>
              <a:gd name="connsiteX2" fmla="*/ 170256 w 1021517"/>
              <a:gd name="connsiteY2" fmla="*/ 173182 h 1219200"/>
              <a:gd name="connsiteX3" fmla="*/ 412580 w 1021517"/>
              <a:gd name="connsiteY3" fmla="*/ 173182 h 1219200"/>
              <a:gd name="connsiteX4" fmla="*/ 513025 w 1021517"/>
              <a:gd name="connsiteY4" fmla="*/ 0 h 1219200"/>
              <a:gd name="connsiteX5" fmla="*/ 613470 w 1021517"/>
              <a:gd name="connsiteY5" fmla="*/ 173182 h 1219200"/>
              <a:gd name="connsiteX6" fmla="*/ 851261 w 1021517"/>
              <a:gd name="connsiteY6" fmla="*/ 173182 h 1219200"/>
              <a:gd name="connsiteX7" fmla="*/ 1021517 w 1021517"/>
              <a:gd name="connsiteY7" fmla="*/ 343438 h 1219200"/>
              <a:gd name="connsiteX8" fmla="*/ 1021517 w 1021517"/>
              <a:gd name="connsiteY8" fmla="*/ 1048944 h 1219200"/>
              <a:gd name="connsiteX9" fmla="*/ 851261 w 1021517"/>
              <a:gd name="connsiteY9" fmla="*/ 1219200 h 1219200"/>
              <a:gd name="connsiteX10" fmla="*/ 170256 w 1021517"/>
              <a:gd name="connsiteY10" fmla="*/ 1219200 h 1219200"/>
              <a:gd name="connsiteX11" fmla="*/ 0 w 1021517"/>
              <a:gd name="connsiteY11" fmla="*/ 1048944 h 121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1517" h="1219200">
                <a:moveTo>
                  <a:pt x="0" y="1048944"/>
                </a:moveTo>
                <a:lnTo>
                  <a:pt x="0" y="343438"/>
                </a:lnTo>
                <a:cubicBezTo>
                  <a:pt x="0" y="249408"/>
                  <a:pt x="76226" y="173182"/>
                  <a:pt x="170256" y="173182"/>
                </a:cubicBezTo>
                <a:lnTo>
                  <a:pt x="412580" y="173182"/>
                </a:lnTo>
                <a:lnTo>
                  <a:pt x="513025" y="0"/>
                </a:lnTo>
                <a:lnTo>
                  <a:pt x="613470" y="173182"/>
                </a:lnTo>
                <a:lnTo>
                  <a:pt x="851261" y="173182"/>
                </a:lnTo>
                <a:cubicBezTo>
                  <a:pt x="945291" y="173182"/>
                  <a:pt x="1021517" y="249408"/>
                  <a:pt x="1021517" y="343438"/>
                </a:cubicBezTo>
                <a:lnTo>
                  <a:pt x="1021517" y="1048944"/>
                </a:lnTo>
                <a:cubicBezTo>
                  <a:pt x="1021517" y="1142974"/>
                  <a:pt x="945291" y="1219200"/>
                  <a:pt x="851261" y="1219200"/>
                </a:cubicBezTo>
                <a:lnTo>
                  <a:pt x="170256" y="1219200"/>
                </a:lnTo>
                <a:cubicBezTo>
                  <a:pt x="76226" y="1219200"/>
                  <a:pt x="0" y="1142974"/>
                  <a:pt x="0" y="1048944"/>
                </a:cubicBezTo>
                <a:close/>
              </a:path>
            </a:pathLst>
          </a:custGeom>
          <a:solidFill>
            <a:srgbClr val="254F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7" name="文本框 116"/>
          <p:cNvSpPr txBox="1"/>
          <p:nvPr userDrawn="1">
            <p:custDataLst>
              <p:tags r:id="rId6"/>
            </p:custDataLst>
          </p:nvPr>
        </p:nvSpPr>
        <p:spPr>
          <a:xfrm>
            <a:off x="5485765" y="2534285"/>
            <a:ext cx="796925" cy="52197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>
              <a:lnSpc>
                <a:spcPct val="100000"/>
              </a:lnSpc>
            </a:pPr>
            <a:r>
              <a:rPr kumimoji="1" lang="en-US" altLang="zh-CN" sz="2800" b="1" dirty="0">
                <a:solidFill>
                  <a:schemeClr val="bg1"/>
                </a:solidFill>
                <a:latin typeface="+mj-ea"/>
                <a:ea typeface="+mj-ea"/>
              </a:rPr>
              <a:t>02</a:t>
            </a:r>
          </a:p>
        </p:txBody>
      </p:sp>
      <p:sp>
        <p:nvSpPr>
          <p:cNvPr id="120" name="圆角矩形 119"/>
          <p:cNvSpPr/>
          <p:nvPr userDrawn="1">
            <p:custDataLst>
              <p:tags r:id="rId7"/>
            </p:custDataLst>
          </p:nvPr>
        </p:nvSpPr>
        <p:spPr>
          <a:xfrm>
            <a:off x="5092065" y="3382645"/>
            <a:ext cx="5114925" cy="741045"/>
          </a:xfrm>
          <a:prstGeom prst="round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2">
                  <a:lumMod val="20000"/>
                  <a:lumOff val="80000"/>
                  <a:alpha val="30000"/>
                </a:schemeClr>
              </a:solidFill>
            </a:endParaRPr>
          </a:p>
        </p:txBody>
      </p:sp>
      <p:sp>
        <p:nvSpPr>
          <p:cNvPr id="121" name="任意形状 10"/>
          <p:cNvSpPr/>
          <p:nvPr userDrawn="1">
            <p:custDataLst>
              <p:tags r:id="rId8"/>
            </p:custDataLst>
          </p:nvPr>
        </p:nvSpPr>
        <p:spPr>
          <a:xfrm rot="5400000">
            <a:off x="5560060" y="3264535"/>
            <a:ext cx="784860" cy="933450"/>
          </a:xfrm>
          <a:custGeom>
            <a:avLst/>
            <a:gdLst>
              <a:gd name="connsiteX0" fmla="*/ 0 w 1021517"/>
              <a:gd name="connsiteY0" fmla="*/ 1048944 h 1219200"/>
              <a:gd name="connsiteX1" fmla="*/ 0 w 1021517"/>
              <a:gd name="connsiteY1" fmla="*/ 343438 h 1219200"/>
              <a:gd name="connsiteX2" fmla="*/ 170256 w 1021517"/>
              <a:gd name="connsiteY2" fmla="*/ 173182 h 1219200"/>
              <a:gd name="connsiteX3" fmla="*/ 412580 w 1021517"/>
              <a:gd name="connsiteY3" fmla="*/ 173182 h 1219200"/>
              <a:gd name="connsiteX4" fmla="*/ 513025 w 1021517"/>
              <a:gd name="connsiteY4" fmla="*/ 0 h 1219200"/>
              <a:gd name="connsiteX5" fmla="*/ 613470 w 1021517"/>
              <a:gd name="connsiteY5" fmla="*/ 173182 h 1219200"/>
              <a:gd name="connsiteX6" fmla="*/ 851261 w 1021517"/>
              <a:gd name="connsiteY6" fmla="*/ 173182 h 1219200"/>
              <a:gd name="connsiteX7" fmla="*/ 1021517 w 1021517"/>
              <a:gd name="connsiteY7" fmla="*/ 343438 h 1219200"/>
              <a:gd name="connsiteX8" fmla="*/ 1021517 w 1021517"/>
              <a:gd name="connsiteY8" fmla="*/ 1048944 h 1219200"/>
              <a:gd name="connsiteX9" fmla="*/ 851261 w 1021517"/>
              <a:gd name="connsiteY9" fmla="*/ 1219200 h 1219200"/>
              <a:gd name="connsiteX10" fmla="*/ 170256 w 1021517"/>
              <a:gd name="connsiteY10" fmla="*/ 1219200 h 1219200"/>
              <a:gd name="connsiteX11" fmla="*/ 0 w 1021517"/>
              <a:gd name="connsiteY11" fmla="*/ 1048944 h 121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1517" h="1219200">
                <a:moveTo>
                  <a:pt x="0" y="1048944"/>
                </a:moveTo>
                <a:lnTo>
                  <a:pt x="0" y="343438"/>
                </a:lnTo>
                <a:cubicBezTo>
                  <a:pt x="0" y="249408"/>
                  <a:pt x="76226" y="173182"/>
                  <a:pt x="170256" y="173182"/>
                </a:cubicBezTo>
                <a:lnTo>
                  <a:pt x="412580" y="173182"/>
                </a:lnTo>
                <a:lnTo>
                  <a:pt x="513025" y="0"/>
                </a:lnTo>
                <a:lnTo>
                  <a:pt x="613470" y="173182"/>
                </a:lnTo>
                <a:lnTo>
                  <a:pt x="851261" y="173182"/>
                </a:lnTo>
                <a:cubicBezTo>
                  <a:pt x="945291" y="173182"/>
                  <a:pt x="1021517" y="249408"/>
                  <a:pt x="1021517" y="343438"/>
                </a:cubicBezTo>
                <a:lnTo>
                  <a:pt x="1021517" y="1048944"/>
                </a:lnTo>
                <a:cubicBezTo>
                  <a:pt x="1021517" y="1142974"/>
                  <a:pt x="945291" y="1219200"/>
                  <a:pt x="851261" y="1219200"/>
                </a:cubicBezTo>
                <a:lnTo>
                  <a:pt x="170256" y="1219200"/>
                </a:lnTo>
                <a:cubicBezTo>
                  <a:pt x="76226" y="1219200"/>
                  <a:pt x="0" y="1142974"/>
                  <a:pt x="0" y="1048944"/>
                </a:cubicBezTo>
                <a:close/>
              </a:path>
            </a:pathLst>
          </a:custGeom>
          <a:solidFill>
            <a:srgbClr val="254F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en-US" altLang="zh-CN" dirty="0"/>
          </a:p>
        </p:txBody>
      </p:sp>
      <p:sp>
        <p:nvSpPr>
          <p:cNvPr id="122" name="文本框 121"/>
          <p:cNvSpPr txBox="1"/>
          <p:nvPr userDrawn="1">
            <p:custDataLst>
              <p:tags r:id="rId9"/>
            </p:custDataLst>
          </p:nvPr>
        </p:nvSpPr>
        <p:spPr>
          <a:xfrm>
            <a:off x="5485765" y="3477260"/>
            <a:ext cx="796925" cy="52197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>
              <a:lnSpc>
                <a:spcPct val="100000"/>
              </a:lnSpc>
            </a:pPr>
            <a:r>
              <a:rPr kumimoji="1" lang="en-US" altLang="zh-CN" sz="2800" b="1" dirty="0">
                <a:solidFill>
                  <a:schemeClr val="bg1"/>
                </a:solidFill>
                <a:latin typeface="+mj-ea"/>
                <a:ea typeface="+mj-ea"/>
              </a:rPr>
              <a:t>03</a:t>
            </a:r>
          </a:p>
        </p:txBody>
      </p:sp>
      <p:sp>
        <p:nvSpPr>
          <p:cNvPr id="125" name="圆角矩形 124"/>
          <p:cNvSpPr/>
          <p:nvPr userDrawn="1">
            <p:custDataLst>
              <p:tags r:id="rId10"/>
            </p:custDataLst>
          </p:nvPr>
        </p:nvSpPr>
        <p:spPr>
          <a:xfrm>
            <a:off x="5092065" y="4325620"/>
            <a:ext cx="5114925" cy="741045"/>
          </a:xfrm>
          <a:prstGeom prst="round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2">
                  <a:lumMod val="20000"/>
                  <a:lumOff val="80000"/>
                  <a:alpha val="30000"/>
                </a:schemeClr>
              </a:solidFill>
            </a:endParaRPr>
          </a:p>
        </p:txBody>
      </p:sp>
      <p:sp>
        <p:nvSpPr>
          <p:cNvPr id="126" name="任意形状 10"/>
          <p:cNvSpPr/>
          <p:nvPr userDrawn="1">
            <p:custDataLst>
              <p:tags r:id="rId11"/>
            </p:custDataLst>
          </p:nvPr>
        </p:nvSpPr>
        <p:spPr>
          <a:xfrm rot="5400000">
            <a:off x="5560060" y="4207510"/>
            <a:ext cx="784860" cy="933450"/>
          </a:xfrm>
          <a:custGeom>
            <a:avLst/>
            <a:gdLst>
              <a:gd name="connsiteX0" fmla="*/ 0 w 1021517"/>
              <a:gd name="connsiteY0" fmla="*/ 1048944 h 1219200"/>
              <a:gd name="connsiteX1" fmla="*/ 0 w 1021517"/>
              <a:gd name="connsiteY1" fmla="*/ 343438 h 1219200"/>
              <a:gd name="connsiteX2" fmla="*/ 170256 w 1021517"/>
              <a:gd name="connsiteY2" fmla="*/ 173182 h 1219200"/>
              <a:gd name="connsiteX3" fmla="*/ 412580 w 1021517"/>
              <a:gd name="connsiteY3" fmla="*/ 173182 h 1219200"/>
              <a:gd name="connsiteX4" fmla="*/ 513025 w 1021517"/>
              <a:gd name="connsiteY4" fmla="*/ 0 h 1219200"/>
              <a:gd name="connsiteX5" fmla="*/ 613470 w 1021517"/>
              <a:gd name="connsiteY5" fmla="*/ 173182 h 1219200"/>
              <a:gd name="connsiteX6" fmla="*/ 851261 w 1021517"/>
              <a:gd name="connsiteY6" fmla="*/ 173182 h 1219200"/>
              <a:gd name="connsiteX7" fmla="*/ 1021517 w 1021517"/>
              <a:gd name="connsiteY7" fmla="*/ 343438 h 1219200"/>
              <a:gd name="connsiteX8" fmla="*/ 1021517 w 1021517"/>
              <a:gd name="connsiteY8" fmla="*/ 1048944 h 1219200"/>
              <a:gd name="connsiteX9" fmla="*/ 851261 w 1021517"/>
              <a:gd name="connsiteY9" fmla="*/ 1219200 h 1219200"/>
              <a:gd name="connsiteX10" fmla="*/ 170256 w 1021517"/>
              <a:gd name="connsiteY10" fmla="*/ 1219200 h 1219200"/>
              <a:gd name="connsiteX11" fmla="*/ 0 w 1021517"/>
              <a:gd name="connsiteY11" fmla="*/ 1048944 h 121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1517" h="1219200">
                <a:moveTo>
                  <a:pt x="0" y="1048944"/>
                </a:moveTo>
                <a:lnTo>
                  <a:pt x="0" y="343438"/>
                </a:lnTo>
                <a:cubicBezTo>
                  <a:pt x="0" y="249408"/>
                  <a:pt x="76226" y="173182"/>
                  <a:pt x="170256" y="173182"/>
                </a:cubicBezTo>
                <a:lnTo>
                  <a:pt x="412580" y="173182"/>
                </a:lnTo>
                <a:lnTo>
                  <a:pt x="513025" y="0"/>
                </a:lnTo>
                <a:lnTo>
                  <a:pt x="613470" y="173182"/>
                </a:lnTo>
                <a:lnTo>
                  <a:pt x="851261" y="173182"/>
                </a:lnTo>
                <a:cubicBezTo>
                  <a:pt x="945291" y="173182"/>
                  <a:pt x="1021517" y="249408"/>
                  <a:pt x="1021517" y="343438"/>
                </a:cubicBezTo>
                <a:lnTo>
                  <a:pt x="1021517" y="1048944"/>
                </a:lnTo>
                <a:cubicBezTo>
                  <a:pt x="1021517" y="1142974"/>
                  <a:pt x="945291" y="1219200"/>
                  <a:pt x="851261" y="1219200"/>
                </a:cubicBezTo>
                <a:lnTo>
                  <a:pt x="170256" y="1219200"/>
                </a:lnTo>
                <a:cubicBezTo>
                  <a:pt x="76226" y="1219200"/>
                  <a:pt x="0" y="1142974"/>
                  <a:pt x="0" y="1048944"/>
                </a:cubicBezTo>
                <a:close/>
              </a:path>
            </a:pathLst>
          </a:custGeom>
          <a:solidFill>
            <a:srgbClr val="254F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en-US" altLang="zh-CN" dirty="0"/>
          </a:p>
        </p:txBody>
      </p:sp>
      <p:sp>
        <p:nvSpPr>
          <p:cNvPr id="127" name="文本框 126"/>
          <p:cNvSpPr txBox="1"/>
          <p:nvPr userDrawn="1">
            <p:custDataLst>
              <p:tags r:id="rId12"/>
            </p:custDataLst>
          </p:nvPr>
        </p:nvSpPr>
        <p:spPr>
          <a:xfrm>
            <a:off x="5485765" y="4420235"/>
            <a:ext cx="796925" cy="52197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>
              <a:lnSpc>
                <a:spcPct val="100000"/>
              </a:lnSpc>
            </a:pPr>
            <a:r>
              <a:rPr kumimoji="1" lang="en-US" altLang="zh-CN" sz="2800" b="1" dirty="0">
                <a:solidFill>
                  <a:schemeClr val="bg1"/>
                </a:solidFill>
                <a:latin typeface="+mj-ea"/>
                <a:ea typeface="+mj-ea"/>
              </a:rPr>
              <a:t>04</a:t>
            </a:r>
          </a:p>
        </p:txBody>
      </p:sp>
      <p:sp>
        <p:nvSpPr>
          <p:cNvPr id="130" name="圆角矩形 129"/>
          <p:cNvSpPr/>
          <p:nvPr userDrawn="1">
            <p:custDataLst>
              <p:tags r:id="rId13"/>
            </p:custDataLst>
          </p:nvPr>
        </p:nvSpPr>
        <p:spPr>
          <a:xfrm>
            <a:off x="5092065" y="5268595"/>
            <a:ext cx="5114925" cy="741045"/>
          </a:xfrm>
          <a:prstGeom prst="round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2">
                  <a:lumMod val="20000"/>
                  <a:lumOff val="80000"/>
                  <a:alpha val="30000"/>
                </a:schemeClr>
              </a:solidFill>
            </a:endParaRPr>
          </a:p>
        </p:txBody>
      </p:sp>
      <p:sp>
        <p:nvSpPr>
          <p:cNvPr id="131" name="任意形状 10"/>
          <p:cNvSpPr/>
          <p:nvPr userDrawn="1">
            <p:custDataLst>
              <p:tags r:id="rId14"/>
            </p:custDataLst>
          </p:nvPr>
        </p:nvSpPr>
        <p:spPr>
          <a:xfrm rot="5400000">
            <a:off x="5560060" y="5150485"/>
            <a:ext cx="784860" cy="933450"/>
          </a:xfrm>
          <a:custGeom>
            <a:avLst/>
            <a:gdLst>
              <a:gd name="connsiteX0" fmla="*/ 0 w 1021517"/>
              <a:gd name="connsiteY0" fmla="*/ 1048944 h 1219200"/>
              <a:gd name="connsiteX1" fmla="*/ 0 w 1021517"/>
              <a:gd name="connsiteY1" fmla="*/ 343438 h 1219200"/>
              <a:gd name="connsiteX2" fmla="*/ 170256 w 1021517"/>
              <a:gd name="connsiteY2" fmla="*/ 173182 h 1219200"/>
              <a:gd name="connsiteX3" fmla="*/ 412580 w 1021517"/>
              <a:gd name="connsiteY3" fmla="*/ 173182 h 1219200"/>
              <a:gd name="connsiteX4" fmla="*/ 513025 w 1021517"/>
              <a:gd name="connsiteY4" fmla="*/ 0 h 1219200"/>
              <a:gd name="connsiteX5" fmla="*/ 613470 w 1021517"/>
              <a:gd name="connsiteY5" fmla="*/ 173182 h 1219200"/>
              <a:gd name="connsiteX6" fmla="*/ 851261 w 1021517"/>
              <a:gd name="connsiteY6" fmla="*/ 173182 h 1219200"/>
              <a:gd name="connsiteX7" fmla="*/ 1021517 w 1021517"/>
              <a:gd name="connsiteY7" fmla="*/ 343438 h 1219200"/>
              <a:gd name="connsiteX8" fmla="*/ 1021517 w 1021517"/>
              <a:gd name="connsiteY8" fmla="*/ 1048944 h 1219200"/>
              <a:gd name="connsiteX9" fmla="*/ 851261 w 1021517"/>
              <a:gd name="connsiteY9" fmla="*/ 1219200 h 1219200"/>
              <a:gd name="connsiteX10" fmla="*/ 170256 w 1021517"/>
              <a:gd name="connsiteY10" fmla="*/ 1219200 h 1219200"/>
              <a:gd name="connsiteX11" fmla="*/ 0 w 1021517"/>
              <a:gd name="connsiteY11" fmla="*/ 1048944 h 121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1517" h="1219200">
                <a:moveTo>
                  <a:pt x="0" y="1048944"/>
                </a:moveTo>
                <a:lnTo>
                  <a:pt x="0" y="343438"/>
                </a:lnTo>
                <a:cubicBezTo>
                  <a:pt x="0" y="249408"/>
                  <a:pt x="76226" y="173182"/>
                  <a:pt x="170256" y="173182"/>
                </a:cubicBezTo>
                <a:lnTo>
                  <a:pt x="412580" y="173182"/>
                </a:lnTo>
                <a:lnTo>
                  <a:pt x="513025" y="0"/>
                </a:lnTo>
                <a:lnTo>
                  <a:pt x="613470" y="173182"/>
                </a:lnTo>
                <a:lnTo>
                  <a:pt x="851261" y="173182"/>
                </a:lnTo>
                <a:cubicBezTo>
                  <a:pt x="945291" y="173182"/>
                  <a:pt x="1021517" y="249408"/>
                  <a:pt x="1021517" y="343438"/>
                </a:cubicBezTo>
                <a:lnTo>
                  <a:pt x="1021517" y="1048944"/>
                </a:lnTo>
                <a:cubicBezTo>
                  <a:pt x="1021517" y="1142974"/>
                  <a:pt x="945291" y="1219200"/>
                  <a:pt x="851261" y="1219200"/>
                </a:cubicBezTo>
                <a:lnTo>
                  <a:pt x="170256" y="1219200"/>
                </a:lnTo>
                <a:cubicBezTo>
                  <a:pt x="76226" y="1219200"/>
                  <a:pt x="0" y="1142974"/>
                  <a:pt x="0" y="1048944"/>
                </a:cubicBezTo>
                <a:close/>
              </a:path>
            </a:pathLst>
          </a:custGeom>
          <a:solidFill>
            <a:srgbClr val="254F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en-US" altLang="zh-CN" dirty="0"/>
          </a:p>
        </p:txBody>
      </p:sp>
      <p:sp>
        <p:nvSpPr>
          <p:cNvPr id="132" name="文本框 131"/>
          <p:cNvSpPr txBox="1"/>
          <p:nvPr userDrawn="1">
            <p:custDataLst>
              <p:tags r:id="rId15"/>
            </p:custDataLst>
          </p:nvPr>
        </p:nvSpPr>
        <p:spPr>
          <a:xfrm>
            <a:off x="5485765" y="5363210"/>
            <a:ext cx="796925" cy="52197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>
              <a:lnSpc>
                <a:spcPct val="100000"/>
              </a:lnSpc>
            </a:pPr>
            <a:r>
              <a:rPr kumimoji="1" lang="en-US" altLang="zh-CN" sz="2800" b="1" dirty="0">
                <a:solidFill>
                  <a:schemeClr val="bg1"/>
                </a:solidFill>
                <a:latin typeface="+mj-ea"/>
                <a:ea typeface="+mj-ea"/>
              </a:rPr>
              <a:t>05</a:t>
            </a:r>
          </a:p>
        </p:txBody>
      </p:sp>
      <p:sp>
        <p:nvSpPr>
          <p:cNvPr id="33" name="标题 32"/>
          <p:cNvSpPr>
            <a:spLocks noGrp="1"/>
          </p:cNvSpPr>
          <p:nvPr>
            <p:ph type="title" hasCustomPrompt="1"/>
            <p:custDataLst>
              <p:tags r:id="rId16"/>
            </p:custDataLst>
          </p:nvPr>
        </p:nvSpPr>
        <p:spPr>
          <a:xfrm>
            <a:off x="6762750" y="1586865"/>
            <a:ext cx="3072130" cy="521970"/>
          </a:xfrm>
        </p:spPr>
        <p:txBody>
          <a:bodyPr wrap="square" anchor="ctr" anchorCtr="0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ea"/>
                <a:ea typeface="+mj-ea"/>
              </a:defRPr>
            </a:lvl1pPr>
          </a:lstStyle>
          <a:p>
            <a:r>
              <a:rPr lang="zh-CN" altLang="en-US" dirty="0"/>
              <a:t>项目介绍</a:t>
            </a:r>
          </a:p>
        </p:txBody>
      </p:sp>
      <p:sp>
        <p:nvSpPr>
          <p:cNvPr id="2" name="标题 32"/>
          <p:cNvSpPr>
            <a:spLocks noGrp="1"/>
          </p:cNvSpPr>
          <p:nvPr>
            <p:custDataLst>
              <p:tags r:id="rId17"/>
            </p:custDataLst>
          </p:nvPr>
        </p:nvSpPr>
        <p:spPr>
          <a:xfrm>
            <a:off x="6762750" y="2539365"/>
            <a:ext cx="3072130" cy="52197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ea"/>
                <a:ea typeface="+mj-ea"/>
              </a:defRPr>
            </a:lvl1pPr>
          </a:lstStyle>
          <a:p>
            <a:r>
              <a:rPr lang="zh-CN" altLang="en-US" dirty="0"/>
              <a:t>项目亮点</a:t>
            </a:r>
          </a:p>
        </p:txBody>
      </p:sp>
      <p:sp>
        <p:nvSpPr>
          <p:cNvPr id="3" name="标题 32"/>
          <p:cNvSpPr>
            <a:spLocks noGrp="1"/>
          </p:cNvSpPr>
          <p:nvPr>
            <p:custDataLst>
              <p:tags r:id="rId18"/>
            </p:custDataLst>
          </p:nvPr>
        </p:nvSpPr>
        <p:spPr>
          <a:xfrm>
            <a:off x="6762750" y="3466465"/>
            <a:ext cx="3072130" cy="52197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ea"/>
                <a:ea typeface="+mj-ea"/>
              </a:defRPr>
            </a:lvl1pPr>
          </a:lstStyle>
          <a:p>
            <a:r>
              <a:rPr lang="zh-CN" altLang="en-US" dirty="0"/>
              <a:t>技术难点</a:t>
            </a:r>
          </a:p>
        </p:txBody>
      </p:sp>
      <p:sp>
        <p:nvSpPr>
          <p:cNvPr id="4" name="标题 32"/>
          <p:cNvSpPr>
            <a:spLocks noGrp="1"/>
          </p:cNvSpPr>
          <p:nvPr>
            <p:custDataLst>
              <p:tags r:id="rId19"/>
            </p:custDataLst>
          </p:nvPr>
        </p:nvSpPr>
        <p:spPr>
          <a:xfrm>
            <a:off x="6762750" y="4418965"/>
            <a:ext cx="3072130" cy="52197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ea"/>
                <a:ea typeface="+mj-ea"/>
              </a:defRPr>
            </a:lvl1pPr>
          </a:lstStyle>
          <a:p>
            <a:r>
              <a:rPr lang="zh-CN" altLang="en-US" dirty="0"/>
              <a:t>项目测试</a:t>
            </a:r>
          </a:p>
        </p:txBody>
      </p:sp>
      <p:sp>
        <p:nvSpPr>
          <p:cNvPr id="5" name="标题 32"/>
          <p:cNvSpPr>
            <a:spLocks noGrp="1"/>
          </p:cNvSpPr>
          <p:nvPr>
            <p:custDataLst>
              <p:tags r:id="rId20"/>
            </p:custDataLst>
          </p:nvPr>
        </p:nvSpPr>
        <p:spPr>
          <a:xfrm>
            <a:off x="6762750" y="5371465"/>
            <a:ext cx="3072130" cy="52197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ea"/>
                <a:ea typeface="+mj-ea"/>
              </a:defRPr>
            </a:lvl1pPr>
          </a:lstStyle>
          <a:p>
            <a:r>
              <a:rPr lang="zh-CN" altLang="en-US" dirty="0"/>
              <a:t>作品演示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/>
              <a:t>项目介绍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28923" y="522637"/>
            <a:ext cx="7624477" cy="491490"/>
          </a:xfrm>
          <a:prstGeom prst="rect">
            <a:avLst/>
          </a:prstGeom>
          <a:noFill/>
          <a:ln>
            <a:noFill/>
          </a:ln>
        </p:spPr>
        <p:txBody>
          <a:bodyPr wrap="none" lIns="91440" tIns="80586" rIns="0" bIns="0" anchor="t" anchorCtr="0">
            <a:noAutofit/>
          </a:bodyPr>
          <a:lstStyle/>
          <a:p>
            <a:pPr algn="l"/>
            <a:r>
              <a:rPr lang="zh-CN" sz="2600" b="1" dirty="0">
                <a:solidFill>
                  <a:srgbClr val="254FEB"/>
                </a:solidFill>
                <a:latin typeface="黑体"/>
                <a:ea typeface="Microsoft YaHei"/>
                <a:cs typeface="黑体"/>
              </a:rPr>
              <a:t>1.1 设计背景</a:t>
            </a:r>
          </a:p>
        </p:txBody>
      </p:sp>
      <p:grpSp>
        <p:nvGrpSpPr>
          <p:cNvPr id="7" name="lead"/>
          <p:cNvGrpSpPr/>
          <p:nvPr/>
        </p:nvGrpSpPr>
        <p:grpSpPr>
          <a:xfrm>
            <a:off x="606552" y="1542574"/>
            <a:ext cx="7370013" cy="484060"/>
            <a:chOff x="606552" y="1542574"/>
            <a:chExt cx="7370013" cy="484060"/>
          </a:xfrm>
        </p:grpSpPr>
        <p:sp>
          <p:nvSpPr>
            <p:cNvPr id="6" name="TextBox 6"/>
            <p:cNvSpPr txBox="1"/>
            <p:nvPr/>
          </p:nvSpPr>
          <p:spPr>
            <a:xfrm>
              <a:off x="606552" y="1542574"/>
              <a:ext cx="7370013" cy="4840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80" b="1" dirty="0">
                  <a:solidFill>
                    <a:srgbClr val="14213A"/>
                  </a:solidFill>
                  <a:latin typeface="黑体"/>
                  <a:ea typeface="Microsoft YaHei"/>
                  <a:cs typeface="黑体"/>
                </a:rPr>
                <a:t>算力异构、任务依赖、通信开销共同决定完成时间</a:t>
              </a:r>
            </a:p>
          </p:txBody>
        </p:sp>
      </p:grpSp>
      <p:grpSp>
        <p:nvGrpSpPr>
          <p:cNvPr id="10" name="pain-compute"/>
          <p:cNvGrpSpPr/>
          <p:nvPr/>
        </p:nvGrpSpPr>
        <p:grpSpPr>
          <a:xfrm>
            <a:off x="608457" y="2468880"/>
            <a:ext cx="5958078" cy="736092"/>
            <a:chOff x="608457" y="2468880"/>
            <a:chExt cx="5958078" cy="736092"/>
          </a:xfrm>
        </p:grpSpPr>
        <p:sp>
          <p:nvSpPr>
            <p:cNvPr id="8" name="TextBox 8"/>
            <p:cNvSpPr txBox="1"/>
            <p:nvPr/>
          </p:nvSpPr>
          <p:spPr>
            <a:xfrm>
              <a:off x="608457" y="2468880"/>
              <a:ext cx="595807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14213A"/>
                  </a:solidFill>
                  <a:latin typeface="黑体"/>
                  <a:ea typeface="Microsoft YaHei"/>
                  <a:cs typeface="黑体"/>
                </a:rPr>
                <a:t>算力不同：云、边、端执行能力与设备容量各异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08457" y="2794254"/>
              <a:ext cx="539267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14213A"/>
                  </a:solidFill>
                  <a:latin typeface="黑体"/>
                  <a:ea typeface="Microsoft YaHei"/>
                  <a:cs typeface="黑体"/>
                </a:rPr>
                <a:t>计算最快的节点，未必带来最短工作流时间</a:t>
              </a:r>
            </a:p>
          </p:txBody>
        </p:sp>
      </p:grpSp>
      <p:grpSp>
        <p:nvGrpSpPr>
          <p:cNvPr id="13" name="pain-dependency"/>
          <p:cNvGrpSpPr/>
          <p:nvPr/>
        </p:nvGrpSpPr>
        <p:grpSpPr>
          <a:xfrm>
            <a:off x="608457" y="3516630"/>
            <a:ext cx="5392674" cy="736092"/>
            <a:chOff x="608457" y="3516630"/>
            <a:chExt cx="5392674" cy="736092"/>
          </a:xfrm>
        </p:grpSpPr>
        <p:sp>
          <p:nvSpPr>
            <p:cNvPr id="11" name="TextBox 11"/>
            <p:cNvSpPr txBox="1"/>
            <p:nvPr/>
          </p:nvSpPr>
          <p:spPr>
            <a:xfrm>
              <a:off x="608457" y="3516630"/>
              <a:ext cx="510997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14213A"/>
                  </a:solidFill>
                  <a:latin typeface="黑体"/>
                  <a:ea typeface="Microsoft YaHei"/>
                  <a:cs typeface="黑体"/>
                </a:rPr>
                <a:t>任务相互依赖：后继需等待前驱数据到达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08457" y="3842004"/>
              <a:ext cx="539267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14213A"/>
                  </a:solidFill>
                  <a:latin typeface="黑体"/>
                  <a:ea typeface="Microsoft YaHei"/>
                  <a:cs typeface="黑体"/>
                </a:rPr>
                <a:t>跨节点传输与节点排队，都会推迟任务开始</a:t>
              </a:r>
            </a:p>
          </p:txBody>
        </p:sp>
      </p:grpSp>
      <p:grpSp>
        <p:nvGrpSpPr>
          <p:cNvPr id="16" name="pain-validation"/>
          <p:cNvGrpSpPr/>
          <p:nvPr/>
        </p:nvGrpSpPr>
        <p:grpSpPr>
          <a:xfrm>
            <a:off x="608457" y="4564380"/>
            <a:ext cx="6523482" cy="736092"/>
            <a:chOff x="608457" y="4564380"/>
            <a:chExt cx="6523482" cy="736092"/>
          </a:xfrm>
        </p:grpSpPr>
        <p:sp>
          <p:nvSpPr>
            <p:cNvPr id="14" name="TextBox 14"/>
            <p:cNvSpPr txBox="1"/>
            <p:nvPr/>
          </p:nvSpPr>
          <p:spPr>
            <a:xfrm>
              <a:off x="608457" y="4564380"/>
              <a:ext cx="652348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14213A"/>
                  </a:solidFill>
                  <a:latin typeface="黑体"/>
                  <a:ea typeface="Microsoft YaHei"/>
                  <a:cs typeface="黑体"/>
                </a:rPr>
                <a:t>效果需要复核：同一场景、同一约束、同一评分口径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08457" y="4889754"/>
              <a:ext cx="564710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14213A"/>
                  </a:solidFill>
                  <a:latin typeface="黑体"/>
                  <a:ea typeface="Microsoft YaHei"/>
                  <a:cs typeface="黑体"/>
                </a:rPr>
                <a:t>既比较 makespan，也检查合法性与推理成本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612267" y="6093142"/>
            <a:ext cx="593834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3657D"/>
                </a:solidFill>
                <a:latin typeface="黑体"/>
                <a:ea typeface="Microsoft YaHei"/>
                <a:cs typeface="黑体"/>
              </a:rPr>
              <a:t>场景：离线工作流调度仿真；目标指标：makespan（工作流总完成时间）</a:t>
            </a:r>
          </a:p>
        </p:txBody>
      </p:sp>
      <p:pic>
        <p:nvPicPr>
          <p:cNvPr id="19" name="Imag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0" y="2428875"/>
            <a:ext cx="3962400" cy="26415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28923" y="522637"/>
            <a:ext cx="7624477" cy="491490"/>
          </a:xfrm>
          <a:prstGeom prst="rect">
            <a:avLst/>
          </a:prstGeom>
          <a:noFill/>
          <a:ln>
            <a:noFill/>
          </a:ln>
        </p:spPr>
        <p:txBody>
          <a:bodyPr wrap="none" lIns="91440" tIns="80586" rIns="0" bIns="0" anchor="t" anchorCtr="0">
            <a:noAutofit/>
          </a:bodyPr>
          <a:lstStyle/>
          <a:p>
            <a:pPr algn="l"/>
            <a:r>
              <a:rPr lang="zh-CN" sz="2600" b="1" dirty="0">
                <a:solidFill>
                  <a:srgbClr val="254FEB"/>
                </a:solidFill>
                <a:latin typeface="黑体"/>
                <a:ea typeface="Microsoft YaHei"/>
                <a:cs typeface="黑体"/>
              </a:rPr>
              <a:t>1.2 设计目标</a:t>
            </a:r>
          </a:p>
        </p:txBody>
      </p:sp>
      <p:grpSp>
        <p:nvGrpSpPr>
          <p:cNvPr id="7" name="goal"/>
          <p:cNvGrpSpPr/>
          <p:nvPr/>
        </p:nvGrpSpPr>
        <p:grpSpPr>
          <a:xfrm>
            <a:off x="606171" y="1572578"/>
            <a:ext cx="6598023" cy="498729"/>
            <a:chOff x="606171" y="1572578"/>
            <a:chExt cx="6598023" cy="498729"/>
          </a:xfrm>
        </p:grpSpPr>
        <p:sp>
          <p:nvSpPr>
            <p:cNvPr id="6" name="TextBox 6"/>
            <p:cNvSpPr txBox="1"/>
            <p:nvPr/>
          </p:nvSpPr>
          <p:spPr>
            <a:xfrm>
              <a:off x="606171" y="1572578"/>
              <a:ext cx="65980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4213A"/>
                  </a:solidFill>
                  <a:latin typeface="黑体"/>
                  <a:ea typeface="Microsoft YaHei"/>
                  <a:cs typeface="黑体"/>
                </a:rPr>
                <a:t>目标：在依赖与资源约束下缩短 makespan</a:t>
              </a:r>
            </a:p>
          </p:txBody>
        </p:sp>
      </p:grpSp>
      <p:grpSp>
        <p:nvGrpSpPr>
          <p:cNvPr id="8" name="academic-schematic"/>
          <p:cNvGrpSpPr/>
          <p:nvPr/>
        </p:nvGrpSpPr>
        <p:grpSpPr>
          <a:xfrm>
            <a:off x="1211767" y="2266950"/>
            <a:ext cx="9768466" cy="3571875"/>
            <a:chOff x="1211767" y="2266950"/>
            <a:chExt cx="9768466" cy="3571875"/>
          </a:xfrm>
        </p:grpSpPr>
        <p:pic>
          <p:nvPicPr>
            <p:cNvPr id="36" name="Imag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11767" y="2266950"/>
              <a:ext cx="9768466" cy="357187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28923" y="522637"/>
            <a:ext cx="7624477" cy="491490"/>
          </a:xfrm>
          <a:prstGeom prst="rect">
            <a:avLst/>
          </a:prstGeom>
          <a:noFill/>
          <a:ln>
            <a:noFill/>
          </a:ln>
        </p:spPr>
        <p:txBody>
          <a:bodyPr wrap="none" lIns="91440" tIns="80586" rIns="0" bIns="0" anchor="t" anchorCtr="0">
            <a:noAutofit/>
          </a:bodyPr>
          <a:lstStyle/>
          <a:p>
            <a:pPr algn="l"/>
            <a:r>
              <a:rPr lang="zh-CN" sz="2600" b="1" dirty="0">
                <a:solidFill>
                  <a:srgbClr val="254FEB"/>
                </a:solidFill>
                <a:latin typeface="黑体"/>
                <a:ea typeface="Microsoft YaHei"/>
                <a:cs typeface="黑体"/>
              </a:rPr>
              <a:t>1.3 较同类产品的优势</a:t>
            </a:r>
          </a:p>
        </p:txBody>
      </p:sp>
      <p:grpSp>
        <p:nvGrpSpPr>
          <p:cNvPr id="7" name="comparison-intro"/>
          <p:cNvGrpSpPr/>
          <p:nvPr/>
        </p:nvGrpSpPr>
        <p:grpSpPr>
          <a:xfrm>
            <a:off x="606933" y="1531620"/>
            <a:ext cx="6646469" cy="469392"/>
            <a:chOff x="606933" y="1531620"/>
            <a:chExt cx="6646469" cy="469392"/>
          </a:xfrm>
        </p:grpSpPr>
        <p:sp>
          <p:nvSpPr>
            <p:cNvPr id="6" name="TextBox 6"/>
            <p:cNvSpPr txBox="1"/>
            <p:nvPr/>
          </p:nvSpPr>
          <p:spPr>
            <a:xfrm>
              <a:off x="606933" y="1531620"/>
              <a:ext cx="664646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4213A"/>
                  </a:solidFill>
                  <a:latin typeface="黑体"/>
                  <a:ea typeface="Microsoft YaHei"/>
                  <a:cs typeface="黑体"/>
                </a:rPr>
                <a:t>以已有算法为基础，补齐 DAG 适配与结果复核</a:t>
              </a:r>
            </a:p>
          </p:txBody>
        </p:sp>
      </p:grpSp>
      <p:graphicFrame>
        <p:nvGraphicFramePr>
          <p:cNvPr id="8" name="prior-work"/>
          <p:cNvGraphicFramePr>
            <a:graphicFrameLocks noGrp="1"/>
          </p:cNvGraphicFramePr>
          <p:nvPr/>
        </p:nvGraphicFramePr>
        <p:xfrm>
          <a:off x="619125" y="2238375"/>
          <a:ext cx="10858500" cy="3143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5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85813">
                <a:tc>
                  <a:txBody>
                    <a:bodyPr/>
                    <a:lstStyle/>
                    <a:p>
                      <a:r>
                        <a:rPr lang="zh-CN" sz="1880" b="1">
                          <a:solidFill>
                            <a:srgbClr val="FFFFFF"/>
                          </a:solidFill>
                          <a:latin typeface="黑体"/>
                          <a:ea typeface="Microsoft YaHei"/>
                          <a:cs typeface="黑体"/>
                        </a:rPr>
                        <a:t>对比对象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254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880" b="1">
                          <a:solidFill>
                            <a:srgbClr val="FFFFFF"/>
                          </a:solidFill>
                          <a:latin typeface="黑体"/>
                          <a:ea typeface="Microsoft YaHei"/>
                          <a:cs typeface="黑体"/>
                        </a:rPr>
                        <a:t>已有能力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254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880" b="1">
                          <a:solidFill>
                            <a:srgbClr val="FFFFFF"/>
                          </a:solidFill>
                          <a:latin typeface="黑体"/>
                          <a:ea typeface="Microsoft YaHei"/>
                          <a:cs typeface="黑体"/>
                        </a:rPr>
                        <a:t>本项目增加的能力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254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5813">
                <a:tc>
                  <a:txBody>
                    <a:bodyPr/>
                    <a:lstStyle/>
                    <a:p>
                      <a:r>
                        <a:rPr lang="en-US" sz="1880" b="1">
                          <a:solidFill>
                            <a:srgbClr val="14213A"/>
                          </a:solidFill>
                          <a:latin typeface="黑体"/>
                          <a:ea typeface="Microsoft YaHei"/>
                          <a:cs typeface="黑体"/>
                        </a:rPr>
                        <a:t>CPN-HRL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880" b="0" dirty="0">
                          <a:solidFill>
                            <a:srgbClr val="14213A"/>
                          </a:solidFill>
                          <a:latin typeface="黑体"/>
                          <a:ea typeface="Microsoft YaHei"/>
                          <a:cs typeface="黑体"/>
                        </a:rPr>
                        <a:t>LSTM-PPO 排序
GAT-PPO 分配；分阶段训练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880" b="0">
                          <a:solidFill>
                            <a:srgbClr val="14213A"/>
                          </a:solidFill>
                          <a:latin typeface="黑体"/>
                          <a:ea typeface="Microsoft YaHei"/>
                          <a:cs typeface="黑体"/>
                        </a:rPr>
                        <a:t>离线 DAG 就绪/可行动作
数据到达与插入时间线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5812">
                <a:tc>
                  <a:txBody>
                    <a:bodyPr/>
                    <a:lstStyle/>
                    <a:p>
                      <a:r>
                        <a:rPr lang="en-US" sz="1880" b="1">
                          <a:solidFill>
                            <a:srgbClr val="14213A"/>
                          </a:solidFill>
                          <a:latin typeface="黑体"/>
                          <a:ea typeface="Microsoft YaHei"/>
                          <a:cs typeface="黑体"/>
                        </a:rPr>
                        <a:t>HEFT / PEFT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880" b="0" dirty="0">
                          <a:solidFill>
                            <a:srgbClr val="14213A"/>
                          </a:solidFill>
                          <a:latin typeface="黑体"/>
                          <a:ea typeface="Microsoft YaHei"/>
                          <a:cs typeface="黑体"/>
                        </a:rPr>
                        <a:t>优先级排序与 EFT 插入
乐观代价估计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880" b="0">
                          <a:solidFill>
                            <a:srgbClr val="14213A"/>
                          </a:solidFill>
                          <a:latin typeface="黑体"/>
                          <a:ea typeface="Microsoft YaHei"/>
                          <a:cs typeface="黑体"/>
                        </a:rPr>
                        <a:t>实际关键链与任务块搜索
状态克隆与前缀复用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5812">
                <a:tc>
                  <a:txBody>
                    <a:bodyPr/>
                    <a:lstStyle/>
                    <a:p>
                      <a:r>
                        <a:rPr lang="zh-CN" sz="1880" b="1">
                          <a:solidFill>
                            <a:srgbClr val="14213A"/>
                          </a:solidFill>
                          <a:latin typeface="黑体"/>
                          <a:ea typeface="Microsoft YaHei"/>
                          <a:cs typeface="黑体"/>
                        </a:rPr>
                        <a:t>单一候选策略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880" b="0" dirty="0">
                          <a:solidFill>
                            <a:srgbClr val="14213A"/>
                          </a:solidFill>
                          <a:latin typeface="黑体"/>
                          <a:ea typeface="Microsoft YaHei"/>
                          <a:cs typeface="黑体"/>
                        </a:rPr>
                        <a:t>生成一个完整调度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880" b="0" dirty="0">
                          <a:solidFill>
                            <a:srgbClr val="14213A"/>
                          </a:solidFill>
                          <a:latin typeface="黑体"/>
                          <a:ea typeface="Microsoft YaHei"/>
                          <a:cs typeface="黑体"/>
                        </a:rPr>
                        <a:t>独立生成多个完整候选
统一校验、择优、重放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9"/>
          <p:cNvSpPr txBox="1"/>
          <p:nvPr/>
        </p:nvSpPr>
        <p:spPr>
          <a:xfrm>
            <a:off x="612267" y="6093142"/>
            <a:ext cx="564756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3657D"/>
                </a:solidFill>
                <a:latin typeface="黑体"/>
                <a:ea typeface="Microsoft YaHei"/>
                <a:cs typeface="黑体"/>
              </a:rPr>
              <a:t>比较的是实现机制与可复核能力；性能优势以同一仿真场景的实测为准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28923" y="522637"/>
            <a:ext cx="7624477" cy="491490"/>
          </a:xfrm>
          <a:prstGeom prst="rect">
            <a:avLst/>
          </a:prstGeom>
          <a:noFill/>
          <a:ln>
            <a:noFill/>
          </a:ln>
        </p:spPr>
        <p:txBody>
          <a:bodyPr wrap="none" lIns="91440" tIns="80586" rIns="0" bIns="0" anchor="t" anchorCtr="0">
            <a:noAutofit/>
          </a:bodyPr>
          <a:lstStyle/>
          <a:p>
            <a:pPr algn="l"/>
            <a:r>
              <a:rPr lang="zh-CN" sz="2600" b="1" dirty="0">
                <a:solidFill>
                  <a:srgbClr val="254FEB"/>
                </a:solidFill>
                <a:latin typeface="黑体"/>
                <a:ea typeface="Microsoft YaHei"/>
                <a:cs typeface="黑体"/>
              </a:rPr>
              <a:t>1.4 作品原创性情况说明</a:t>
            </a:r>
          </a:p>
        </p:txBody>
      </p:sp>
      <p:grpSp>
        <p:nvGrpSpPr>
          <p:cNvPr id="7" name="originality"/>
          <p:cNvGrpSpPr/>
          <p:nvPr/>
        </p:nvGrpSpPr>
        <p:grpSpPr>
          <a:xfrm>
            <a:off x="606552" y="1552099"/>
            <a:ext cx="5395708" cy="381643"/>
            <a:chOff x="606552" y="1552099"/>
            <a:chExt cx="5395708" cy="381643"/>
          </a:xfrm>
        </p:grpSpPr>
        <p:sp>
          <p:nvSpPr>
            <p:cNvPr id="6" name="TextBox 6"/>
            <p:cNvSpPr txBox="1"/>
            <p:nvPr/>
          </p:nvSpPr>
          <p:spPr>
            <a:xfrm>
              <a:off x="606552" y="1552099"/>
              <a:ext cx="5395708" cy="38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80" b="1" dirty="0">
                  <a:solidFill>
                    <a:srgbClr val="14213A"/>
                  </a:solidFill>
                  <a:latin typeface="黑体"/>
                  <a:ea typeface="Microsoft YaHei"/>
                  <a:cs typeface="黑体"/>
                </a:rPr>
                <a:t>主要创新为两项：任务适配与机制集成</a:t>
              </a:r>
            </a:p>
          </p:txBody>
        </p:sp>
      </p:grpSp>
      <p:grpSp>
        <p:nvGrpSpPr>
          <p:cNvPr id="16" name="innovation-65"/>
          <p:cNvGrpSpPr/>
          <p:nvPr/>
        </p:nvGrpSpPr>
        <p:grpSpPr>
          <a:xfrm>
            <a:off x="607695" y="2395538"/>
            <a:ext cx="4414021" cy="3650932"/>
            <a:chOff x="607695" y="2395538"/>
            <a:chExt cx="4414021" cy="3650932"/>
          </a:xfrm>
        </p:grpSpPr>
        <p:sp>
          <p:nvSpPr>
            <p:cNvPr id="5" name="TextBox 5"/>
            <p:cNvSpPr txBox="1"/>
            <p:nvPr/>
          </p:nvSpPr>
          <p:spPr>
            <a:xfrm>
              <a:off x="607695" y="2395538"/>
              <a:ext cx="375611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54FEB"/>
                  </a:solidFill>
                  <a:latin typeface="Arial"/>
                  <a:ea typeface="Microsoft YaHei"/>
                  <a:cs typeface="Arial"/>
                </a:rPr>
                <a:t>01 离线 DAG 分层调度适配</a:t>
              </a:r>
            </a:p>
          </p:txBody>
        </p:sp>
        <p:sp>
          <p:nvSpPr>
            <p:cNvPr id="29" name="TextBox 6"/>
            <p:cNvSpPr txBox="1"/>
            <p:nvPr/>
          </p:nvSpPr>
          <p:spPr>
            <a:xfrm>
              <a:off x="610743" y="29270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3657D"/>
                  </a:solidFill>
                  <a:latin typeface="Arial"/>
                  <a:ea typeface="Microsoft YaHei"/>
                  <a:cs typeface="Arial"/>
                </a:rPr>
                <a:t>已有基础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09219" y="3247072"/>
              <a:ext cx="441249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CPN-HRL：LSTM-PPO / GAT-PPO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09219" y="3589972"/>
              <a:ext cx="264490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两层决策与分阶段训练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10743" y="4060508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54FEB"/>
                  </a:solidFill>
                  <a:latin typeface="Arial"/>
                  <a:ea typeface="Microsoft YaHei"/>
                  <a:cs typeface="Arial"/>
                </a:rPr>
                <a:t>本项目新增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9219" y="4371022"/>
              <a:ext cx="2907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依赖动作与插入式时间线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09219" y="4713922"/>
              <a:ext cx="369493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启发式有界残差与显式阶段语义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10743" y="51558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3657D"/>
                  </a:solidFill>
                  <a:latin typeface="Arial"/>
                  <a:ea typeface="Microsoft YaHei"/>
                  <a:cs typeface="Arial"/>
                </a:rPr>
                <a:t>实现与验证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11505" y="5486400"/>
              <a:ext cx="24961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53657D"/>
                  </a:solidFill>
                  <a:latin typeface="Arial"/>
                  <a:ea typeface="Arial"/>
                  <a:cs typeface="Arial"/>
                </a:rPr>
                <a:t>dag_env.py / hrl.py / ppo.py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11505" y="5753100"/>
              <a:ext cx="334874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53657D"/>
                  </a:solidFill>
                  <a:latin typeface="Arial"/>
                  <a:ea typeface="Arial"/>
                  <a:cs typeface="Arial"/>
                </a:rPr>
                <a:t>test_simulator.py / test_ppo_mask.py</a:t>
              </a:r>
            </a:p>
          </p:txBody>
        </p:sp>
      </p:grpSp>
      <p:grpSp>
        <p:nvGrpSpPr>
          <p:cNvPr id="28" name="innovation-650"/>
          <p:cNvGrpSpPr/>
          <p:nvPr/>
        </p:nvGrpSpPr>
        <p:grpSpPr>
          <a:xfrm>
            <a:off x="6179820" y="2395538"/>
            <a:ext cx="3696462" cy="3870007"/>
            <a:chOff x="6179820" y="2395538"/>
            <a:chExt cx="3696462" cy="3870007"/>
          </a:xfrm>
        </p:grpSpPr>
        <p:sp>
          <p:nvSpPr>
            <p:cNvPr id="17" name="TextBox 17"/>
            <p:cNvSpPr txBox="1"/>
            <p:nvPr/>
          </p:nvSpPr>
          <p:spPr>
            <a:xfrm>
              <a:off x="6179820" y="2395538"/>
              <a:ext cx="317000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54FEB"/>
                  </a:solidFill>
                  <a:latin typeface="Arial"/>
                  <a:ea typeface="Microsoft YaHei"/>
                  <a:cs typeface="Arial"/>
                </a:rPr>
                <a:t>02 独立候选搜索与校验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182868" y="29270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3657D"/>
                  </a:solidFill>
                  <a:latin typeface="Arial"/>
                  <a:ea typeface="Microsoft YaHei"/>
                  <a:cs typeface="Arial"/>
                </a:rPr>
                <a:t>已有基础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181344" y="3247072"/>
              <a:ext cx="273400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HEFT / PEFT、束搜索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181344" y="3589972"/>
              <a:ext cx="2907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优先级排序与启发式调度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182868" y="4060508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54FEB"/>
                  </a:solidFill>
                  <a:latin typeface="Arial"/>
                  <a:ea typeface="Microsoft YaHei"/>
                  <a:cs typeface="Arial"/>
                </a:rPr>
                <a:t>本项目新增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181344" y="4371022"/>
              <a:ext cx="2907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实际关键链与任务块搜索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181344" y="4713922"/>
              <a:ext cx="369493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状态复用、独立候选与完整校验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182868" y="51558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3657D"/>
                  </a:solidFill>
                  <a:latin typeface="Arial"/>
                  <a:ea typeface="Microsoft YaHei"/>
                  <a:cs typeface="Arial"/>
                </a:rPr>
                <a:t>实现与验证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183630" y="5486400"/>
              <a:ext cx="199072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53657D"/>
                  </a:solidFill>
                  <a:latin typeface="Arial"/>
                  <a:ea typeface="Arial"/>
                  <a:cs typeface="Arial"/>
                </a:rPr>
                <a:t>portfolio.py / hybrid.py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183630" y="5753100"/>
              <a:ext cx="23166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53657D"/>
                  </a:solidFill>
                  <a:latin typeface="Arial"/>
                  <a:ea typeface="Arial"/>
                  <a:cs typeface="Arial"/>
                </a:rPr>
                <a:t>test_advanced_search.py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183630" y="5972175"/>
              <a:ext cx="24965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53657D"/>
                  </a:solidFill>
                  <a:latin typeface="Arial"/>
                  <a:ea typeface="Arial"/>
                  <a:cs typeface="Arial"/>
                </a:rPr>
                <a:t>test_independent_hybrid.py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28923" y="522637"/>
            <a:ext cx="7624477" cy="491490"/>
          </a:xfrm>
          <a:prstGeom prst="rect">
            <a:avLst/>
          </a:prstGeom>
          <a:noFill/>
          <a:ln>
            <a:noFill/>
          </a:ln>
        </p:spPr>
        <p:txBody>
          <a:bodyPr wrap="none" lIns="91440" tIns="80586" rIns="0" bIns="0" anchor="t" anchorCtr="0">
            <a:noAutofit/>
          </a:bodyPr>
          <a:lstStyle/>
          <a:p>
            <a:pPr algn="l"/>
            <a:r>
              <a:rPr lang="zh-CN" sz="2600" b="1" dirty="0">
                <a:solidFill>
                  <a:srgbClr val="254FEB"/>
                </a:solidFill>
                <a:latin typeface="黑体"/>
                <a:ea typeface="Microsoft YaHei"/>
                <a:cs typeface="黑体"/>
              </a:rPr>
              <a:t>1.5 应用场景与问题范围</a:t>
            </a:r>
          </a:p>
        </p:txBody>
      </p:sp>
      <p:grpSp>
        <p:nvGrpSpPr>
          <p:cNvPr id="5" name="applications-text-0"/>
          <p:cNvGrpSpPr/>
          <p:nvPr/>
        </p:nvGrpSpPr>
        <p:grpSpPr>
          <a:xfrm>
            <a:off x="607314" y="1501616"/>
            <a:ext cx="6582308" cy="454724"/>
            <a:chOff x="607314" y="1501616"/>
            <a:chExt cx="6582308" cy="454724"/>
          </a:xfrm>
        </p:grpSpPr>
        <p:sp>
          <p:nvSpPr>
            <p:cNvPr id="4" name="TextBox 4"/>
            <p:cNvSpPr txBox="1"/>
            <p:nvPr/>
          </p:nvSpPr>
          <p:spPr>
            <a:xfrm>
              <a:off x="607314" y="1501616"/>
              <a:ext cx="6582308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320" b="1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离线规划完整工作流，比较任务放置与节点分配</a:t>
              </a:r>
            </a:p>
          </p:txBody>
        </p:sp>
      </p:grpSp>
      <p:grpSp>
        <p:nvGrpSpPr>
          <p:cNvPr id="7" name="applications-text-1"/>
          <p:cNvGrpSpPr/>
          <p:nvPr/>
        </p:nvGrpSpPr>
        <p:grpSpPr>
          <a:xfrm>
            <a:off x="607695" y="2262188"/>
            <a:ext cx="1840230" cy="440055"/>
            <a:chOff x="607695" y="2262188"/>
            <a:chExt cx="1840230" cy="440055"/>
          </a:xfrm>
        </p:grpSpPr>
        <p:sp>
          <p:nvSpPr>
            <p:cNvPr id="6" name="TextBox 6"/>
            <p:cNvSpPr txBox="1"/>
            <p:nvPr/>
          </p:nvSpPr>
          <p:spPr>
            <a:xfrm>
              <a:off x="607695" y="2262188"/>
              <a:ext cx="184023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54FEB"/>
                  </a:solidFill>
                  <a:latin typeface="Arial"/>
                  <a:ea typeface="Microsoft YaHei"/>
                  <a:cs typeface="Arial"/>
                </a:rPr>
                <a:t>当前项目支持</a:t>
              </a:r>
            </a:p>
          </p:txBody>
        </p:sp>
      </p:grpSp>
      <p:grpSp>
        <p:nvGrpSpPr>
          <p:cNvPr id="9" name="applications-text-2"/>
          <p:cNvGrpSpPr/>
          <p:nvPr/>
        </p:nvGrpSpPr>
        <p:grpSpPr>
          <a:xfrm>
            <a:off x="609219" y="2789872"/>
            <a:ext cx="4635556" cy="381381"/>
            <a:chOff x="609219" y="2789872"/>
            <a:chExt cx="4635556" cy="381381"/>
          </a:xfrm>
        </p:grpSpPr>
        <p:sp>
          <p:nvSpPr>
            <p:cNvPr id="8" name="TextBox 8"/>
            <p:cNvSpPr txBox="1"/>
            <p:nvPr/>
          </p:nvSpPr>
          <p:spPr>
            <a:xfrm>
              <a:off x="609219" y="2789872"/>
              <a:ext cx="463555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输入：任务 DAG、执行代价与通信配置</a:t>
              </a:r>
            </a:p>
          </p:txBody>
        </p:sp>
      </p:grpSp>
      <p:grpSp>
        <p:nvGrpSpPr>
          <p:cNvPr id="11" name="applications-text-3"/>
          <p:cNvGrpSpPr/>
          <p:nvPr/>
        </p:nvGrpSpPr>
        <p:grpSpPr>
          <a:xfrm>
            <a:off x="609219" y="3189922"/>
            <a:ext cx="4219956" cy="381381"/>
            <a:chOff x="609219" y="3189922"/>
            <a:chExt cx="4219956" cy="381381"/>
          </a:xfrm>
        </p:grpSpPr>
        <p:sp>
          <p:nvSpPr>
            <p:cNvPr id="10" name="TextBox 10"/>
            <p:cNvSpPr txBox="1"/>
            <p:nvPr/>
          </p:nvSpPr>
          <p:spPr>
            <a:xfrm>
              <a:off x="609219" y="3189922"/>
              <a:ext cx="421995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约束：前驱数据到达、节点可用区间</a:t>
              </a:r>
            </a:p>
          </p:txBody>
        </p:sp>
      </p:grpSp>
      <p:grpSp>
        <p:nvGrpSpPr>
          <p:cNvPr id="13" name="applications-text-4"/>
          <p:cNvGrpSpPr/>
          <p:nvPr/>
        </p:nvGrpSpPr>
        <p:grpSpPr>
          <a:xfrm>
            <a:off x="609219" y="3589972"/>
            <a:ext cx="5080408" cy="381381"/>
            <a:chOff x="609219" y="3589972"/>
            <a:chExt cx="5080408" cy="381381"/>
          </a:xfrm>
        </p:grpSpPr>
        <p:sp>
          <p:nvSpPr>
            <p:cNvPr id="12" name="TextBox 12"/>
            <p:cNvSpPr txBox="1"/>
            <p:nvPr/>
          </p:nvSpPr>
          <p:spPr>
            <a:xfrm>
              <a:off x="609219" y="3589972"/>
              <a:ext cx="508040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输出：节点分配、开始/结束时间及校验结果</a:t>
              </a:r>
            </a:p>
          </p:txBody>
        </p:sp>
      </p:grpSp>
      <p:grpSp>
        <p:nvGrpSpPr>
          <p:cNvPr id="15" name="applications-text-5"/>
          <p:cNvGrpSpPr/>
          <p:nvPr/>
        </p:nvGrpSpPr>
        <p:grpSpPr>
          <a:xfrm>
            <a:off x="608457" y="4259580"/>
            <a:ext cx="3979164" cy="410718"/>
            <a:chOff x="608457" y="4259580"/>
            <a:chExt cx="3979164" cy="410718"/>
          </a:xfrm>
        </p:grpSpPr>
        <p:sp>
          <p:nvSpPr>
            <p:cNvPr id="14" name="TextBox 14"/>
            <p:cNvSpPr txBox="1"/>
            <p:nvPr/>
          </p:nvSpPr>
          <p:spPr>
            <a:xfrm>
              <a:off x="608457" y="4259580"/>
              <a:ext cx="39791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54FEB"/>
                  </a:solidFill>
                  <a:latin typeface="Arial"/>
                  <a:ea typeface="Microsoft YaHei"/>
                  <a:cs typeface="Arial"/>
                </a:rPr>
                <a:t>适合在执行前比较多个调度方案</a:t>
              </a:r>
            </a:p>
          </p:txBody>
        </p:sp>
      </p:grpSp>
      <p:grpSp>
        <p:nvGrpSpPr>
          <p:cNvPr id="17" name="applications-text-6"/>
          <p:cNvGrpSpPr/>
          <p:nvPr/>
        </p:nvGrpSpPr>
        <p:grpSpPr>
          <a:xfrm>
            <a:off x="609219" y="4704398"/>
            <a:ext cx="4744974" cy="381381"/>
            <a:chOff x="609219" y="4704398"/>
            <a:chExt cx="4744974" cy="381381"/>
          </a:xfrm>
        </p:grpSpPr>
        <p:sp>
          <p:nvSpPr>
            <p:cNvPr id="16" name="TextBox 16"/>
            <p:cNvSpPr txBox="1"/>
            <p:nvPr/>
          </p:nvSpPr>
          <p:spPr>
            <a:xfrm>
              <a:off x="609219" y="4704398"/>
              <a:ext cx="474497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同一场景复用约束与评分，定位等待来源</a:t>
              </a:r>
            </a:p>
          </p:txBody>
        </p:sp>
      </p:grpSp>
      <p:grpSp>
        <p:nvGrpSpPr>
          <p:cNvPr id="19" name="applications-text-7"/>
          <p:cNvGrpSpPr/>
          <p:nvPr/>
        </p:nvGrpSpPr>
        <p:grpSpPr>
          <a:xfrm>
            <a:off x="609219" y="5104448"/>
            <a:ext cx="4588784" cy="381381"/>
            <a:chOff x="609219" y="5104448"/>
            <a:chExt cx="4588784" cy="381381"/>
          </a:xfrm>
        </p:grpSpPr>
        <p:sp>
          <p:nvSpPr>
            <p:cNvPr id="18" name="TextBox 18"/>
            <p:cNvSpPr txBox="1"/>
            <p:nvPr/>
          </p:nvSpPr>
          <p:spPr>
            <a:xfrm>
              <a:off x="609219" y="5104448"/>
              <a:ext cx="45887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保留 JSON 与来源记录，支持结果复核</a:t>
              </a:r>
            </a:p>
          </p:txBody>
        </p:sp>
      </p:grpSp>
      <p:grpSp>
        <p:nvGrpSpPr>
          <p:cNvPr id="21" name="applications-text-8"/>
          <p:cNvGrpSpPr/>
          <p:nvPr/>
        </p:nvGrpSpPr>
        <p:grpSpPr>
          <a:xfrm>
            <a:off x="6179820" y="2262188"/>
            <a:ext cx="1840230" cy="440055"/>
            <a:chOff x="6179820" y="2262188"/>
            <a:chExt cx="1840230" cy="440055"/>
          </a:xfrm>
        </p:grpSpPr>
        <p:sp>
          <p:nvSpPr>
            <p:cNvPr id="20" name="TextBox 20"/>
            <p:cNvSpPr txBox="1"/>
            <p:nvPr/>
          </p:nvSpPr>
          <p:spPr>
            <a:xfrm>
              <a:off x="6179820" y="2262188"/>
              <a:ext cx="184023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54FEB"/>
                  </a:solidFill>
                  <a:latin typeface="Arial"/>
                  <a:ea typeface="Microsoft YaHei"/>
                  <a:cs typeface="Arial"/>
                </a:rPr>
                <a:t>潜在应用示例</a:t>
              </a:r>
            </a:p>
          </p:txBody>
        </p:sp>
      </p:grpSp>
      <p:grpSp>
        <p:nvGrpSpPr>
          <p:cNvPr id="23" name="applications-text-9"/>
          <p:cNvGrpSpPr/>
          <p:nvPr/>
        </p:nvGrpSpPr>
        <p:grpSpPr>
          <a:xfrm>
            <a:off x="6181344" y="2789872"/>
            <a:ext cx="4482465" cy="381381"/>
            <a:chOff x="6181344" y="2789872"/>
            <a:chExt cx="4482465" cy="381381"/>
          </a:xfrm>
        </p:grpSpPr>
        <p:sp>
          <p:nvSpPr>
            <p:cNvPr id="22" name="TextBox 22"/>
            <p:cNvSpPr txBox="1"/>
            <p:nvPr/>
          </p:nvSpPr>
          <p:spPr>
            <a:xfrm>
              <a:off x="6181344" y="2789872"/>
              <a:ext cx="448246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视频处理：解码、特征提取与结果汇总</a:t>
              </a:r>
            </a:p>
          </p:txBody>
        </p:sp>
      </p:grpSp>
      <p:grpSp>
        <p:nvGrpSpPr>
          <p:cNvPr id="25" name="applications-text-10"/>
          <p:cNvGrpSpPr/>
          <p:nvPr/>
        </p:nvGrpSpPr>
        <p:grpSpPr>
          <a:xfrm>
            <a:off x="6181344" y="3189922"/>
            <a:ext cx="4219956" cy="381381"/>
            <a:chOff x="6181344" y="3189922"/>
            <a:chExt cx="4219956" cy="381381"/>
          </a:xfrm>
        </p:grpSpPr>
        <p:sp>
          <p:nvSpPr>
            <p:cNvPr id="24" name="TextBox 24"/>
            <p:cNvSpPr txBox="1"/>
            <p:nvPr/>
          </p:nvSpPr>
          <p:spPr>
            <a:xfrm>
              <a:off x="6181344" y="3189922"/>
              <a:ext cx="421995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数据分析：预处理、并行计算与聚合</a:t>
              </a:r>
            </a:p>
          </p:txBody>
        </p:sp>
      </p:grpSp>
      <p:grpSp>
        <p:nvGrpSpPr>
          <p:cNvPr id="27" name="applications-text-11"/>
          <p:cNvGrpSpPr/>
          <p:nvPr/>
        </p:nvGrpSpPr>
        <p:grpSpPr>
          <a:xfrm>
            <a:off x="6181344" y="3589972"/>
            <a:ext cx="4635556" cy="381381"/>
            <a:chOff x="6181344" y="3589972"/>
            <a:chExt cx="4635556" cy="381381"/>
          </a:xfrm>
        </p:grpSpPr>
        <p:sp>
          <p:nvSpPr>
            <p:cNvPr id="26" name="TextBox 26"/>
            <p:cNvSpPr txBox="1"/>
            <p:nvPr/>
          </p:nvSpPr>
          <p:spPr>
            <a:xfrm>
              <a:off x="6181344" y="3589972"/>
              <a:ext cx="463555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以上流程可抽象为存在前后依赖的 DAG</a:t>
              </a:r>
            </a:p>
          </p:txBody>
        </p:sp>
      </p:grpSp>
      <p:grpSp>
        <p:nvGrpSpPr>
          <p:cNvPr id="29" name="applications-text-12"/>
          <p:cNvGrpSpPr/>
          <p:nvPr/>
        </p:nvGrpSpPr>
        <p:grpSpPr>
          <a:xfrm>
            <a:off x="6180582" y="4259580"/>
            <a:ext cx="2000250" cy="410718"/>
            <a:chOff x="6180582" y="4259580"/>
            <a:chExt cx="2000250" cy="410718"/>
          </a:xfrm>
        </p:grpSpPr>
        <p:sp>
          <p:nvSpPr>
            <p:cNvPr id="28" name="TextBox 28"/>
            <p:cNvSpPr txBox="1"/>
            <p:nvPr/>
          </p:nvSpPr>
          <p:spPr>
            <a:xfrm>
              <a:off x="6180582" y="4259580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54FEB"/>
                  </a:solidFill>
                  <a:latin typeface="Arial"/>
                  <a:ea typeface="Microsoft YaHei"/>
                  <a:cs typeface="Arial"/>
                </a:rPr>
                <a:t>现阶段实施范围</a:t>
              </a:r>
            </a:p>
          </p:txBody>
        </p:sp>
      </p:grpSp>
      <p:grpSp>
        <p:nvGrpSpPr>
          <p:cNvPr id="31" name="applications-text-13"/>
          <p:cNvGrpSpPr/>
          <p:nvPr/>
        </p:nvGrpSpPr>
        <p:grpSpPr>
          <a:xfrm>
            <a:off x="6181344" y="4704398"/>
            <a:ext cx="3169920" cy="381381"/>
            <a:chOff x="6181344" y="4704398"/>
            <a:chExt cx="3169920" cy="381381"/>
          </a:xfrm>
        </p:grpSpPr>
        <p:sp>
          <p:nvSpPr>
            <p:cNvPr id="30" name="TextBox 30"/>
            <p:cNvSpPr txBox="1"/>
            <p:nvPr/>
          </p:nvSpPr>
          <p:spPr>
            <a:xfrm>
              <a:off x="6181344" y="4704398"/>
              <a:ext cx="31699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已实现离线仿真与调度回放</a:t>
              </a:r>
            </a:p>
          </p:txBody>
        </p:sp>
      </p:grpSp>
      <p:grpSp>
        <p:nvGrpSpPr>
          <p:cNvPr id="33" name="applications-text-14"/>
          <p:cNvGrpSpPr/>
          <p:nvPr/>
        </p:nvGrpSpPr>
        <p:grpSpPr>
          <a:xfrm>
            <a:off x="6181344" y="5104448"/>
            <a:ext cx="4482465" cy="381381"/>
            <a:chOff x="6181344" y="5104448"/>
            <a:chExt cx="4482465" cy="381381"/>
          </a:xfrm>
        </p:grpSpPr>
        <p:sp>
          <p:nvSpPr>
            <p:cNvPr id="32" name="TextBox 32"/>
            <p:cNvSpPr txBox="1"/>
            <p:nvPr/>
          </p:nvSpPr>
          <p:spPr>
            <a:xfrm>
              <a:off x="6181344" y="5104448"/>
              <a:ext cx="448246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真实多机执行和动态任务到达留待验证</a:t>
              </a:r>
            </a:p>
          </p:txBody>
        </p:sp>
      </p:grpSp>
      <p:grpSp>
        <p:nvGrpSpPr>
          <p:cNvPr id="35" name="applications-text-15"/>
          <p:cNvGrpSpPr/>
          <p:nvPr/>
        </p:nvGrpSpPr>
        <p:grpSpPr>
          <a:xfrm>
            <a:off x="611505" y="6134100"/>
            <a:ext cx="5846314" cy="293370"/>
            <a:chOff x="611505" y="6134100"/>
            <a:chExt cx="5846314" cy="293370"/>
          </a:xfrm>
        </p:grpSpPr>
        <p:sp>
          <p:nvSpPr>
            <p:cNvPr id="34" name="TextBox 34"/>
            <p:cNvSpPr txBox="1"/>
            <p:nvPr/>
          </p:nvSpPr>
          <p:spPr>
            <a:xfrm>
              <a:off x="611505" y="6134100"/>
              <a:ext cx="58463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3657D"/>
                  </a:solidFill>
                  <a:latin typeface="Arial"/>
                  <a:ea typeface="Microsoft YaHei"/>
                  <a:cs typeface="Arial"/>
                </a:rPr>
                <a:t>应用示例用于说明任务建模方式；当前实验均基于离线 DAG 仿真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/>
              <a:t>项目亮点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28923" y="522637"/>
            <a:ext cx="7624477" cy="491490"/>
          </a:xfrm>
          <a:prstGeom prst="rect">
            <a:avLst/>
          </a:prstGeom>
          <a:noFill/>
          <a:ln>
            <a:noFill/>
          </a:ln>
        </p:spPr>
        <p:txBody>
          <a:bodyPr wrap="none" lIns="91440" tIns="80586" rIns="0" bIns="0" anchor="t" anchorCtr="0">
            <a:noAutofit/>
          </a:bodyPr>
          <a:lstStyle/>
          <a:p>
            <a:pPr algn="l"/>
            <a:r>
              <a:rPr lang="zh-CN" sz="2600" b="1" dirty="0">
                <a:solidFill>
                  <a:srgbClr val="254FEB"/>
                </a:solidFill>
                <a:latin typeface="黑体"/>
                <a:ea typeface="Microsoft YaHei"/>
                <a:cs typeface="黑体"/>
              </a:rPr>
              <a:t>2.1 功能亮点</a:t>
            </a:r>
          </a:p>
        </p:txBody>
      </p:sp>
      <p:grpSp>
        <p:nvGrpSpPr>
          <p:cNvPr id="7" name="architecture-lead"/>
          <p:cNvGrpSpPr/>
          <p:nvPr/>
        </p:nvGrpSpPr>
        <p:grpSpPr>
          <a:xfrm>
            <a:off x="607314" y="1473041"/>
            <a:ext cx="6152090" cy="454724"/>
            <a:chOff x="607314" y="1473041"/>
            <a:chExt cx="6152090" cy="454724"/>
          </a:xfrm>
        </p:grpSpPr>
        <p:sp>
          <p:nvSpPr>
            <p:cNvPr id="6" name="TextBox 6"/>
            <p:cNvSpPr txBox="1"/>
            <p:nvPr/>
          </p:nvSpPr>
          <p:spPr>
            <a:xfrm>
              <a:off x="607314" y="1473041"/>
              <a:ext cx="6152090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320" b="1" dirty="0">
                  <a:solidFill>
                    <a:srgbClr val="14213A"/>
                  </a:solidFill>
                  <a:latin typeface="黑体"/>
                  <a:ea typeface="Microsoft YaHei"/>
                  <a:cs typeface="黑体"/>
                </a:rPr>
                <a:t>统一场景 → 独立候选 → 校验择优 → 结果复核</a:t>
              </a:r>
            </a:p>
          </p:txBody>
        </p:sp>
      </p:grpSp>
      <p:sp>
        <p:nvSpPr>
          <p:cNvPr id="53" name="TextBox 53"/>
          <p:cNvSpPr txBox="1"/>
          <p:nvPr/>
        </p:nvSpPr>
        <p:spPr>
          <a:xfrm>
            <a:off x="612267" y="6093142"/>
            <a:ext cx="617460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3657D"/>
                </a:solidFill>
                <a:latin typeface="黑体"/>
                <a:ea typeface="Microsoft YaHei"/>
                <a:cs typeface="黑体"/>
              </a:rPr>
              <a:t>底层统一模拟器建模执行、通信与插入式时间线；入口：policies/hybrid.py</a:t>
            </a:r>
          </a:p>
        </p:txBody>
      </p:sp>
      <p:grpSp>
        <p:nvGrpSpPr>
          <p:cNvPr id="9" name="academic-schematic"/>
          <p:cNvGrpSpPr/>
          <p:nvPr/>
        </p:nvGrpSpPr>
        <p:grpSpPr>
          <a:xfrm>
            <a:off x="1342013" y="1981200"/>
            <a:ext cx="9507973" cy="3476625"/>
            <a:chOff x="1342013" y="1981200"/>
            <a:chExt cx="9507973" cy="3476625"/>
          </a:xfrm>
        </p:grpSpPr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42013" y="1981200"/>
              <a:ext cx="9507973" cy="347662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28923" y="522637"/>
            <a:ext cx="7624477" cy="491490"/>
          </a:xfrm>
          <a:prstGeom prst="rect">
            <a:avLst/>
          </a:prstGeom>
          <a:noFill/>
          <a:ln>
            <a:noFill/>
          </a:ln>
        </p:spPr>
        <p:txBody>
          <a:bodyPr wrap="none" lIns="91440" tIns="80586" rIns="0" bIns="0" anchor="t" anchorCtr="0">
            <a:noAutofit/>
          </a:bodyPr>
          <a:lstStyle/>
          <a:p>
            <a:pPr algn="l"/>
            <a:r>
              <a:rPr lang="zh-CN" sz="2600" b="1" dirty="0">
                <a:solidFill>
                  <a:srgbClr val="254FEB"/>
                </a:solidFill>
                <a:latin typeface="黑体"/>
                <a:ea typeface="Microsoft YaHei"/>
                <a:cs typeface="黑体"/>
              </a:rPr>
              <a:t>2.2 其它亮点</a:t>
            </a:r>
          </a:p>
        </p:txBody>
      </p:sp>
      <p:grpSp>
        <p:nvGrpSpPr>
          <p:cNvPr id="7" name="repro-heading"/>
          <p:cNvGrpSpPr/>
          <p:nvPr/>
        </p:nvGrpSpPr>
        <p:grpSpPr>
          <a:xfrm>
            <a:off x="606552" y="1523524"/>
            <a:ext cx="3363722" cy="484060"/>
            <a:chOff x="606552" y="1523524"/>
            <a:chExt cx="3363722" cy="484060"/>
          </a:xfrm>
        </p:grpSpPr>
        <p:sp>
          <p:nvSpPr>
            <p:cNvPr id="6" name="TextBox 6"/>
            <p:cNvSpPr txBox="1"/>
            <p:nvPr/>
          </p:nvSpPr>
          <p:spPr>
            <a:xfrm>
              <a:off x="606552" y="1523524"/>
              <a:ext cx="3363722" cy="4840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80" b="1" dirty="0">
                  <a:solidFill>
                    <a:srgbClr val="14213A"/>
                  </a:solidFill>
                  <a:latin typeface="黑体"/>
                  <a:ea typeface="Microsoft YaHei"/>
                  <a:cs typeface="黑体"/>
                </a:rPr>
                <a:t>可复现实验与离线展示</a:t>
              </a:r>
            </a:p>
          </p:txBody>
        </p:sp>
      </p:grpSp>
      <p:grpSp>
        <p:nvGrpSpPr>
          <p:cNvPr id="10" name="repro"/>
          <p:cNvGrpSpPr/>
          <p:nvPr/>
        </p:nvGrpSpPr>
        <p:grpSpPr>
          <a:xfrm>
            <a:off x="608457" y="2354580"/>
            <a:ext cx="5392674" cy="736092"/>
            <a:chOff x="608457" y="2354580"/>
            <a:chExt cx="5392674" cy="736092"/>
          </a:xfrm>
        </p:grpSpPr>
        <p:sp>
          <p:nvSpPr>
            <p:cNvPr id="8" name="TextBox 8"/>
            <p:cNvSpPr txBox="1"/>
            <p:nvPr/>
          </p:nvSpPr>
          <p:spPr>
            <a:xfrm>
              <a:off x="608457" y="2354580"/>
              <a:ext cx="539267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14213A"/>
                  </a:solidFill>
                  <a:latin typeface="黑体"/>
                  <a:ea typeface="Microsoft YaHei"/>
                  <a:cs typeface="黑体"/>
                </a:rPr>
                <a:t>固定划分、随机种子、配置哈希与运行环境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08457" y="2679954"/>
              <a:ext cx="482727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14213A"/>
                  </a:solidFill>
                  <a:latin typeface="黑体"/>
                  <a:ea typeface="Microsoft YaHei"/>
                  <a:cs typeface="黑体"/>
                </a:rPr>
                <a:t>保存逐场景指标、候选来源与调度结果</a:t>
              </a:r>
            </a:p>
          </p:txBody>
        </p:sp>
      </p:grpSp>
      <p:grpSp>
        <p:nvGrpSpPr>
          <p:cNvPr id="12" name="platform-heading"/>
          <p:cNvGrpSpPr/>
          <p:nvPr/>
        </p:nvGrpSpPr>
        <p:grpSpPr>
          <a:xfrm>
            <a:off x="607695" y="3386138"/>
            <a:ext cx="5535549" cy="440055"/>
            <a:chOff x="607695" y="3386138"/>
            <a:chExt cx="5535549" cy="440055"/>
          </a:xfrm>
        </p:grpSpPr>
        <p:sp>
          <p:nvSpPr>
            <p:cNvPr id="11" name="TextBox 11"/>
            <p:cNvSpPr txBox="1"/>
            <p:nvPr/>
          </p:nvSpPr>
          <p:spPr>
            <a:xfrm>
              <a:off x="607695" y="3386138"/>
              <a:ext cx="553554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54FEB"/>
                  </a:solidFill>
                  <a:latin typeface="黑体"/>
                  <a:ea typeface="Microsoft YaHei"/>
                  <a:cs typeface="黑体"/>
                </a:rPr>
                <a:t>openEuler + openKylin 双系统运行验证</a:t>
              </a:r>
            </a:p>
          </p:txBody>
        </p:sp>
      </p:grpSp>
      <p:grpSp>
        <p:nvGrpSpPr>
          <p:cNvPr id="15" name="platform"/>
          <p:cNvGrpSpPr/>
          <p:nvPr/>
        </p:nvGrpSpPr>
        <p:grpSpPr>
          <a:xfrm>
            <a:off x="608838" y="3943826"/>
            <a:ext cx="6407073" cy="709804"/>
            <a:chOff x="608838" y="3943826"/>
            <a:chExt cx="6407073" cy="709804"/>
          </a:xfrm>
        </p:grpSpPr>
        <p:sp>
          <p:nvSpPr>
            <p:cNvPr id="13" name="TextBox 13"/>
            <p:cNvSpPr txBox="1"/>
            <p:nvPr/>
          </p:nvSpPr>
          <p:spPr>
            <a:xfrm>
              <a:off x="608838" y="3943826"/>
              <a:ext cx="6407073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dirty="0">
                  <a:solidFill>
                    <a:srgbClr val="14213A"/>
                  </a:solidFill>
                  <a:latin typeface="黑体"/>
                  <a:ea typeface="Microsoft YaHei"/>
                  <a:cs typeface="黑体"/>
                </a:rPr>
                <a:t>x86_64 CPU 虚拟机：188 项测试、2 个训练 episode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8838" y="4257580"/>
              <a:ext cx="5989490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dirty="0">
                  <a:solidFill>
                    <a:srgbClr val="14213A"/>
                  </a:solidFill>
                  <a:latin typeface="黑体"/>
                  <a:ea typeface="Microsoft YaHei"/>
                  <a:cs typeface="黑体"/>
                </a:rPr>
                <a:t>108 场景评测与新进程重载；支持运行兼容性结论</a:t>
              </a:r>
            </a:p>
          </p:txBody>
        </p:sp>
      </p:grpSp>
      <p:grpSp>
        <p:nvGrpSpPr>
          <p:cNvPr id="18" name="offline"/>
          <p:cNvGrpSpPr/>
          <p:nvPr/>
        </p:nvGrpSpPr>
        <p:grpSpPr>
          <a:xfrm>
            <a:off x="609219" y="5113972"/>
            <a:ext cx="6359404" cy="683515"/>
            <a:chOff x="609219" y="5113972"/>
            <a:chExt cx="6359404" cy="683515"/>
          </a:xfrm>
        </p:grpSpPr>
        <p:sp>
          <p:nvSpPr>
            <p:cNvPr id="16" name="TextBox 16"/>
            <p:cNvSpPr txBox="1"/>
            <p:nvPr/>
          </p:nvSpPr>
          <p:spPr>
            <a:xfrm>
              <a:off x="609219" y="5113972"/>
              <a:ext cx="635940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14213A"/>
                  </a:solidFill>
                  <a:latin typeface="黑体"/>
                  <a:ea typeface="Microsoft YaHei"/>
                  <a:cs typeface="黑体"/>
                </a:rPr>
                <a:t>内置 6 场景与精选权重：50 / 100 / 300 × 同构 / 异构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09219" y="5416106"/>
              <a:ext cx="5795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14213A"/>
                  </a:solidFill>
                  <a:latin typeface="黑体"/>
                  <a:ea typeface="Microsoft YaHei"/>
                  <a:cs typeface="黑体"/>
                </a:rPr>
                <a:t>依赖安装后可离线运行，无需重训或下载完整数据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612267" y="6093142"/>
            <a:ext cx="4154984" cy="20774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3657D"/>
                </a:solidFill>
                <a:latin typeface="黑体"/>
                <a:ea typeface="Microsoft YaHei"/>
                <a:cs typeface="黑体"/>
              </a:rPr>
              <a:t>平台：openEuler 24.03 LTS-SP4、openKylin 2.0 SP2</a:t>
            </a:r>
          </a:p>
        </p:txBody>
      </p:sp>
      <p:pic>
        <p:nvPicPr>
          <p:cNvPr id="21" name="Imag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0" y="2428875"/>
            <a:ext cx="3962400" cy="264156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/>
              <a:t>技术难点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28923" y="522637"/>
            <a:ext cx="7624477" cy="491490"/>
          </a:xfrm>
          <a:prstGeom prst="rect">
            <a:avLst/>
          </a:prstGeom>
          <a:noFill/>
          <a:ln>
            <a:noFill/>
          </a:ln>
        </p:spPr>
        <p:txBody>
          <a:bodyPr wrap="none" lIns="91440" tIns="80586" rIns="0" bIns="0" anchor="t" anchorCtr="0">
            <a:noAutofit/>
          </a:bodyPr>
          <a:lstStyle/>
          <a:p>
            <a:pPr algn="l"/>
            <a:r>
              <a:rPr lang="zh-CN" sz="2600" b="1" dirty="0">
                <a:solidFill>
                  <a:srgbClr val="254FEB"/>
                </a:solidFill>
                <a:latin typeface="黑体"/>
                <a:ea typeface="Microsoft YaHei"/>
                <a:cs typeface="黑体"/>
              </a:rPr>
              <a:t>3.1 离线 DAG 分层调度适配</a:t>
            </a:r>
          </a:p>
        </p:txBody>
      </p:sp>
      <p:grpSp>
        <p:nvGrpSpPr>
          <p:cNvPr id="7" name="first-contribution"/>
          <p:cNvGrpSpPr/>
          <p:nvPr/>
        </p:nvGrpSpPr>
        <p:grpSpPr>
          <a:xfrm>
            <a:off x="607314" y="1511141"/>
            <a:ext cx="6424971" cy="454724"/>
            <a:chOff x="607314" y="1511141"/>
            <a:chExt cx="6424971" cy="454724"/>
          </a:xfrm>
        </p:grpSpPr>
        <p:sp>
          <p:nvSpPr>
            <p:cNvPr id="6" name="TextBox 6"/>
            <p:cNvSpPr txBox="1"/>
            <p:nvPr/>
          </p:nvSpPr>
          <p:spPr>
            <a:xfrm>
              <a:off x="607314" y="1511141"/>
              <a:ext cx="6424971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320" b="1" dirty="0">
                  <a:solidFill>
                    <a:srgbClr val="14213A"/>
                  </a:solidFill>
                  <a:latin typeface="黑体"/>
                  <a:ea typeface="Microsoft YaHei"/>
                  <a:cs typeface="黑体"/>
                </a:rPr>
                <a:t>把两层决策落实到 DAG 合法动作与真实时间线</a:t>
              </a:r>
            </a:p>
          </p:txBody>
        </p:sp>
      </p:grpSp>
      <p:grpSp>
        <p:nvGrpSpPr>
          <p:cNvPr id="31" name="phase-semantics"/>
          <p:cNvGrpSpPr/>
          <p:nvPr/>
        </p:nvGrpSpPr>
        <p:grpSpPr>
          <a:xfrm>
            <a:off x="608838" y="4372451"/>
            <a:ext cx="6430482" cy="709804"/>
            <a:chOff x="608838" y="4372451"/>
            <a:chExt cx="6430482" cy="709804"/>
          </a:xfrm>
        </p:grpSpPr>
        <p:sp>
          <p:nvSpPr>
            <p:cNvPr id="29" name="TextBox 29"/>
            <p:cNvSpPr txBox="1"/>
            <p:nvPr/>
          </p:nvSpPr>
          <p:spPr>
            <a:xfrm>
              <a:off x="608838" y="4372451"/>
              <a:ext cx="4915357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dirty="0">
                  <a:solidFill>
                    <a:srgbClr val="14213A"/>
                  </a:solidFill>
                  <a:latin typeface="黑体"/>
                  <a:ea typeface="Microsoft YaHei"/>
                  <a:cs typeface="黑体"/>
                </a:rPr>
                <a:t>零残差初始化：初始行为可与启发式核对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08838" y="4686205"/>
              <a:ext cx="6430482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dirty="0">
                  <a:solidFill>
                    <a:srgbClr val="14213A"/>
                  </a:solidFill>
                  <a:latin typeface="黑体"/>
                  <a:ea typeface="Microsoft YaHei"/>
                  <a:cs typeface="黑体"/>
                </a:rPr>
                <a:t>显式动作 / 更新 / 冻结语义；PPO 更新复用采样掩码</a:t>
              </a:r>
            </a:p>
          </p:txBody>
        </p:sp>
      </p:grpSp>
      <p:grpSp>
        <p:nvGrpSpPr>
          <p:cNvPr id="33" name="mask-meaning"/>
          <p:cNvGrpSpPr/>
          <p:nvPr/>
        </p:nvGrpSpPr>
        <p:grpSpPr>
          <a:xfrm>
            <a:off x="609600" y="5350669"/>
            <a:ext cx="5639448" cy="366712"/>
            <a:chOff x="609600" y="5350669"/>
            <a:chExt cx="5639448" cy="366712"/>
          </a:xfrm>
        </p:grpSpPr>
        <p:sp>
          <p:nvSpPr>
            <p:cNvPr id="32" name="TextBox 32"/>
            <p:cNvSpPr txBox="1"/>
            <p:nvPr/>
          </p:nvSpPr>
          <p:spPr>
            <a:xfrm>
              <a:off x="609600" y="5350669"/>
              <a:ext cx="5639448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254FEB"/>
                  </a:solidFill>
                  <a:latin typeface="黑体"/>
                  <a:ea typeface="Microsoft YaHei"/>
                  <a:cs typeface="黑体"/>
                </a:rPr>
                <a:t>就绪 = 前驱已放置；实际开始仍需等待数据与资源</a:t>
              </a:r>
            </a:p>
          </p:txBody>
        </p:sp>
      </p:grpSp>
      <p:grpSp>
        <p:nvGrpSpPr>
          <p:cNvPr id="36" name="evidence"/>
          <p:cNvGrpSpPr/>
          <p:nvPr/>
        </p:nvGrpSpPr>
        <p:grpSpPr>
          <a:xfrm>
            <a:off x="612267" y="6093142"/>
            <a:ext cx="8137360" cy="473203"/>
            <a:chOff x="612267" y="6093142"/>
            <a:chExt cx="8137360" cy="473203"/>
          </a:xfrm>
        </p:grpSpPr>
        <p:sp>
          <p:nvSpPr>
            <p:cNvPr id="34" name="TextBox 34"/>
            <p:cNvSpPr txBox="1"/>
            <p:nvPr/>
          </p:nvSpPr>
          <p:spPr>
            <a:xfrm>
              <a:off x="612267" y="6093142"/>
              <a:ext cx="81373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3657D"/>
                  </a:solidFill>
                  <a:latin typeface="黑体"/>
                  <a:ea typeface="Microsoft YaHei"/>
                  <a:cs typeface="黑体"/>
                </a:rPr>
                <a:t>代码（包内）：env/dag_env.py、policies/hrl.py、algorithms/phases.py、algorithms/ppo.py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12267" y="6302312"/>
              <a:ext cx="78920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3657D"/>
                  </a:solidFill>
                  <a:latin typeface="黑体"/>
                  <a:ea typeface="Microsoft YaHei"/>
                  <a:cs typeface="黑体"/>
                </a:rPr>
                <a:t>验证（src/tests/）：test_simulator.py、test_ppo_mask.py、test_training_utilities.py</a:t>
              </a:r>
            </a:p>
          </p:txBody>
        </p:sp>
      </p:grpSp>
      <p:grpSp>
        <p:nvGrpSpPr>
          <p:cNvPr id="10" name="academic-schematic"/>
          <p:cNvGrpSpPr/>
          <p:nvPr/>
        </p:nvGrpSpPr>
        <p:grpSpPr>
          <a:xfrm>
            <a:off x="619125" y="2085975"/>
            <a:ext cx="10953750" cy="2095500"/>
            <a:chOff x="619125" y="2085975"/>
            <a:chExt cx="10953750" cy="2095500"/>
          </a:xfrm>
        </p:grpSpPr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3"/>
            <a:srcRect t="26081" b="26081"/>
            <a:stretch>
              <a:fillRect/>
            </a:stretch>
          </p:blipFill>
          <p:spPr>
            <a:xfrm>
              <a:off x="619125" y="2085975"/>
              <a:ext cx="10953750" cy="20955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28923" y="522637"/>
            <a:ext cx="7624477" cy="491490"/>
          </a:xfrm>
          <a:prstGeom prst="rect">
            <a:avLst/>
          </a:prstGeom>
          <a:noFill/>
          <a:ln>
            <a:noFill/>
          </a:ln>
        </p:spPr>
        <p:txBody>
          <a:bodyPr wrap="none" lIns="91440" tIns="80586" rIns="0" bIns="0" anchor="t" anchorCtr="0">
            <a:noAutofit/>
          </a:bodyPr>
          <a:lstStyle/>
          <a:p>
            <a:pPr algn="l"/>
            <a:r>
              <a:rPr lang="zh-CN" sz="2600" b="1" dirty="0">
                <a:solidFill>
                  <a:srgbClr val="254FEB"/>
                </a:solidFill>
                <a:latin typeface="黑体"/>
                <a:ea typeface="Microsoft YaHei"/>
                <a:cs typeface="黑体"/>
              </a:rPr>
              <a:t>3.2 独立候选搜索与校验</a:t>
            </a:r>
          </a:p>
        </p:txBody>
      </p:sp>
      <p:grpSp>
        <p:nvGrpSpPr>
          <p:cNvPr id="7" name="second-contribution"/>
          <p:cNvGrpSpPr/>
          <p:nvPr/>
        </p:nvGrpSpPr>
        <p:grpSpPr>
          <a:xfrm>
            <a:off x="607314" y="1511141"/>
            <a:ext cx="5645353" cy="454724"/>
            <a:chOff x="607314" y="1511141"/>
            <a:chExt cx="5645353" cy="454724"/>
          </a:xfrm>
        </p:grpSpPr>
        <p:sp>
          <p:nvSpPr>
            <p:cNvPr id="6" name="TextBox 6"/>
            <p:cNvSpPr txBox="1"/>
            <p:nvPr/>
          </p:nvSpPr>
          <p:spPr>
            <a:xfrm>
              <a:off x="607314" y="1511141"/>
              <a:ext cx="5645353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320" b="1" dirty="0">
                  <a:solidFill>
                    <a:srgbClr val="14213A"/>
                  </a:solidFill>
                  <a:latin typeface="黑体"/>
                  <a:ea typeface="Microsoft YaHei"/>
                  <a:cs typeface="黑体"/>
                </a:rPr>
                <a:t>搜索改善候选，统一校验保障可复核选择</a:t>
              </a:r>
            </a:p>
          </p:txBody>
        </p:sp>
      </p:grpSp>
      <p:grpSp>
        <p:nvGrpSpPr>
          <p:cNvPr id="10" name="critical-search"/>
          <p:cNvGrpSpPr/>
          <p:nvPr/>
        </p:nvGrpSpPr>
        <p:grpSpPr>
          <a:xfrm>
            <a:off x="608457" y="2316480"/>
            <a:ext cx="5958078" cy="736092"/>
            <a:chOff x="608457" y="2316480"/>
            <a:chExt cx="5958078" cy="736092"/>
          </a:xfrm>
        </p:grpSpPr>
        <p:sp>
          <p:nvSpPr>
            <p:cNvPr id="8" name="TextBox 8"/>
            <p:cNvSpPr txBox="1"/>
            <p:nvPr/>
          </p:nvSpPr>
          <p:spPr>
            <a:xfrm>
              <a:off x="608457" y="2316480"/>
              <a:ext cx="543507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14213A"/>
                  </a:solidFill>
                  <a:latin typeface="黑体"/>
                  <a:ea typeface="Microsoft YaHei"/>
                  <a:cs typeface="黑体"/>
                </a:rPr>
                <a:t>关键链：前驱数据到达 + 节点前序任务阻塞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08457" y="2641854"/>
              <a:ext cx="595807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14213A"/>
                  </a:solidFill>
                  <a:latin typeface="黑体"/>
                  <a:ea typeface="Microsoft YaHei"/>
                  <a:cs typeface="黑体"/>
                </a:rPr>
                <a:t>搜索：束搜索、任务次序调整、任务块联合迁移</a:t>
              </a:r>
            </a:p>
          </p:txBody>
        </p:sp>
      </p:grpSp>
      <p:grpSp>
        <p:nvGrpSpPr>
          <p:cNvPr id="13" name="state-reuse"/>
          <p:cNvGrpSpPr/>
          <p:nvPr/>
        </p:nvGrpSpPr>
        <p:grpSpPr>
          <a:xfrm>
            <a:off x="608457" y="3383280"/>
            <a:ext cx="5435079" cy="736092"/>
            <a:chOff x="608457" y="3383280"/>
            <a:chExt cx="5435079" cy="736092"/>
          </a:xfrm>
        </p:grpSpPr>
        <p:sp>
          <p:nvSpPr>
            <p:cNvPr id="11" name="TextBox 11"/>
            <p:cNvSpPr txBox="1"/>
            <p:nvPr/>
          </p:nvSpPr>
          <p:spPr>
            <a:xfrm>
              <a:off x="608457" y="3383280"/>
              <a:ext cx="543507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14213A"/>
                  </a:solidFill>
                  <a:latin typeface="黑体"/>
                  <a:ea typeface="Microsoft YaHei"/>
                  <a:cs typeface="黑体"/>
                </a:rPr>
                <a:t>状态隔离与复用：动态状态克隆 + 前缀快照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08457" y="3708654"/>
              <a:ext cx="369646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14213A"/>
                  </a:solidFill>
                  <a:latin typeface="黑体"/>
                  <a:ea typeface="Microsoft YaHei"/>
                  <a:cs typeface="黑体"/>
                </a:rPr>
                <a:t>保留未变前缀，精确重放后缀</a:t>
              </a:r>
            </a:p>
          </p:txBody>
        </p:sp>
      </p:grpSp>
      <p:grpSp>
        <p:nvGrpSpPr>
          <p:cNvPr id="16" name="candidate-choice"/>
          <p:cNvGrpSpPr/>
          <p:nvPr/>
        </p:nvGrpSpPr>
        <p:grpSpPr>
          <a:xfrm>
            <a:off x="608838" y="4448651"/>
            <a:ext cx="6449466" cy="709804"/>
            <a:chOff x="608838" y="4448651"/>
            <a:chExt cx="6449466" cy="709804"/>
          </a:xfrm>
        </p:grpSpPr>
        <p:sp>
          <p:nvSpPr>
            <p:cNvPr id="14" name="TextBox 14"/>
            <p:cNvSpPr txBox="1"/>
            <p:nvPr/>
          </p:nvSpPr>
          <p:spPr>
            <a:xfrm>
              <a:off x="608838" y="4448651"/>
              <a:ext cx="5762452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dirty="0">
                  <a:solidFill>
                    <a:srgbClr val="14213A"/>
                  </a:solidFill>
                  <a:latin typeface="黑体"/>
                  <a:ea typeface="Microsoft YaHei"/>
                  <a:cs typeface="黑体"/>
                </a:rPr>
                <a:t>HEFT / 搜索 / HRL 独立完成 → 校验 → 取最小值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08838" y="4762405"/>
              <a:ext cx="644946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dirty="0">
                  <a:solidFill>
                    <a:srgbClr val="14213A"/>
                  </a:solidFill>
                  <a:latin typeface="黑体"/>
                  <a:ea typeface="Microsoft YaHei"/>
                  <a:cs typeface="黑体"/>
                </a:rPr>
                <a:t>精确持平优先 HEFT；非法候选报错；最终重放再检查</a:t>
              </a:r>
            </a:p>
          </p:txBody>
        </p:sp>
      </p:grpSp>
      <p:grpSp>
        <p:nvGrpSpPr>
          <p:cNvPr id="18" name="safety-bound"/>
          <p:cNvGrpSpPr/>
          <p:nvPr/>
        </p:nvGrpSpPr>
        <p:grpSpPr>
          <a:xfrm>
            <a:off x="609600" y="5417344"/>
            <a:ext cx="6795059" cy="366712"/>
            <a:chOff x="609600" y="5417344"/>
            <a:chExt cx="6795059" cy="366712"/>
          </a:xfrm>
        </p:grpSpPr>
        <p:sp>
          <p:nvSpPr>
            <p:cNvPr id="17" name="TextBox 17"/>
            <p:cNvSpPr txBox="1"/>
            <p:nvPr/>
          </p:nvSpPr>
          <p:spPr>
            <a:xfrm>
              <a:off x="609600" y="5417344"/>
              <a:ext cx="6795059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254FEB"/>
                  </a:solidFill>
                  <a:latin typeface="黑体"/>
                  <a:ea typeface="Microsoft YaHei"/>
                  <a:cs typeface="黑体"/>
                </a:rPr>
                <a:t>同一确定性评分、全部成功且合法时，所选结果不劣于 HEFT</a:t>
              </a:r>
            </a:p>
          </p:txBody>
        </p:sp>
      </p:grpSp>
      <p:grpSp>
        <p:nvGrpSpPr>
          <p:cNvPr id="21" name="evidence"/>
          <p:cNvGrpSpPr/>
          <p:nvPr/>
        </p:nvGrpSpPr>
        <p:grpSpPr>
          <a:xfrm>
            <a:off x="612267" y="6093142"/>
            <a:ext cx="7292283" cy="416919"/>
            <a:chOff x="612267" y="6093142"/>
            <a:chExt cx="7292283" cy="416919"/>
          </a:xfrm>
        </p:grpSpPr>
        <p:sp>
          <p:nvSpPr>
            <p:cNvPr id="19" name="TextBox 19"/>
            <p:cNvSpPr txBox="1"/>
            <p:nvPr/>
          </p:nvSpPr>
          <p:spPr>
            <a:xfrm>
              <a:off x="612267" y="6093142"/>
              <a:ext cx="72922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3657D"/>
                  </a:solidFill>
                  <a:latin typeface="黑体"/>
                  <a:ea typeface="Microsoft YaHei"/>
                  <a:cs typeface="黑体"/>
                </a:rPr>
                <a:t>代码（包内）：policies/portfolio.py、policies/hybrid.py、scheduling/simulator.py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12267" y="6302312"/>
              <a:ext cx="6319038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3657D"/>
                  </a:solidFill>
                  <a:latin typeface="黑体"/>
                  <a:ea typeface="Microsoft YaHei"/>
                  <a:cs typeface="黑体"/>
                </a:rPr>
                <a:t>验证（src/tests/）：test_advanced_search.py、test_independent_hybrid.py</a:t>
              </a:r>
            </a:p>
          </p:txBody>
        </p:sp>
      </p:grpSp>
      <p:pic>
        <p:nvPicPr>
          <p:cNvPr id="23" name="Imag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0" y="2428875"/>
            <a:ext cx="3962400" cy="264156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28923" y="522637"/>
            <a:ext cx="7624477" cy="491490"/>
          </a:xfrm>
          <a:prstGeom prst="rect">
            <a:avLst/>
          </a:prstGeom>
          <a:noFill/>
          <a:ln>
            <a:noFill/>
          </a:ln>
        </p:spPr>
        <p:txBody>
          <a:bodyPr wrap="none" lIns="91440" tIns="80586" rIns="0" bIns="0" anchor="t" anchorCtr="0">
            <a:noAutofit/>
          </a:bodyPr>
          <a:lstStyle/>
          <a:p>
            <a:pPr algn="l"/>
            <a:r>
              <a:rPr lang="zh-CN" sz="2600" b="1" dirty="0">
                <a:solidFill>
                  <a:srgbClr val="254FEB"/>
                </a:solidFill>
                <a:latin typeface="黑体"/>
                <a:ea typeface="Microsoft YaHei"/>
                <a:cs typeface="黑体"/>
              </a:rPr>
              <a:t>3.3 基线策略与决策差异</a:t>
            </a:r>
          </a:p>
        </p:txBody>
      </p:sp>
      <p:graphicFrame>
        <p:nvGraphicFramePr>
          <p:cNvPr id="8" name="baselines-comparison"/>
          <p:cNvGraphicFramePr>
            <a:graphicFrameLocks noGrp="1"/>
          </p:cNvGraphicFramePr>
          <p:nvPr/>
        </p:nvGraphicFramePr>
        <p:xfrm>
          <a:off x="619125" y="2219325"/>
          <a:ext cx="10858500" cy="3105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1030">
                <a:tc>
                  <a:txBody>
                    <a:bodyPr/>
                    <a:lstStyle/>
                    <a:p>
                      <a:r>
                        <a:rPr lang="zh-CN" sz="1800" b="1">
                          <a:solidFill>
                            <a:srgbClr val="FFFFFF"/>
                          </a:solidFill>
                        </a:rPr>
                        <a:t>方法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254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800" b="1">
                          <a:solidFill>
                            <a:srgbClr val="FFFFFF"/>
                          </a:solidFill>
                        </a:rPr>
                        <a:t>主要决策方式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254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800" b="1">
                          <a:solidFill>
                            <a:srgbClr val="FFFFFF"/>
                          </a:solidFill>
                        </a:rPr>
                        <a:t>策略基础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254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800" b="1">
                          <a:solidFill>
                            <a:srgbClr val="FFFFFF"/>
                          </a:solidFill>
                        </a:rPr>
                        <a:t>最终输出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254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030"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rgbClr val="14213A"/>
                          </a:solidFill>
                        </a:rPr>
                        <a:t>HEFT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800" b="0">
                          <a:solidFill>
                            <a:srgbClr val="14213A"/>
                          </a:solidFill>
                        </a:rPr>
                        <a:t>rank 排序，EFT 选择节点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800" b="0">
                          <a:solidFill>
                            <a:srgbClr val="14213A"/>
                          </a:solidFill>
                        </a:rPr>
                        <a:t>固定启发式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800" b="0">
                          <a:solidFill>
                            <a:srgbClr val="14213A"/>
                          </a:solidFill>
                        </a:rPr>
                        <a:t>完整调度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03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14213A"/>
                          </a:solidFill>
                        </a:rPr>
                        <a:t>Graph PPO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800" b="0">
                          <a:solidFill>
                            <a:srgbClr val="14213A"/>
                          </a:solidFill>
                        </a:rPr>
                        <a:t>单 actor 选择任务–节点对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800" b="0">
                          <a:solidFill>
                            <a:srgbClr val="14213A"/>
                          </a:solidFill>
                        </a:rPr>
                        <a:t>纯学习策略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800" b="0">
                          <a:solidFill>
                            <a:srgbClr val="14213A"/>
                          </a:solidFill>
                        </a:rPr>
                        <a:t>完整调度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030"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rgbClr val="14213A"/>
                          </a:solidFill>
                        </a:rPr>
                        <a:t>Tier MAPPO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800" b="0">
                          <a:solidFill>
                            <a:srgbClr val="14213A"/>
                          </a:solidFill>
                        </a:rPr>
                        <a:t>端/边/云提案，协调器择一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800" b="0">
                          <a:solidFill>
                            <a:srgbClr val="14213A"/>
                          </a:solidFill>
                        </a:rPr>
                        <a:t>多 actor 协作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800" b="0">
                          <a:solidFill>
                            <a:srgbClr val="14213A"/>
                          </a:solidFill>
                        </a:rPr>
                        <a:t>完整调度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030">
                <a:tc>
                  <a:txBody>
                    <a:bodyPr/>
                    <a:lstStyle/>
                    <a:p>
                      <a:r>
                        <a:rPr lang="zh-CN" sz="1800" b="1" dirty="0">
                          <a:solidFill>
                            <a:srgbClr val="14213A"/>
                          </a:solidFill>
                        </a:rPr>
                        <a:t>HRL搜索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800" b="0">
                          <a:solidFill>
                            <a:srgbClr val="14213A"/>
                          </a:solidFill>
                        </a:rPr>
                        <a:t>HEFT、搜索与 HRL 独立候选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800" b="0">
                          <a:solidFill>
                            <a:srgbClr val="14213A"/>
                          </a:solidFill>
                        </a:rPr>
                        <a:t>学习与搜索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800" b="0" dirty="0">
                          <a:solidFill>
                            <a:srgbClr val="14213A"/>
                          </a:solidFill>
                        </a:rPr>
                        <a:t>校验后取最优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5" name="baselines-text-0"/>
          <p:cNvGrpSpPr/>
          <p:nvPr/>
        </p:nvGrpSpPr>
        <p:grpSpPr>
          <a:xfrm>
            <a:off x="607314" y="1501616"/>
            <a:ext cx="6894627" cy="454724"/>
            <a:chOff x="607314" y="1501616"/>
            <a:chExt cx="6894627" cy="454724"/>
          </a:xfrm>
        </p:grpSpPr>
        <p:sp>
          <p:nvSpPr>
            <p:cNvPr id="4" name="TextBox 4"/>
            <p:cNvSpPr txBox="1"/>
            <p:nvPr/>
          </p:nvSpPr>
          <p:spPr>
            <a:xfrm>
              <a:off x="607314" y="1501616"/>
              <a:ext cx="6894627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320" b="1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统一调度环境，分别比较启发式、学习与候选搜索</a:t>
              </a:r>
            </a:p>
          </p:txBody>
        </p:sp>
      </p:grpSp>
      <p:grpSp>
        <p:nvGrpSpPr>
          <p:cNvPr id="7" name="baselines-text-1"/>
          <p:cNvGrpSpPr/>
          <p:nvPr/>
        </p:nvGrpSpPr>
        <p:grpSpPr>
          <a:xfrm>
            <a:off x="609981" y="5520690"/>
            <a:ext cx="9428651" cy="352044"/>
            <a:chOff x="609981" y="5520690"/>
            <a:chExt cx="9428651" cy="352044"/>
          </a:xfrm>
        </p:grpSpPr>
        <p:sp>
          <p:nvSpPr>
            <p:cNvPr id="6" name="TextBox 6"/>
            <p:cNvSpPr txBox="1"/>
            <p:nvPr/>
          </p:nvSpPr>
          <p:spPr>
            <a:xfrm>
              <a:off x="609981" y="5520690"/>
              <a:ext cx="942865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Graph PPO 与 Tier MAPPO 均使用任务/资源图编码器，动作掩码保留合法任务–节点对</a:t>
              </a:r>
            </a:p>
          </p:txBody>
        </p:sp>
      </p:grpSp>
      <p:grpSp>
        <p:nvGrpSpPr>
          <p:cNvPr id="10" name="baselines-text-2"/>
          <p:cNvGrpSpPr/>
          <p:nvPr/>
        </p:nvGrpSpPr>
        <p:grpSpPr>
          <a:xfrm>
            <a:off x="609981" y="5920740"/>
            <a:ext cx="6644572" cy="352044"/>
            <a:chOff x="609981" y="5920740"/>
            <a:chExt cx="6644572" cy="352044"/>
          </a:xfrm>
        </p:grpSpPr>
        <p:sp>
          <p:nvSpPr>
            <p:cNvPr id="9" name="TextBox 9"/>
            <p:cNvSpPr txBox="1"/>
            <p:nvPr/>
          </p:nvSpPr>
          <p:spPr>
            <a:xfrm>
              <a:off x="609981" y="5920740"/>
              <a:ext cx="66445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两个学习基线均不使用 HEFT 残差、搜索候选或学习安全封装</a:t>
              </a:r>
            </a:p>
          </p:txBody>
        </p:sp>
      </p:grpSp>
      <p:grpSp>
        <p:nvGrpSpPr>
          <p:cNvPr id="12" name="baselines-text-3"/>
          <p:cNvGrpSpPr/>
          <p:nvPr/>
        </p:nvGrpSpPr>
        <p:grpSpPr>
          <a:xfrm>
            <a:off x="612267" y="6340792"/>
            <a:ext cx="7044612" cy="264033"/>
            <a:chOff x="612267" y="6340792"/>
            <a:chExt cx="7044612" cy="264033"/>
          </a:xfrm>
        </p:grpSpPr>
        <p:sp>
          <p:nvSpPr>
            <p:cNvPr id="11" name="TextBox 11"/>
            <p:cNvSpPr txBox="1"/>
            <p:nvPr/>
          </p:nvSpPr>
          <p:spPr>
            <a:xfrm>
              <a:off x="612267" y="6340792"/>
              <a:ext cx="7044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3657D"/>
                  </a:solidFill>
                  <a:latin typeface="Arial"/>
                  <a:ea typeface="Microsoft YaHei"/>
                  <a:cs typeface="Arial"/>
                </a:rPr>
                <a:t>代码：models/graph_baselines.py、policies/hybrid.py；验证：test_graph_baselines.py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/>
              <a:t>项目测试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28923" y="522637"/>
            <a:ext cx="7624477" cy="491490"/>
          </a:xfrm>
          <a:prstGeom prst="rect">
            <a:avLst/>
          </a:prstGeom>
          <a:noFill/>
          <a:ln>
            <a:noFill/>
          </a:ln>
        </p:spPr>
        <p:txBody>
          <a:bodyPr wrap="none" lIns="91440" tIns="80586" rIns="0" bIns="0" anchor="t" anchorCtr="0">
            <a:noAutofit/>
          </a:bodyPr>
          <a:lstStyle/>
          <a:p>
            <a:pPr algn="l"/>
            <a:r>
              <a:rPr lang="zh-CN" sz="2600" b="1" dirty="0">
                <a:solidFill>
                  <a:srgbClr val="254FEB"/>
                </a:solidFill>
                <a:latin typeface="黑体"/>
                <a:ea typeface="Microsoft YaHei"/>
                <a:cs typeface="黑体"/>
              </a:rPr>
              <a:t>4.1 项目测试结果说明</a:t>
            </a:r>
          </a:p>
        </p:txBody>
      </p:sp>
      <p:grpSp>
        <p:nvGrpSpPr>
          <p:cNvPr id="7" name="test-lead"/>
          <p:cNvGrpSpPr/>
          <p:nvPr/>
        </p:nvGrpSpPr>
        <p:grpSpPr>
          <a:xfrm>
            <a:off x="607314" y="1473041"/>
            <a:ext cx="7648099" cy="454724"/>
            <a:chOff x="607314" y="1473041"/>
            <a:chExt cx="7648099" cy="454724"/>
          </a:xfrm>
        </p:grpSpPr>
        <p:sp>
          <p:nvSpPr>
            <p:cNvPr id="6" name="TextBox 6"/>
            <p:cNvSpPr/>
            <p:nvPr/>
          </p:nvSpPr>
          <p:spPr>
            <a:xfrm>
              <a:off x="607314" y="1473041"/>
              <a:ext cx="7648099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zh-CN" sz="2320" b="1" dirty="0">
                  <a:solidFill>
                    <a:srgbClr val="14213A"/>
                  </a:solidFill>
                  <a:latin typeface="黑体"/>
                  <a:ea typeface="Microsoft YaHei"/>
                  <a:cs typeface="黑体"/>
                </a:rPr>
                <a:t>HRL搜索 mean_ratio 降低约 8.18%，主要来自搜索</a:t>
              </a:r>
            </a:p>
          </p:txBody>
        </p:sp>
      </p:grpSp>
      <p:graphicFrame>
        <p:nvGraphicFramePr>
          <p:cNvPr id="8" name="performance"/>
          <p:cNvGraphicFramePr>
            <a:graphicFrameLocks noGrp="1"/>
          </p:cNvGraphicFramePr>
          <p:nvPr/>
        </p:nvGraphicFramePr>
        <p:xfrm>
          <a:off x="619125" y="2143125"/>
          <a:ext cx="10858500" cy="27146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29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2925">
                <a:tc>
                  <a:txBody>
                    <a:bodyPr/>
                    <a:lstStyle/>
                    <a:p>
                      <a:r>
                        <a:rPr lang="zh-CN" sz="1950" b="1">
                          <a:solidFill>
                            <a:srgbClr val="FFFFFF"/>
                          </a:solidFill>
                        </a:rPr>
                        <a:t>方法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254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950" b="1">
                          <a:solidFill>
                            <a:srgbClr val="FFFFFF"/>
                          </a:solidFill>
                        </a:rPr>
                        <a:t>mean_ratio ± 跨种子标准差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254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950" b="1">
                          <a:solidFill>
                            <a:srgbClr val="FFFFFF"/>
                          </a:solidFill>
                        </a:rPr>
                        <a:t>CPU 推理秒/场景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254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lang="en-US" sz="1950" b="1">
                          <a:solidFill>
                            <a:srgbClr val="14213A"/>
                          </a:solidFill>
                        </a:rPr>
                        <a:t>HEFT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950" b="0">
                          <a:solidFill>
                            <a:srgbClr val="14213A"/>
                          </a:solidFill>
                        </a:rPr>
                        <a:t>1.000000 ± 0.000000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950" b="0">
                          <a:solidFill>
                            <a:srgbClr val="14213A"/>
                          </a:solidFill>
                        </a:rPr>
                        <a:t>0.175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lang="zh-CN" sz="1950" b="1">
                          <a:solidFill>
                            <a:srgbClr val="14213A"/>
                          </a:solidFill>
                        </a:rPr>
                        <a:t>Graph PPO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950" b="0">
                          <a:solidFill>
                            <a:srgbClr val="14213A"/>
                          </a:solidFill>
                        </a:rPr>
                        <a:t>1.029373 ± 0.011873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950" b="0">
                          <a:solidFill>
                            <a:srgbClr val="14213A"/>
                          </a:solidFill>
                        </a:rPr>
                        <a:t>0.821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lang="zh-CN" sz="1950" b="1">
                          <a:solidFill>
                            <a:srgbClr val="14213A"/>
                          </a:solidFill>
                        </a:rPr>
                        <a:t>Tier MAPPO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950" b="0">
                          <a:solidFill>
                            <a:srgbClr val="14213A"/>
                          </a:solidFill>
                        </a:rPr>
                        <a:t>1.097279 ± 0.017729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950" b="0">
                          <a:solidFill>
                            <a:srgbClr val="14213A"/>
                          </a:solidFill>
                        </a:rPr>
                        <a:t>1.060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lang="zh-CN" sz="1950" b="1">
                          <a:solidFill>
                            <a:srgbClr val="14213A"/>
                          </a:solidFill>
                        </a:rPr>
                        <a:t>HRL搜索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950" b="0">
                          <a:solidFill>
                            <a:srgbClr val="14213A"/>
                          </a:solidFill>
                        </a:rPr>
                        <a:t>0.918223 ± 0.000498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950" b="0">
                          <a:solidFill>
                            <a:srgbClr val="14213A"/>
                          </a:solidFill>
                        </a:rPr>
                        <a:t>5.297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1" name="test-scope"/>
          <p:cNvGrpSpPr/>
          <p:nvPr/>
        </p:nvGrpSpPr>
        <p:grpSpPr>
          <a:xfrm>
            <a:off x="609981" y="5206365"/>
            <a:ext cx="6926809" cy="630936"/>
            <a:chOff x="609981" y="5206365"/>
            <a:chExt cx="6926809" cy="630936"/>
          </a:xfrm>
        </p:grpSpPr>
        <p:sp>
          <p:nvSpPr>
            <p:cNvPr id="9" name="TextBox 9"/>
            <p:cNvSpPr txBox="1"/>
            <p:nvPr/>
          </p:nvSpPr>
          <p:spPr>
            <a:xfrm>
              <a:off x="609981" y="5206365"/>
              <a:ext cx="67329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213A"/>
                  </a:solidFill>
                  <a:latin typeface="黑体"/>
                  <a:ea typeface="Microsoft YaHei"/>
                  <a:cs typeface="黑体"/>
                </a:rPr>
                <a:t>3 种子复用同一 108 验证场景 / 54 基础 DAG；验证集参与选模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9981" y="5485257"/>
              <a:ext cx="69268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213A"/>
                  </a:solidFill>
                  <a:latin typeface="黑体"/>
                  <a:ea typeface="Microsoft YaHei"/>
                  <a:cs typeface="黑体"/>
                </a:rPr>
                <a:t>HRL 额外严格增益仅来自 seed 2026 的 2 个场景；组合推理更慢</a:t>
              </a:r>
            </a:p>
          </p:txBody>
        </p:sp>
      </p:grpSp>
      <p:grpSp>
        <p:nvGrpSpPr>
          <p:cNvPr id="14" name="evidence"/>
          <p:cNvGrpSpPr/>
          <p:nvPr/>
        </p:nvGrpSpPr>
        <p:grpSpPr>
          <a:xfrm>
            <a:off x="612267" y="6093142"/>
            <a:ext cx="8737092" cy="473203"/>
            <a:chOff x="612267" y="6093142"/>
            <a:chExt cx="8737092" cy="473203"/>
          </a:xfrm>
        </p:grpSpPr>
        <p:sp>
          <p:nvSpPr>
            <p:cNvPr id="12" name="TextBox 12"/>
            <p:cNvSpPr txBox="1"/>
            <p:nvPr/>
          </p:nvSpPr>
          <p:spPr>
            <a:xfrm>
              <a:off x="612267" y="6093142"/>
              <a:ext cx="73199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3657D"/>
                  </a:solidFill>
                  <a:latin typeface="黑体"/>
                  <a:ea typeface="Microsoft YaHei"/>
                  <a:cs typeface="黑体"/>
                </a:rPr>
                <a:t>mean_ratio = 逐场景 makespan / HEFT makespan 的均值；推理耗时包含全部候选与重放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12267" y="6302312"/>
              <a:ext cx="87370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3657D"/>
                  </a:solidFill>
                  <a:latin typeface="黑体"/>
                  <a:ea typeface="Microsoft YaHei"/>
                  <a:cs typeface="黑体"/>
                </a:rPr>
                <a:t>来源：tests/results/multiseed_20260925_122243/mean_std.csv、hybrid_attribution_by_seed.csv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28923" y="522637"/>
            <a:ext cx="7624477" cy="491490"/>
          </a:xfrm>
          <a:prstGeom prst="rect">
            <a:avLst/>
          </a:prstGeom>
          <a:noFill/>
          <a:ln>
            <a:noFill/>
          </a:ln>
        </p:spPr>
        <p:txBody>
          <a:bodyPr wrap="none" lIns="91440" tIns="80586" rIns="0" bIns="0" anchor="t" anchorCtr="0">
            <a:noAutofit/>
          </a:bodyPr>
          <a:lstStyle/>
          <a:p>
            <a:pPr algn="l"/>
            <a:r>
              <a:rPr lang="zh-CN" sz="2600" b="1" dirty="0">
                <a:solidFill>
                  <a:srgbClr val="254FEB"/>
                </a:solidFill>
                <a:latin typeface="黑体"/>
                <a:ea typeface="Microsoft YaHei"/>
                <a:cs typeface="黑体"/>
              </a:rPr>
              <a:t>4.2 实验协议与收益归因</a:t>
            </a:r>
          </a:p>
        </p:txBody>
      </p:sp>
      <p:graphicFrame>
        <p:nvGraphicFramePr>
          <p:cNvPr id="8" name="attribution-comparison"/>
          <p:cNvGraphicFramePr>
            <a:graphicFrameLocks noGrp="1"/>
          </p:cNvGraphicFramePr>
          <p:nvPr/>
        </p:nvGraphicFramePr>
        <p:xfrm>
          <a:off x="619125" y="2981325"/>
          <a:ext cx="10858500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4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r>
                        <a:rPr lang="zh-CN" sz="1880" b="1">
                          <a:solidFill>
                            <a:srgbClr val="FFFFFF"/>
                          </a:solidFill>
                        </a:rPr>
                        <a:t>消融方法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254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880" b="1">
                          <a:solidFill>
                            <a:srgbClr val="FFFFFF"/>
                          </a:solidFill>
                        </a:rPr>
                        <a:t>mean_ratio ± 跨种子标准差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254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880" b="1">
                          <a:solidFill>
                            <a:srgbClr val="FFFFFF"/>
                          </a:solidFill>
                        </a:rPr>
                        <a:t>CPU 秒/场景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254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lang="zh-CN" sz="1880" b="1">
                          <a:solidFill>
                            <a:srgbClr val="14213A"/>
                          </a:solidFill>
                        </a:rPr>
                        <a:t>纯 HRL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880" b="0">
                          <a:solidFill>
                            <a:srgbClr val="14213A"/>
                          </a:solidFill>
                        </a:rPr>
                        <a:t>0.999058 ± 0.001472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880" b="0">
                          <a:solidFill>
                            <a:srgbClr val="14213A"/>
                          </a:solidFill>
                        </a:rPr>
                        <a:t>0.262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lang="zh-CN" sz="1880" b="1">
                          <a:solidFill>
                            <a:srgbClr val="14213A"/>
                          </a:solidFill>
                        </a:rPr>
                        <a:t>独立搜索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880" b="0">
                          <a:solidFill>
                            <a:srgbClr val="14213A"/>
                          </a:solidFill>
                        </a:rPr>
                        <a:t>0.918239 ± 0.000518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880" b="0">
                          <a:solidFill>
                            <a:srgbClr val="14213A"/>
                          </a:solidFill>
                        </a:rPr>
                        <a:t>4.435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lang="zh-CN" sz="1880" b="1">
                          <a:solidFill>
                            <a:srgbClr val="14213A"/>
                          </a:solidFill>
                        </a:rPr>
                        <a:t>HRL搜索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880" b="0">
                          <a:solidFill>
                            <a:srgbClr val="14213A"/>
                          </a:solidFill>
                        </a:rPr>
                        <a:t>0.918223 ± 0.000498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880" b="0">
                          <a:solidFill>
                            <a:srgbClr val="14213A"/>
                          </a:solidFill>
                        </a:rPr>
                        <a:t>5.297</a:t>
                      </a:r>
                    </a:p>
                  </a:txBody>
                  <a:tcPr marL="114300" marR="76200" marT="57150" marB="57150" anchor="ctr">
                    <a:lnL w="9525">
                      <a:solidFill>
                        <a:srgbClr val="D6DFEF"/>
                      </a:solidFill>
                      <a:prstDash val="solid"/>
                    </a:lnL>
                    <a:lnR w="9525">
                      <a:solidFill>
                        <a:srgbClr val="D6DFEF"/>
                      </a:solidFill>
                      <a:prstDash val="solid"/>
                    </a:lnR>
                    <a:lnT w="9525">
                      <a:solidFill>
                        <a:srgbClr val="D6DFEF"/>
                      </a:solidFill>
                      <a:prstDash val="solid"/>
                    </a:lnT>
                    <a:lnB w="9525">
                      <a:solidFill>
                        <a:srgbClr val="D6DF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5" name="attribution-text-0"/>
          <p:cNvGrpSpPr/>
          <p:nvPr/>
        </p:nvGrpSpPr>
        <p:grpSpPr>
          <a:xfrm>
            <a:off x="607314" y="1501616"/>
            <a:ext cx="6894627" cy="454724"/>
            <a:chOff x="607314" y="1501616"/>
            <a:chExt cx="6894627" cy="454724"/>
          </a:xfrm>
        </p:grpSpPr>
        <p:sp>
          <p:nvSpPr>
            <p:cNvPr id="4" name="TextBox 4"/>
            <p:cNvSpPr txBox="1"/>
            <p:nvPr/>
          </p:nvSpPr>
          <p:spPr>
            <a:xfrm>
              <a:off x="607314" y="1501616"/>
              <a:ext cx="6894627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320" b="1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主要改善来自搜索，学习增量与推理成本仍需优化</a:t>
              </a:r>
            </a:p>
          </p:txBody>
        </p:sp>
      </p:grpSp>
      <p:grpSp>
        <p:nvGrpSpPr>
          <p:cNvPr id="7" name="attribution-text-1"/>
          <p:cNvGrpSpPr/>
          <p:nvPr/>
        </p:nvGrpSpPr>
        <p:grpSpPr>
          <a:xfrm>
            <a:off x="609981" y="2063115"/>
            <a:ext cx="8555711" cy="352044"/>
            <a:chOff x="609981" y="2063115"/>
            <a:chExt cx="8555711" cy="352044"/>
          </a:xfrm>
        </p:grpSpPr>
        <p:sp>
          <p:nvSpPr>
            <p:cNvPr id="6" name="TextBox 6"/>
            <p:cNvSpPr txBox="1"/>
            <p:nvPr/>
          </p:nvSpPr>
          <p:spPr>
            <a:xfrm>
              <a:off x="609981" y="2063115"/>
              <a:ext cx="85557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3 种子；各学习模型每种子 2592 episodes、384900 次任务决策，训练预算一致</a:t>
              </a:r>
            </a:p>
          </p:txBody>
        </p:sp>
      </p:grpSp>
      <p:grpSp>
        <p:nvGrpSpPr>
          <p:cNvPr id="10" name="attribution-text-2"/>
          <p:cNvGrpSpPr/>
          <p:nvPr/>
        </p:nvGrpSpPr>
        <p:grpSpPr>
          <a:xfrm>
            <a:off x="609981" y="2425065"/>
            <a:ext cx="8376623" cy="352044"/>
            <a:chOff x="609981" y="2425065"/>
            <a:chExt cx="8376623" cy="352044"/>
          </a:xfrm>
        </p:grpSpPr>
        <p:sp>
          <p:nvSpPr>
            <p:cNvPr id="9" name="TextBox 9"/>
            <p:cNvSpPr txBox="1"/>
            <p:nvPr/>
          </p:nvSpPr>
          <p:spPr>
            <a:xfrm>
              <a:off x="609981" y="2425065"/>
              <a:ext cx="837662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同一 108 验证场景 / 54 基础 DAG；ratio = 场景 makespan / HEFT makespan</a:t>
              </a:r>
            </a:p>
          </p:txBody>
        </p:sp>
      </p:grpSp>
      <p:grpSp>
        <p:nvGrpSpPr>
          <p:cNvPr id="12" name="attribution-text-3"/>
          <p:cNvGrpSpPr/>
          <p:nvPr/>
        </p:nvGrpSpPr>
        <p:grpSpPr>
          <a:xfrm>
            <a:off x="609981" y="5168265"/>
            <a:ext cx="7206957" cy="352044"/>
            <a:chOff x="609981" y="5168265"/>
            <a:chExt cx="7206957" cy="352044"/>
          </a:xfrm>
        </p:grpSpPr>
        <p:sp>
          <p:nvSpPr>
            <p:cNvPr id="11" name="TextBox 11"/>
            <p:cNvSpPr txBox="1"/>
            <p:nvPr/>
          </p:nvSpPr>
          <p:spPr>
            <a:xfrm>
              <a:off x="609981" y="5168265"/>
              <a:ext cx="72069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每种子相对 HEFT：106 场景改善、0 退化、2 持平；全部调度合法</a:t>
              </a:r>
            </a:p>
          </p:txBody>
        </p:sp>
      </p:grpSp>
      <p:grpSp>
        <p:nvGrpSpPr>
          <p:cNvPr id="14" name="attribution-text-4"/>
          <p:cNvGrpSpPr/>
          <p:nvPr/>
        </p:nvGrpSpPr>
        <p:grpSpPr>
          <a:xfrm>
            <a:off x="609981" y="5539740"/>
            <a:ext cx="9340855" cy="352044"/>
            <a:chOff x="609981" y="5539740"/>
            <a:chExt cx="9340855" cy="352044"/>
          </a:xfrm>
        </p:grpSpPr>
        <p:sp>
          <p:nvSpPr>
            <p:cNvPr id="13" name="TextBox 13"/>
            <p:cNvSpPr txBox="1"/>
            <p:nvPr/>
          </p:nvSpPr>
          <p:spPr>
            <a:xfrm>
              <a:off x="609981" y="5539740"/>
              <a:ext cx="934085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HRL 比搜索的额外改善仅来自 seed 2026 的 2 个场景，平均增量约 0.001603 个百分点</a:t>
              </a:r>
            </a:p>
          </p:txBody>
        </p:sp>
      </p:grpSp>
      <p:grpSp>
        <p:nvGrpSpPr>
          <p:cNvPr id="16" name="attribution-text-5"/>
          <p:cNvGrpSpPr/>
          <p:nvPr/>
        </p:nvGrpSpPr>
        <p:grpSpPr>
          <a:xfrm>
            <a:off x="609981" y="5911215"/>
            <a:ext cx="6601384" cy="352044"/>
            <a:chOff x="609981" y="5911215"/>
            <a:chExt cx="6601384" cy="352044"/>
          </a:xfrm>
        </p:grpSpPr>
        <p:sp>
          <p:nvSpPr>
            <p:cNvPr id="15" name="TextBox 15"/>
            <p:cNvSpPr txBox="1"/>
            <p:nvPr/>
          </p:nvSpPr>
          <p:spPr>
            <a:xfrm>
              <a:off x="609981" y="5911215"/>
              <a:ext cx="66013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验证集同时用于选模与报告，当前结论尚无独立 test 泛化证据</a:t>
              </a:r>
            </a:p>
          </p:txBody>
        </p:sp>
      </p:grpSp>
      <p:grpSp>
        <p:nvGrpSpPr>
          <p:cNvPr id="18" name="attribution-text-6"/>
          <p:cNvGrpSpPr/>
          <p:nvPr/>
        </p:nvGrpSpPr>
        <p:grpSpPr>
          <a:xfrm>
            <a:off x="612267" y="6331268"/>
            <a:ext cx="8571021" cy="264033"/>
            <a:chOff x="612267" y="6331268"/>
            <a:chExt cx="8571021" cy="264033"/>
          </a:xfrm>
        </p:grpSpPr>
        <p:sp>
          <p:nvSpPr>
            <p:cNvPr id="17" name="TextBox 17"/>
            <p:cNvSpPr txBox="1"/>
            <p:nvPr/>
          </p:nvSpPr>
          <p:spPr>
            <a:xfrm>
              <a:off x="612267" y="6331268"/>
              <a:ext cx="85710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3657D"/>
                  </a:solidFill>
                  <a:latin typeface="Arial"/>
                  <a:ea typeface="Microsoft YaHei"/>
                  <a:cs typeface="Arial"/>
                </a:rPr>
                <a:t>来源：multiseed_20260925_122243/mean_std.csv、training_budget.csv、hybrid_attribution_by_seed.csv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/>
              <a:t>作品演示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28923" y="522637"/>
            <a:ext cx="7624477" cy="491490"/>
          </a:xfrm>
          <a:prstGeom prst="rect">
            <a:avLst/>
          </a:prstGeom>
          <a:noFill/>
          <a:ln>
            <a:noFill/>
          </a:ln>
        </p:spPr>
        <p:txBody>
          <a:bodyPr wrap="none" lIns="91440" tIns="80586" rIns="0" bIns="0" anchor="t" anchorCtr="0">
            <a:noAutofit/>
          </a:bodyPr>
          <a:lstStyle/>
          <a:p>
            <a:pPr algn="l"/>
            <a:r>
              <a:rPr lang="zh-CN" sz="2600" b="1" dirty="0">
                <a:solidFill>
                  <a:srgbClr val="254FEB"/>
                </a:solidFill>
                <a:latin typeface="黑体"/>
                <a:ea typeface="Microsoft YaHei"/>
                <a:cs typeface="黑体"/>
              </a:rPr>
              <a:t>5.1 作品演示播放：启动与场景</a:t>
            </a:r>
          </a:p>
        </p:txBody>
      </p:sp>
      <p:grpSp>
        <p:nvGrpSpPr>
          <p:cNvPr id="7" name="scene-metrics"/>
          <p:cNvGrpSpPr/>
          <p:nvPr/>
        </p:nvGrpSpPr>
        <p:grpSpPr>
          <a:xfrm>
            <a:off x="619125" y="1524000"/>
            <a:ext cx="7715250" cy="4343400"/>
            <a:chOff x="619125" y="1524000"/>
            <a:chExt cx="7715250" cy="4343400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9125" y="1524000"/>
              <a:ext cx="7715250" cy="4343400"/>
            </a:xfrm>
            <a:prstGeom prst="rect">
              <a:avLst/>
            </a:prstGeom>
          </p:spPr>
        </p:pic>
      </p:grpSp>
      <p:grpSp>
        <p:nvGrpSpPr>
          <p:cNvPr id="9" name="start-demo"/>
          <p:cNvGrpSpPr/>
          <p:nvPr/>
        </p:nvGrpSpPr>
        <p:grpSpPr>
          <a:xfrm>
            <a:off x="8752332" y="1592580"/>
            <a:ext cx="1717548" cy="410718"/>
            <a:chOff x="8752332" y="1592580"/>
            <a:chExt cx="1717548" cy="410718"/>
          </a:xfrm>
        </p:grpSpPr>
        <p:sp>
          <p:nvSpPr>
            <p:cNvPr id="8" name="TextBox 8"/>
            <p:cNvSpPr txBox="1"/>
            <p:nvPr/>
          </p:nvSpPr>
          <p:spPr>
            <a:xfrm>
              <a:off x="8752332" y="1592580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54FEB"/>
                  </a:solidFill>
                  <a:latin typeface="黑体"/>
                  <a:ea typeface="Microsoft YaHei"/>
                  <a:cs typeface="黑体"/>
                </a:rPr>
                <a:t>启动离线演示</a:t>
              </a:r>
            </a:p>
          </p:txBody>
        </p:sp>
      </p:grpSp>
      <p:grpSp>
        <p:nvGrpSpPr>
          <p:cNvPr id="12" name="start-command"/>
          <p:cNvGrpSpPr/>
          <p:nvPr/>
        </p:nvGrpSpPr>
        <p:grpSpPr>
          <a:xfrm>
            <a:off x="8753475" y="2188369"/>
            <a:ext cx="2511943" cy="657224"/>
            <a:chOff x="8753475" y="2188369"/>
            <a:chExt cx="2511943" cy="657224"/>
          </a:xfrm>
        </p:grpSpPr>
        <p:sp>
          <p:nvSpPr>
            <p:cNvPr id="10" name="TextBox 10"/>
            <p:cNvSpPr txBox="1"/>
            <p:nvPr/>
          </p:nvSpPr>
          <p:spPr>
            <a:xfrm>
              <a:off x="8753475" y="2188369"/>
              <a:ext cx="1790649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dirty="0">
                  <a:solidFill>
                    <a:srgbClr val="14213A"/>
                  </a:solidFill>
                  <a:latin typeface="黑体"/>
                  <a:ea typeface="Microsoft YaHei"/>
                  <a:cs typeface="黑体"/>
                </a:rPr>
                <a:t>项目根目录运行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753475" y="2478881"/>
              <a:ext cx="2511943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80" dirty="0">
                  <a:solidFill>
                    <a:srgbClr val="14213A"/>
                  </a:solidFill>
                  <a:latin typeface="黑体"/>
                  <a:ea typeface="黑体"/>
                  <a:cs typeface="黑体"/>
                </a:rPr>
                <a:t>python run_demo.py</a:t>
              </a:r>
            </a:p>
          </p:txBody>
        </p:sp>
      </p:grpSp>
      <p:grpSp>
        <p:nvGrpSpPr>
          <p:cNvPr id="16" name="select-scene"/>
          <p:cNvGrpSpPr/>
          <p:nvPr/>
        </p:nvGrpSpPr>
        <p:grpSpPr>
          <a:xfrm>
            <a:off x="8753094" y="3256598"/>
            <a:ext cx="2343017" cy="985646"/>
            <a:chOff x="8753094" y="3256598"/>
            <a:chExt cx="2343017" cy="985646"/>
          </a:xfrm>
        </p:grpSpPr>
        <p:sp>
          <p:nvSpPr>
            <p:cNvPr id="13" name="TextBox 13"/>
            <p:cNvSpPr txBox="1"/>
            <p:nvPr/>
          </p:nvSpPr>
          <p:spPr>
            <a:xfrm>
              <a:off x="8753094" y="3256598"/>
              <a:ext cx="166049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14213A"/>
                  </a:solidFill>
                  <a:latin typeface="黑体"/>
                  <a:ea typeface="Microsoft YaHei"/>
                  <a:cs typeface="黑体"/>
                </a:rPr>
                <a:t>选择 100 任务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753094" y="3558730"/>
              <a:ext cx="159486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14213A"/>
                  </a:solidFill>
                  <a:latin typeface="黑体"/>
                  <a:ea typeface="Microsoft YaHei"/>
                  <a:cs typeface="黑体"/>
                </a:rPr>
                <a:t>异构资源场景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753094" y="3860863"/>
              <a:ext cx="234301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14213A"/>
                  </a:solidFill>
                  <a:latin typeface="黑体"/>
                  <a:ea typeface="Microsoft YaHei"/>
                  <a:cs typeface="黑体"/>
                </a:rPr>
                <a:t>检查 4 / 4 方案合法</a:t>
              </a:r>
            </a:p>
          </p:txBody>
        </p:sp>
      </p:grpSp>
      <p:grpSp>
        <p:nvGrpSpPr>
          <p:cNvPr id="18" name="offline-link"/>
          <p:cNvGrpSpPr/>
          <p:nvPr/>
        </p:nvGrpSpPr>
        <p:grpSpPr>
          <a:xfrm>
            <a:off x="8753475" y="4636294"/>
            <a:ext cx="2508147" cy="366712"/>
            <a:chOff x="8753475" y="4636294"/>
            <a:chExt cx="2508147" cy="366712"/>
          </a:xfrm>
        </p:grpSpPr>
        <p:sp>
          <p:nvSpPr>
            <p:cNvPr id="17" name="TextBox 17"/>
            <p:cNvSpPr txBox="1"/>
            <p:nvPr/>
          </p:nvSpPr>
          <p:spPr>
            <a:xfrm>
              <a:off x="8753475" y="4636294"/>
              <a:ext cx="2508147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254FEB"/>
                  </a:solidFill>
                  <a:latin typeface="黑体"/>
                  <a:ea typeface="Microsoft YaHei"/>
                  <a:cs typeface="黑体"/>
                </a:rPr>
                <a:t>打开：演示页面.html</a:t>
              </a:r>
            </a:p>
          </p:txBody>
        </p:sp>
      </p:grpSp>
      <p:grpSp>
        <p:nvGrpSpPr>
          <p:cNvPr id="21" name="demo-scope"/>
          <p:cNvGrpSpPr/>
          <p:nvPr/>
        </p:nvGrpSpPr>
        <p:grpSpPr>
          <a:xfrm>
            <a:off x="8753475" y="5303044"/>
            <a:ext cx="1552844" cy="657224"/>
            <a:chOff x="8753475" y="5303044"/>
            <a:chExt cx="1552844" cy="657224"/>
          </a:xfrm>
        </p:grpSpPr>
        <p:sp>
          <p:nvSpPr>
            <p:cNvPr id="19" name="TextBox 19"/>
            <p:cNvSpPr txBox="1"/>
            <p:nvPr/>
          </p:nvSpPr>
          <p:spPr>
            <a:xfrm>
              <a:off x="8753475" y="5303044"/>
              <a:ext cx="1322441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dirty="0">
                  <a:solidFill>
                    <a:srgbClr val="53657D"/>
                  </a:solidFill>
                  <a:latin typeface="黑体"/>
                  <a:ea typeface="Microsoft YaHei"/>
                  <a:cs typeface="黑体"/>
                </a:rPr>
                <a:t>固定 6 场景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753475" y="5593556"/>
              <a:ext cx="1552844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dirty="0">
                  <a:solidFill>
                    <a:srgbClr val="53657D"/>
                  </a:solidFill>
                  <a:latin typeface="黑体"/>
                  <a:ea typeface="Microsoft YaHei"/>
                  <a:cs typeface="黑体"/>
                </a:rPr>
                <a:t>CPU 离线演示</a:t>
              </a:r>
            </a:p>
          </p:txBody>
        </p:sp>
      </p:grpSp>
      <p:grpSp>
        <p:nvGrpSpPr>
          <p:cNvPr id="24" name="evidence"/>
          <p:cNvGrpSpPr/>
          <p:nvPr/>
        </p:nvGrpSpPr>
        <p:grpSpPr>
          <a:xfrm>
            <a:off x="612267" y="6093142"/>
            <a:ext cx="6501727" cy="473203"/>
            <a:chOff x="612267" y="6093142"/>
            <a:chExt cx="6501727" cy="473203"/>
          </a:xfrm>
        </p:grpSpPr>
        <p:sp>
          <p:nvSpPr>
            <p:cNvPr id="22" name="TextBox 22"/>
            <p:cNvSpPr txBox="1"/>
            <p:nvPr/>
          </p:nvSpPr>
          <p:spPr>
            <a:xfrm>
              <a:off x="612267" y="6093142"/>
              <a:ext cx="65017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3657D"/>
                  </a:solidFill>
                  <a:latin typeface="黑体"/>
                  <a:ea typeface="Microsoft YaHei"/>
                  <a:cs typeface="黑体"/>
                </a:rPr>
                <a:t>真实界面：2026-10-01 保存运行；样例改善 24.22%，6 场景平均改善约 5.36%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12267" y="6302312"/>
              <a:ext cx="62382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3657D"/>
                  </a:solidFill>
                  <a:latin typeface="黑体"/>
                  <a:ea typeface="Microsoft YaHei"/>
                  <a:cs typeface="黑体"/>
                </a:rPr>
                <a:t>演示子集不能替代完整 108 场景验证成绩；现场重新计算会生成独立运行记录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28923" y="522637"/>
            <a:ext cx="7624477" cy="491490"/>
          </a:xfrm>
          <a:prstGeom prst="rect">
            <a:avLst/>
          </a:prstGeom>
          <a:noFill/>
          <a:ln>
            <a:noFill/>
          </a:ln>
        </p:spPr>
        <p:txBody>
          <a:bodyPr wrap="none" lIns="91440" tIns="80586" rIns="0" bIns="0" anchor="t" anchorCtr="0">
            <a:noAutofit/>
          </a:bodyPr>
          <a:lstStyle/>
          <a:p>
            <a:pPr algn="l"/>
            <a:r>
              <a:rPr lang="zh-CN" sz="2600" b="1" dirty="0">
                <a:solidFill>
                  <a:srgbClr val="254FEB"/>
                </a:solidFill>
                <a:latin typeface="黑体"/>
                <a:ea typeface="Microsoft YaHei"/>
                <a:cs typeface="黑体"/>
              </a:rPr>
              <a:t>5.2 作品演示：策略与时间线</a:t>
            </a:r>
          </a:p>
        </p:txBody>
      </p:sp>
      <p:grpSp>
        <p:nvGrpSpPr>
          <p:cNvPr id="7" name="timeline-lead"/>
          <p:cNvGrpSpPr/>
          <p:nvPr/>
        </p:nvGrpSpPr>
        <p:grpSpPr>
          <a:xfrm>
            <a:off x="607314" y="1482566"/>
            <a:ext cx="6269990" cy="454724"/>
            <a:chOff x="607314" y="1482566"/>
            <a:chExt cx="6269990" cy="454724"/>
          </a:xfrm>
        </p:grpSpPr>
        <p:sp>
          <p:nvSpPr>
            <p:cNvPr id="6" name="TextBox 6"/>
            <p:cNvSpPr txBox="1"/>
            <p:nvPr/>
          </p:nvSpPr>
          <p:spPr>
            <a:xfrm>
              <a:off x="607314" y="1482566"/>
              <a:ext cx="6269990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320" b="1" dirty="0">
                  <a:solidFill>
                    <a:srgbClr val="14213A"/>
                  </a:solidFill>
                  <a:latin typeface="黑体"/>
                  <a:ea typeface="Microsoft YaHei"/>
                  <a:cs typeface="黑体"/>
                </a:rPr>
                <a:t>同一场景切换策略，比较节点分配与完成时间</a:t>
              </a:r>
            </a:p>
          </p:txBody>
        </p:sp>
      </p:grpSp>
      <p:grpSp>
        <p:nvGrpSpPr>
          <p:cNvPr id="9" name="actual-gantt"/>
          <p:cNvGrpSpPr/>
          <p:nvPr/>
        </p:nvGrpSpPr>
        <p:grpSpPr>
          <a:xfrm>
            <a:off x="1706294" y="2124075"/>
            <a:ext cx="8684163" cy="3648075"/>
            <a:chOff x="1706294" y="2124075"/>
            <a:chExt cx="8684163" cy="3648075"/>
          </a:xfrm>
        </p:grpSpPr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06294" y="2124075"/>
              <a:ext cx="8684163" cy="3648075"/>
            </a:xfrm>
            <a:prstGeom prst="rect">
              <a:avLst/>
            </a:prstGeom>
          </p:spPr>
        </p:pic>
      </p:grpSp>
      <p:sp>
        <p:nvSpPr>
          <p:cNvPr id="12" name="TextBox 12"/>
          <p:cNvSpPr txBox="1"/>
          <p:nvPr/>
        </p:nvSpPr>
        <p:spPr>
          <a:xfrm>
            <a:off x="611886" y="6304121"/>
            <a:ext cx="599779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3657D"/>
                </a:solidFill>
                <a:latin typeface="黑体"/>
                <a:ea typeface="Microsoft YaHei"/>
                <a:cs typeface="黑体"/>
              </a:rPr>
              <a:t>播放 / 暂停 / 时间滑块回放已验证调度；时间单位沿用源数据与模拟器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28923" y="522637"/>
            <a:ext cx="7624477" cy="491490"/>
          </a:xfrm>
          <a:prstGeom prst="rect">
            <a:avLst/>
          </a:prstGeom>
          <a:noFill/>
          <a:ln>
            <a:noFill/>
          </a:ln>
        </p:spPr>
        <p:txBody>
          <a:bodyPr wrap="none" lIns="91440" tIns="80586" rIns="0" bIns="0" anchor="t" anchorCtr="0">
            <a:noAutofit/>
          </a:bodyPr>
          <a:lstStyle/>
          <a:p>
            <a:pPr algn="l"/>
            <a:r>
              <a:rPr lang="zh-CN" sz="2600" b="1" dirty="0">
                <a:solidFill>
                  <a:srgbClr val="254FEB"/>
                </a:solidFill>
                <a:latin typeface="黑体"/>
                <a:ea typeface="Microsoft YaHei"/>
                <a:cs typeface="黑体"/>
              </a:rPr>
              <a:t>5.3 作品演示：依赖与结果导出</a:t>
            </a:r>
          </a:p>
        </p:txBody>
      </p:sp>
      <p:grpSp>
        <p:nvGrpSpPr>
          <p:cNvPr id="7" name="actual-dag"/>
          <p:cNvGrpSpPr/>
          <p:nvPr/>
        </p:nvGrpSpPr>
        <p:grpSpPr>
          <a:xfrm>
            <a:off x="619125" y="1536793"/>
            <a:ext cx="8096250" cy="4146364"/>
            <a:chOff x="619125" y="1536793"/>
            <a:chExt cx="8096250" cy="4146364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9125" y="1536793"/>
              <a:ext cx="8096250" cy="4146364"/>
            </a:xfrm>
            <a:prstGeom prst="rect">
              <a:avLst/>
            </a:prstGeom>
          </p:spPr>
        </p:pic>
      </p:grpSp>
      <p:grpSp>
        <p:nvGrpSpPr>
          <p:cNvPr id="9" name="task-audit-title"/>
          <p:cNvGrpSpPr/>
          <p:nvPr/>
        </p:nvGrpSpPr>
        <p:grpSpPr>
          <a:xfrm>
            <a:off x="9067038" y="1600676"/>
            <a:ext cx="1924101" cy="396050"/>
            <a:chOff x="9067038" y="1600676"/>
            <a:chExt cx="1924101" cy="396050"/>
          </a:xfrm>
        </p:grpSpPr>
        <p:sp>
          <p:nvSpPr>
            <p:cNvPr id="8" name="TextBox 8"/>
            <p:cNvSpPr txBox="1"/>
            <p:nvPr/>
          </p:nvSpPr>
          <p:spPr>
            <a:xfrm>
              <a:off x="9067038" y="1600676"/>
              <a:ext cx="1924101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254FEB"/>
                  </a:solidFill>
                  <a:latin typeface="黑体"/>
                  <a:ea typeface="Microsoft YaHei"/>
                  <a:cs typeface="黑体"/>
                </a:rPr>
                <a:t>任务依赖可追踪</a:t>
              </a:r>
            </a:p>
          </p:txBody>
        </p:sp>
      </p:grpSp>
      <p:grpSp>
        <p:nvGrpSpPr>
          <p:cNvPr id="15" name="task-audit"/>
          <p:cNvGrpSpPr/>
          <p:nvPr/>
        </p:nvGrpSpPr>
        <p:grpSpPr>
          <a:xfrm>
            <a:off x="9067800" y="2188369"/>
            <a:ext cx="1689415" cy="1528762"/>
            <a:chOff x="9067800" y="2188369"/>
            <a:chExt cx="1689415" cy="1528762"/>
          </a:xfrm>
        </p:grpSpPr>
        <p:sp>
          <p:nvSpPr>
            <p:cNvPr id="10" name="TextBox 10"/>
            <p:cNvSpPr txBox="1"/>
            <p:nvPr/>
          </p:nvSpPr>
          <p:spPr>
            <a:xfrm>
              <a:off x="9067800" y="2188369"/>
              <a:ext cx="1046673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dirty="0">
                  <a:solidFill>
                    <a:srgbClr val="14213A"/>
                  </a:solidFill>
                  <a:latin typeface="黑体"/>
                  <a:ea typeface="Microsoft YaHei"/>
                  <a:cs typeface="黑体"/>
                </a:rPr>
                <a:t>点击 T49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067800" y="2478881"/>
              <a:ext cx="1575526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dirty="0">
                  <a:solidFill>
                    <a:srgbClr val="14213A"/>
                  </a:solidFill>
                  <a:latin typeface="黑体"/>
                  <a:ea typeface="Microsoft YaHei"/>
                  <a:cs typeface="黑体"/>
                </a:rPr>
                <a:t>查看 7 个前驱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67800" y="2769394"/>
              <a:ext cx="1689415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dirty="0">
                  <a:solidFill>
                    <a:srgbClr val="14213A"/>
                  </a:solidFill>
                  <a:latin typeface="黑体"/>
                  <a:ea typeface="Microsoft YaHei"/>
                  <a:cs typeface="黑体"/>
                </a:rPr>
                <a:t>节点：cloud_1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067800" y="3059906"/>
              <a:ext cx="1613489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dirty="0">
                  <a:solidFill>
                    <a:srgbClr val="14213A"/>
                  </a:solidFill>
                  <a:latin typeface="黑体"/>
                  <a:ea typeface="Microsoft YaHei"/>
                  <a:cs typeface="黑体"/>
                </a:rPr>
                <a:t>执行：56.740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067800" y="3350419"/>
              <a:ext cx="1183244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dirty="0">
                  <a:solidFill>
                    <a:srgbClr val="14213A"/>
                  </a:solidFill>
                  <a:latin typeface="黑体"/>
                  <a:ea typeface="Microsoft YaHei"/>
                  <a:cs typeface="黑体"/>
                </a:rPr>
                <a:t>至 64.194</a:t>
              </a:r>
            </a:p>
          </p:txBody>
        </p:sp>
      </p:grpSp>
      <p:grpSp>
        <p:nvGrpSpPr>
          <p:cNvPr id="17" name="export-title"/>
          <p:cNvGrpSpPr/>
          <p:nvPr/>
        </p:nvGrpSpPr>
        <p:grpSpPr>
          <a:xfrm>
            <a:off x="9067038" y="4362926"/>
            <a:ext cx="1924101" cy="396050"/>
            <a:chOff x="9067038" y="4362926"/>
            <a:chExt cx="1924101" cy="396050"/>
          </a:xfrm>
        </p:grpSpPr>
        <p:sp>
          <p:nvSpPr>
            <p:cNvPr id="16" name="TextBox 16"/>
            <p:cNvSpPr txBox="1"/>
            <p:nvPr/>
          </p:nvSpPr>
          <p:spPr>
            <a:xfrm>
              <a:off x="9067038" y="4362926"/>
              <a:ext cx="1924101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254FEB"/>
                  </a:solidFill>
                  <a:latin typeface="黑体"/>
                  <a:ea typeface="Microsoft YaHei"/>
                  <a:cs typeface="黑体"/>
                </a:rPr>
                <a:t>结果可导出复核</a:t>
              </a:r>
            </a:p>
          </p:txBody>
        </p:sp>
      </p:grpSp>
      <p:grpSp>
        <p:nvGrpSpPr>
          <p:cNvPr id="21" name="export-types"/>
          <p:cNvGrpSpPr/>
          <p:nvPr/>
        </p:nvGrpSpPr>
        <p:grpSpPr>
          <a:xfrm>
            <a:off x="9068181" y="4958715"/>
            <a:ext cx="2199132" cy="909828"/>
            <a:chOff x="9068181" y="4958715"/>
            <a:chExt cx="2199132" cy="909828"/>
          </a:xfrm>
        </p:grpSpPr>
        <p:sp>
          <p:nvSpPr>
            <p:cNvPr id="18" name="TextBox 18"/>
            <p:cNvSpPr txBox="1"/>
            <p:nvPr/>
          </p:nvSpPr>
          <p:spPr>
            <a:xfrm>
              <a:off x="9068181" y="4958715"/>
              <a:ext cx="16788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213A"/>
                  </a:solidFill>
                  <a:latin typeface="黑体"/>
                  <a:ea typeface="Microsoft YaHei"/>
                  <a:cs typeface="黑体"/>
                </a:rPr>
                <a:t>页面导出 JSON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068181" y="5237607"/>
              <a:ext cx="20295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213A"/>
                  </a:solidFill>
                  <a:latin typeface="黑体"/>
                  <a:ea typeface="Microsoft YaHei"/>
                  <a:cs typeface="黑体"/>
                </a:rPr>
                <a:t>保存 metrics.csv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068181" y="5516499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213A"/>
                  </a:solidFill>
                  <a:latin typeface="黑体"/>
                  <a:ea typeface="Microsoft YaHei"/>
                  <a:cs typeface="黑体"/>
                </a:rPr>
                <a:t>保留来源与运行记录</a:t>
              </a:r>
            </a:p>
          </p:txBody>
        </p:sp>
      </p:grpSp>
      <p:grpSp>
        <p:nvGrpSpPr>
          <p:cNvPr id="24" name="evidence"/>
          <p:cNvGrpSpPr/>
          <p:nvPr/>
        </p:nvGrpSpPr>
        <p:grpSpPr>
          <a:xfrm>
            <a:off x="612267" y="6093142"/>
            <a:ext cx="6492162" cy="416919"/>
            <a:chOff x="612267" y="6093142"/>
            <a:chExt cx="6492162" cy="416919"/>
          </a:xfrm>
        </p:grpSpPr>
        <p:sp>
          <p:nvSpPr>
            <p:cNvPr id="22" name="TextBox 22"/>
            <p:cNvSpPr txBox="1"/>
            <p:nvPr/>
          </p:nvSpPr>
          <p:spPr>
            <a:xfrm>
              <a:off x="612267" y="6093142"/>
              <a:ext cx="50296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3657D"/>
                  </a:solidFill>
                  <a:latin typeface="黑体"/>
                  <a:ea typeface="Microsoft YaHei"/>
                  <a:cs typeface="黑体"/>
                </a:rPr>
                <a:t>操作闭环：选场景 → 看候选 → 回放时间线 → 查依赖 → 导出结果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12267" y="6302312"/>
              <a:ext cx="6492162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3657D"/>
                  </a:solidFill>
                  <a:latin typeface="黑体"/>
                  <a:ea typeface="Microsoft YaHei"/>
                  <a:cs typeface="黑体"/>
                </a:rPr>
                <a:t>results.json、metrics.csv、provenance.json、status.json（同一演示运行目录）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28923" y="522637"/>
            <a:ext cx="7624477" cy="491490"/>
          </a:xfrm>
          <a:prstGeom prst="rect">
            <a:avLst/>
          </a:prstGeom>
          <a:noFill/>
          <a:ln>
            <a:noFill/>
          </a:ln>
        </p:spPr>
        <p:txBody>
          <a:bodyPr wrap="none" lIns="91440" tIns="80586" rIns="0" bIns="0" anchor="t" anchorCtr="0">
            <a:noAutofit/>
          </a:bodyPr>
          <a:lstStyle/>
          <a:p>
            <a:pPr algn="l"/>
            <a:r>
              <a:rPr lang="zh-CN" sz="2600" b="1" dirty="0">
                <a:solidFill>
                  <a:srgbClr val="254FEB"/>
                </a:solidFill>
                <a:latin typeface="黑体"/>
                <a:ea typeface="Microsoft YaHei"/>
                <a:cs typeface="黑体"/>
              </a:rPr>
              <a:t>项目价值与后续计划</a:t>
            </a:r>
          </a:p>
        </p:txBody>
      </p:sp>
      <p:grpSp>
        <p:nvGrpSpPr>
          <p:cNvPr id="5" name="roadmap-text-0"/>
          <p:cNvGrpSpPr/>
          <p:nvPr/>
        </p:nvGrpSpPr>
        <p:grpSpPr>
          <a:xfrm>
            <a:off x="607314" y="1501616"/>
            <a:ext cx="6269990" cy="454724"/>
            <a:chOff x="607314" y="1501616"/>
            <a:chExt cx="6269990" cy="454724"/>
          </a:xfrm>
        </p:grpSpPr>
        <p:sp>
          <p:nvSpPr>
            <p:cNvPr id="4" name="TextBox 4"/>
            <p:cNvSpPr txBox="1"/>
            <p:nvPr/>
          </p:nvSpPr>
          <p:spPr>
            <a:xfrm>
              <a:off x="607314" y="1501616"/>
              <a:ext cx="6269990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320" b="1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以可复核的调度结果支撑方案比较与后续优化</a:t>
              </a:r>
            </a:p>
          </p:txBody>
        </p:sp>
      </p:grpSp>
      <p:grpSp>
        <p:nvGrpSpPr>
          <p:cNvPr id="7" name="roadmap-text-1"/>
          <p:cNvGrpSpPr/>
          <p:nvPr/>
        </p:nvGrpSpPr>
        <p:grpSpPr>
          <a:xfrm>
            <a:off x="607695" y="2262188"/>
            <a:ext cx="1840230" cy="440055"/>
            <a:chOff x="607695" y="2262188"/>
            <a:chExt cx="1840230" cy="440055"/>
          </a:xfrm>
        </p:grpSpPr>
        <p:sp>
          <p:nvSpPr>
            <p:cNvPr id="6" name="TextBox 6"/>
            <p:cNvSpPr txBox="1"/>
            <p:nvPr/>
          </p:nvSpPr>
          <p:spPr>
            <a:xfrm>
              <a:off x="607695" y="2262188"/>
              <a:ext cx="184023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54FEB"/>
                  </a:solidFill>
                  <a:latin typeface="Arial"/>
                  <a:ea typeface="Microsoft YaHei"/>
                  <a:cs typeface="Arial"/>
                </a:rPr>
                <a:t>当前交付价值</a:t>
              </a:r>
            </a:p>
          </p:txBody>
        </p:sp>
      </p:grpSp>
      <p:grpSp>
        <p:nvGrpSpPr>
          <p:cNvPr id="9" name="roadmap-text-2"/>
          <p:cNvGrpSpPr/>
          <p:nvPr/>
        </p:nvGrpSpPr>
        <p:grpSpPr>
          <a:xfrm>
            <a:off x="608457" y="2811780"/>
            <a:ext cx="3979164" cy="410718"/>
            <a:chOff x="608457" y="2811780"/>
            <a:chExt cx="3979164" cy="410718"/>
          </a:xfrm>
        </p:grpSpPr>
        <p:sp>
          <p:nvSpPr>
            <p:cNvPr id="8" name="TextBox 8"/>
            <p:cNvSpPr txBox="1"/>
            <p:nvPr/>
          </p:nvSpPr>
          <p:spPr>
            <a:xfrm>
              <a:off x="608457" y="2811780"/>
              <a:ext cx="39791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可比较：同一环境评估不同策略</a:t>
              </a:r>
            </a:p>
          </p:txBody>
        </p:sp>
      </p:grpSp>
      <p:grpSp>
        <p:nvGrpSpPr>
          <p:cNvPr id="11" name="roadmap-text-3"/>
          <p:cNvGrpSpPr/>
          <p:nvPr/>
        </p:nvGrpSpPr>
        <p:grpSpPr>
          <a:xfrm>
            <a:off x="609219" y="3228022"/>
            <a:ext cx="4482465" cy="381381"/>
            <a:chOff x="609219" y="3228022"/>
            <a:chExt cx="4482465" cy="381381"/>
          </a:xfrm>
        </p:grpSpPr>
        <p:sp>
          <p:nvSpPr>
            <p:cNvPr id="10" name="TextBox 10"/>
            <p:cNvSpPr txBox="1"/>
            <p:nvPr/>
          </p:nvSpPr>
          <p:spPr>
            <a:xfrm>
              <a:off x="609219" y="3228022"/>
              <a:ext cx="448246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同时呈现完成时间、合法性与推理耗时</a:t>
              </a:r>
            </a:p>
          </p:txBody>
        </p:sp>
      </p:grpSp>
      <p:grpSp>
        <p:nvGrpSpPr>
          <p:cNvPr id="13" name="roadmap-text-4"/>
          <p:cNvGrpSpPr/>
          <p:nvPr/>
        </p:nvGrpSpPr>
        <p:grpSpPr>
          <a:xfrm>
            <a:off x="608457" y="3783330"/>
            <a:ext cx="4261866" cy="410718"/>
            <a:chOff x="608457" y="3783330"/>
            <a:chExt cx="4261866" cy="410718"/>
          </a:xfrm>
        </p:grpSpPr>
        <p:sp>
          <p:nvSpPr>
            <p:cNvPr id="12" name="TextBox 12"/>
            <p:cNvSpPr txBox="1"/>
            <p:nvPr/>
          </p:nvSpPr>
          <p:spPr>
            <a:xfrm>
              <a:off x="608457" y="3783330"/>
              <a:ext cx="426186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可解释：追踪任务依赖和节点等待</a:t>
              </a:r>
            </a:p>
          </p:txBody>
        </p:sp>
      </p:grpSp>
      <p:grpSp>
        <p:nvGrpSpPr>
          <p:cNvPr id="15" name="roadmap-text-5"/>
          <p:cNvGrpSpPr/>
          <p:nvPr/>
        </p:nvGrpSpPr>
        <p:grpSpPr>
          <a:xfrm>
            <a:off x="609219" y="4199572"/>
            <a:ext cx="4450100" cy="381381"/>
            <a:chOff x="609219" y="4199572"/>
            <a:chExt cx="4450100" cy="381381"/>
          </a:xfrm>
        </p:grpSpPr>
        <p:sp>
          <p:nvSpPr>
            <p:cNvPr id="14" name="TextBox 14"/>
            <p:cNvSpPr txBox="1"/>
            <p:nvPr/>
          </p:nvSpPr>
          <p:spPr>
            <a:xfrm>
              <a:off x="609219" y="4199572"/>
              <a:ext cx="445010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通过时间线与 DAG 详情定位执行区间</a:t>
              </a:r>
            </a:p>
          </p:txBody>
        </p:sp>
      </p:grpSp>
      <p:grpSp>
        <p:nvGrpSpPr>
          <p:cNvPr id="17" name="roadmap-text-6"/>
          <p:cNvGrpSpPr/>
          <p:nvPr/>
        </p:nvGrpSpPr>
        <p:grpSpPr>
          <a:xfrm>
            <a:off x="608457" y="4754880"/>
            <a:ext cx="3696462" cy="410718"/>
            <a:chOff x="608457" y="4754880"/>
            <a:chExt cx="3696462" cy="410718"/>
          </a:xfrm>
        </p:grpSpPr>
        <p:sp>
          <p:nvSpPr>
            <p:cNvPr id="16" name="TextBox 16"/>
            <p:cNvSpPr txBox="1"/>
            <p:nvPr/>
          </p:nvSpPr>
          <p:spPr>
            <a:xfrm>
              <a:off x="608457" y="4754880"/>
              <a:ext cx="369646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可复核：导出结果与运行来源</a:t>
              </a:r>
            </a:p>
          </p:txBody>
        </p:sp>
      </p:grpSp>
      <p:grpSp>
        <p:nvGrpSpPr>
          <p:cNvPr id="19" name="roadmap-text-7"/>
          <p:cNvGrpSpPr/>
          <p:nvPr/>
        </p:nvGrpSpPr>
        <p:grpSpPr>
          <a:xfrm>
            <a:off x="609219" y="5171122"/>
            <a:ext cx="3957447" cy="381381"/>
            <a:chOff x="609219" y="5171122"/>
            <a:chExt cx="3957447" cy="381381"/>
          </a:xfrm>
        </p:grpSpPr>
        <p:sp>
          <p:nvSpPr>
            <p:cNvPr id="18" name="TextBox 18"/>
            <p:cNvSpPr txBox="1"/>
            <p:nvPr/>
          </p:nvSpPr>
          <p:spPr>
            <a:xfrm>
              <a:off x="609219" y="5171122"/>
              <a:ext cx="395744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保存配置、模型来源与逐场景结果</a:t>
              </a:r>
            </a:p>
          </p:txBody>
        </p:sp>
      </p:grpSp>
      <p:grpSp>
        <p:nvGrpSpPr>
          <p:cNvPr id="21" name="roadmap-text-8"/>
          <p:cNvGrpSpPr/>
          <p:nvPr/>
        </p:nvGrpSpPr>
        <p:grpSpPr>
          <a:xfrm>
            <a:off x="6179820" y="2262188"/>
            <a:ext cx="1840230" cy="440055"/>
            <a:chOff x="6179820" y="2262188"/>
            <a:chExt cx="1840230" cy="440055"/>
          </a:xfrm>
        </p:grpSpPr>
        <p:sp>
          <p:nvSpPr>
            <p:cNvPr id="20" name="TextBox 20"/>
            <p:cNvSpPr txBox="1"/>
            <p:nvPr/>
          </p:nvSpPr>
          <p:spPr>
            <a:xfrm>
              <a:off x="6179820" y="2262188"/>
              <a:ext cx="184023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54FEB"/>
                  </a:solidFill>
                  <a:latin typeface="Arial"/>
                  <a:ea typeface="Microsoft YaHei"/>
                  <a:cs typeface="Arial"/>
                </a:rPr>
                <a:t>后续验证重点</a:t>
              </a:r>
            </a:p>
          </p:txBody>
        </p:sp>
      </p:grpSp>
      <p:grpSp>
        <p:nvGrpSpPr>
          <p:cNvPr id="23" name="roadmap-text-9"/>
          <p:cNvGrpSpPr/>
          <p:nvPr/>
        </p:nvGrpSpPr>
        <p:grpSpPr>
          <a:xfrm>
            <a:off x="6180582" y="2811780"/>
            <a:ext cx="2565654" cy="410718"/>
            <a:chOff x="6180582" y="2811780"/>
            <a:chExt cx="2565654" cy="410718"/>
          </a:xfrm>
        </p:grpSpPr>
        <p:sp>
          <p:nvSpPr>
            <p:cNvPr id="22" name="TextBox 22"/>
            <p:cNvSpPr txBox="1"/>
            <p:nvPr/>
          </p:nvSpPr>
          <p:spPr>
            <a:xfrm>
              <a:off x="6180582" y="2811780"/>
              <a:ext cx="25656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独立测试与学习增益</a:t>
              </a:r>
            </a:p>
          </p:txBody>
        </p:sp>
      </p:grpSp>
      <p:grpSp>
        <p:nvGrpSpPr>
          <p:cNvPr id="25" name="roadmap-text-10"/>
          <p:cNvGrpSpPr/>
          <p:nvPr/>
        </p:nvGrpSpPr>
        <p:grpSpPr>
          <a:xfrm>
            <a:off x="6181344" y="3228022"/>
            <a:ext cx="4715993" cy="381381"/>
            <a:chOff x="6181344" y="3228022"/>
            <a:chExt cx="4715993" cy="381381"/>
          </a:xfrm>
        </p:grpSpPr>
        <p:sp>
          <p:nvSpPr>
            <p:cNvPr id="24" name="TextBox 24"/>
            <p:cNvSpPr txBox="1"/>
            <p:nvPr/>
          </p:nvSpPr>
          <p:spPr>
            <a:xfrm>
              <a:off x="6181344" y="3228022"/>
              <a:ext cx="471599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冻结配置后评估 test，受控比较训练阶段</a:t>
              </a:r>
            </a:p>
          </p:txBody>
        </p:sp>
      </p:grpSp>
      <p:grpSp>
        <p:nvGrpSpPr>
          <p:cNvPr id="27" name="roadmap-text-11"/>
          <p:cNvGrpSpPr/>
          <p:nvPr/>
        </p:nvGrpSpPr>
        <p:grpSpPr>
          <a:xfrm>
            <a:off x="6180582" y="3783330"/>
            <a:ext cx="2565654" cy="410718"/>
            <a:chOff x="6180582" y="3783330"/>
            <a:chExt cx="2565654" cy="410718"/>
          </a:xfrm>
        </p:grpSpPr>
        <p:sp>
          <p:nvSpPr>
            <p:cNvPr id="26" name="TextBox 26"/>
            <p:cNvSpPr txBox="1"/>
            <p:nvPr/>
          </p:nvSpPr>
          <p:spPr>
            <a:xfrm>
              <a:off x="6180582" y="3783330"/>
              <a:ext cx="25656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搜索成本与质量取舍</a:t>
              </a:r>
            </a:p>
          </p:txBody>
        </p:sp>
      </p:grpSp>
      <p:grpSp>
        <p:nvGrpSpPr>
          <p:cNvPr id="29" name="roadmap-text-12"/>
          <p:cNvGrpSpPr/>
          <p:nvPr/>
        </p:nvGrpSpPr>
        <p:grpSpPr>
          <a:xfrm>
            <a:off x="6181344" y="4199572"/>
            <a:ext cx="4744974" cy="381381"/>
            <a:chOff x="6181344" y="4199572"/>
            <a:chExt cx="4744974" cy="381381"/>
          </a:xfrm>
        </p:grpSpPr>
        <p:sp>
          <p:nvSpPr>
            <p:cNvPr id="28" name="TextBox 28"/>
            <p:cNvSpPr txBox="1"/>
            <p:nvPr/>
          </p:nvSpPr>
          <p:spPr>
            <a:xfrm>
              <a:off x="6181344" y="4199572"/>
              <a:ext cx="474497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比较搜索预算，减少重复计算与推理耗时</a:t>
              </a:r>
            </a:p>
          </p:txBody>
        </p:sp>
      </p:grpSp>
      <p:grpSp>
        <p:nvGrpSpPr>
          <p:cNvPr id="31" name="roadmap-text-13"/>
          <p:cNvGrpSpPr/>
          <p:nvPr/>
        </p:nvGrpSpPr>
        <p:grpSpPr>
          <a:xfrm>
            <a:off x="6180582" y="4754880"/>
            <a:ext cx="2565654" cy="410718"/>
            <a:chOff x="6180582" y="4754880"/>
            <a:chExt cx="2565654" cy="410718"/>
          </a:xfrm>
        </p:grpSpPr>
        <p:sp>
          <p:nvSpPr>
            <p:cNvPr id="30" name="TextBox 30"/>
            <p:cNvSpPr txBox="1"/>
            <p:nvPr/>
          </p:nvSpPr>
          <p:spPr>
            <a:xfrm>
              <a:off x="6180582" y="4754880"/>
              <a:ext cx="25656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真实执行与运行反馈</a:t>
              </a:r>
            </a:p>
          </p:txBody>
        </p:sp>
      </p:grpSp>
      <p:grpSp>
        <p:nvGrpSpPr>
          <p:cNvPr id="33" name="roadmap-text-14"/>
          <p:cNvGrpSpPr/>
          <p:nvPr/>
        </p:nvGrpSpPr>
        <p:grpSpPr>
          <a:xfrm>
            <a:off x="6181344" y="5171122"/>
            <a:ext cx="4219956" cy="381381"/>
            <a:chOff x="6181344" y="5171122"/>
            <a:chExt cx="4219956" cy="381381"/>
          </a:xfrm>
        </p:grpSpPr>
        <p:sp>
          <p:nvSpPr>
            <p:cNvPr id="32" name="TextBox 32"/>
            <p:cNvSpPr txBox="1"/>
            <p:nvPr/>
          </p:nvSpPr>
          <p:spPr>
            <a:xfrm>
              <a:off x="6181344" y="5171122"/>
              <a:ext cx="421995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14213A"/>
                  </a:solidFill>
                  <a:latin typeface="Arial"/>
                  <a:ea typeface="Microsoft YaHei"/>
                  <a:cs typeface="Arial"/>
                </a:rPr>
                <a:t>验证多机通信、执行误差与故障处理</a:t>
              </a:r>
            </a:p>
          </p:txBody>
        </p:sp>
      </p:grpSp>
      <p:grpSp>
        <p:nvGrpSpPr>
          <p:cNvPr id="35" name="roadmap-text-15"/>
          <p:cNvGrpSpPr/>
          <p:nvPr/>
        </p:nvGrpSpPr>
        <p:grpSpPr>
          <a:xfrm>
            <a:off x="611505" y="6124575"/>
            <a:ext cx="7466773" cy="293370"/>
            <a:chOff x="611505" y="6124575"/>
            <a:chExt cx="7466773" cy="293370"/>
          </a:xfrm>
        </p:grpSpPr>
        <p:sp>
          <p:nvSpPr>
            <p:cNvPr id="34" name="TextBox 34"/>
            <p:cNvSpPr txBox="1"/>
            <p:nvPr/>
          </p:nvSpPr>
          <p:spPr>
            <a:xfrm>
              <a:off x="611505" y="6124575"/>
              <a:ext cx="74667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3657D"/>
                  </a:solidFill>
                  <a:latin typeface="Arial"/>
                  <a:ea typeface="Microsoft YaHei"/>
                  <a:cs typeface="Arial"/>
                </a:rPr>
                <a:t>已完成 openEuler / openKylin CPU 虚拟机兼容性烟测；真实集群性能仍需单独验证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本占位符 37"/>
          <p:cNvSpPr>
            <a:spLocks noGrp="1"/>
          </p:cNvSpPr>
          <p:nvPr>
            <p:ph type="body" sz="quarter" idx="14"/>
          </p:nvPr>
        </p:nvSpPr>
        <p:spPr>
          <a:xfrm>
            <a:off x="5356805" y="4787265"/>
            <a:ext cx="3866483" cy="290227"/>
          </a:xfrm>
          <a:prstGeom prst="rect">
            <a:avLst/>
          </a:prstGeom>
          <a:noFill/>
          <a:ln>
            <a:noFill/>
          </a:ln>
        </p:spPr>
        <p:txBody>
          <a:bodyPr wrap="none" lIns="82582" tIns="3143" rIns="0" bIns="0" anchor="t" anchorCtr="0">
            <a:noAutofit/>
          </a:bodyPr>
          <a:lstStyle/>
          <a:p>
            <a:pPr algn="l"/>
            <a:r>
              <a:rPr lang="zh-CN" sz="1800" dirty="0">
                <a:solidFill>
                  <a:srgbClr val="FFFFFF"/>
                </a:solidFill>
                <a:latin typeface="黑体"/>
                <a:ea typeface="Microsoft YaHei"/>
                <a:cs typeface="黑体"/>
              </a:rPr>
              <a:t>云边智链</a:t>
            </a:r>
          </a:p>
        </p:txBody>
      </p:sp>
      <p:sp>
        <p:nvSpPr>
          <p:cNvPr id="40" name="文本占位符 39"/>
          <p:cNvSpPr>
            <a:spLocks noGrp="1"/>
          </p:cNvSpPr>
          <p:nvPr>
            <p:ph type="body" sz="quarter" idx="20"/>
          </p:nvPr>
        </p:nvSpPr>
        <p:spPr>
          <a:xfrm>
            <a:off x="5356805" y="5223510"/>
            <a:ext cx="3866483" cy="290227"/>
          </a:xfrm>
          <a:prstGeom prst="rect">
            <a:avLst/>
          </a:prstGeom>
          <a:noFill/>
          <a:ln>
            <a:noFill/>
          </a:ln>
        </p:spPr>
        <p:txBody>
          <a:bodyPr wrap="none" lIns="82582" tIns="5048" rIns="0" bIns="0" anchor="t" anchorCtr="0">
            <a:noAutofit/>
          </a:bodyPr>
          <a:lstStyle/>
          <a:p>
            <a:pPr algn="l"/>
            <a:r>
              <a:rPr lang="zh-CN" sz="1800" dirty="0">
                <a:solidFill>
                  <a:srgbClr val="FFFFFF"/>
                </a:solidFill>
                <a:latin typeface="黑体"/>
                <a:ea typeface="Microsoft YaHei"/>
                <a:cs typeface="黑体"/>
              </a:rPr>
              <a:t>2026年10月</a:t>
            </a:r>
          </a:p>
        </p:txBody>
      </p:sp>
      <p:sp>
        <p:nvSpPr>
          <p:cNvPr id="33" name="文本占位符 50"/>
          <p:cNvSpPr>
            <a:spLocks noGrp="1"/>
          </p:cNvSpPr>
          <p:nvPr/>
        </p:nvSpPr>
        <p:spPr>
          <a:xfrm>
            <a:off x="4195000" y="4787123"/>
            <a:ext cx="1161805" cy="29036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参赛团队：</a:t>
            </a:r>
          </a:p>
        </p:txBody>
      </p:sp>
      <p:sp>
        <p:nvSpPr>
          <p:cNvPr id="34" name="文本占位符 53"/>
          <p:cNvSpPr>
            <a:spLocks noGrp="1"/>
          </p:cNvSpPr>
          <p:nvPr/>
        </p:nvSpPr>
        <p:spPr>
          <a:xfrm>
            <a:off x="4195005" y="5223498"/>
            <a:ext cx="1161805" cy="29037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完成日期：</a:t>
            </a:r>
          </a:p>
        </p:txBody>
      </p:sp>
      <p:grpSp>
        <p:nvGrpSpPr>
          <p:cNvPr id="10" name="thanks"/>
          <p:cNvGrpSpPr/>
          <p:nvPr/>
        </p:nvGrpSpPr>
        <p:grpSpPr>
          <a:xfrm>
            <a:off x="2666238" y="1845469"/>
            <a:ext cx="6859524" cy="660082"/>
            <a:chOff x="2666238" y="1845469"/>
            <a:chExt cx="6859524" cy="660082"/>
          </a:xfrm>
        </p:grpSpPr>
        <p:sp>
          <p:nvSpPr>
            <p:cNvPr id="9" name="TextBox 9"/>
            <p:cNvSpPr txBox="1"/>
            <p:nvPr/>
          </p:nvSpPr>
          <p:spPr>
            <a:xfrm>
              <a:off x="2666238" y="1845469"/>
              <a:ext cx="6859524" cy="66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80" b="1" dirty="0">
                  <a:solidFill>
                    <a:srgbClr val="FFFFFF"/>
                  </a:solidFill>
                  <a:latin typeface="黑体"/>
                  <a:ea typeface="Microsoft YaHei"/>
                  <a:cs typeface="黑体"/>
                </a:rPr>
                <a:t>让调度方案更短、可校验、可复现</a:t>
              </a:r>
            </a:p>
          </p:txBody>
        </p:sp>
      </p:grpSp>
      <p:grpSp>
        <p:nvGrpSpPr>
          <p:cNvPr id="15" name="closing"/>
          <p:cNvGrpSpPr/>
          <p:nvPr/>
        </p:nvGrpSpPr>
        <p:grpSpPr>
          <a:xfrm>
            <a:off x="4195000" y="3043422"/>
            <a:ext cx="3801999" cy="498729"/>
            <a:chOff x="4195000" y="4001452"/>
            <a:chExt cx="3801999" cy="498729"/>
          </a:xfrm>
        </p:grpSpPr>
        <p:sp>
          <p:nvSpPr>
            <p:cNvPr id="14" name="TextBox 14"/>
            <p:cNvSpPr txBox="1"/>
            <p:nvPr/>
          </p:nvSpPr>
          <p:spPr>
            <a:xfrm>
              <a:off x="4195000" y="4001452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FFFFFF"/>
                  </a:solidFill>
                  <a:latin typeface="黑体"/>
                  <a:ea typeface="Microsoft YaHei"/>
                  <a:cs typeface="黑体"/>
                </a:rPr>
                <a:t>谢谢各位评委，欢迎提问</a:t>
              </a:r>
            </a:p>
          </p:txBody>
        </p:sp>
      </p:grp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DFlMjQ2NDczNzA0OWJlNDA3OTJmZGZiMDA3NzgwZjM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AICARD_INVALID" val="Invalid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AICARD_INVALID" val="Invalid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7761</Words>
  <Application>Microsoft Office PowerPoint</Application>
  <PresentationFormat>宽屏</PresentationFormat>
  <Paragraphs>254</Paragraphs>
  <Slides>25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29" baseType="lpstr">
      <vt:lpstr>等线</vt:lpstr>
      <vt:lpstr>黑体</vt:lpstr>
      <vt:lpstr>Arial</vt:lpstr>
      <vt:lpstr>Office 主题​​</vt:lpstr>
      <vt:lpstr>PowerPoint 演示文稿</vt:lpstr>
      <vt:lpstr>PowerPoint 演示文稿</vt:lpstr>
      <vt:lpstr>项目介绍</vt:lpstr>
      <vt:lpstr>PowerPoint 演示文稿</vt:lpstr>
      <vt:lpstr>1.1 设计背景</vt:lpstr>
      <vt:lpstr>1.2 设计目标</vt:lpstr>
      <vt:lpstr>1.3 较同类产品的优势</vt:lpstr>
      <vt:lpstr>1.4 作品原创性情况说明</vt:lpstr>
      <vt:lpstr>1.5 应用场景与问题范围</vt:lpstr>
      <vt:lpstr>PowerPoint 演示文稿</vt:lpstr>
      <vt:lpstr>2.1 功能亮点</vt:lpstr>
      <vt:lpstr>2.2 其它亮点</vt:lpstr>
      <vt:lpstr>PowerPoint 演示文稿</vt:lpstr>
      <vt:lpstr>3.1 离线 DAG 分层调度适配</vt:lpstr>
      <vt:lpstr>3.2 独立候选搜索与校验</vt:lpstr>
      <vt:lpstr>3.3 基线策略与决策差异</vt:lpstr>
      <vt:lpstr>PowerPoint 演示文稿</vt:lpstr>
      <vt:lpstr>4.1 项目测试结果说明</vt:lpstr>
      <vt:lpstr>4.2 实验协议与收益归因</vt:lpstr>
      <vt:lpstr>PowerPoint 演示文稿</vt:lpstr>
      <vt:lpstr>5.1 作品演示播放：启动与场景</vt:lpstr>
      <vt:lpstr>5.2 作品演示：策略与时间线</vt:lpstr>
      <vt:lpstr>5.3 作品演示：依赖与结果导出</vt:lpstr>
      <vt:lpstr>项目价值与后续计划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17 Amzingj</cp:lastModifiedBy>
  <cp:revision>86</cp:revision>
  <dcterms:created xsi:type="dcterms:W3CDTF">2024-08-05T03:21:00Z</dcterms:created>
  <dcterms:modified xsi:type="dcterms:W3CDTF">2026-10-02T04:13:02Z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635092E4E9B944459AE593E852D97D2E_13</vt:lpwstr>
  </property>
  <property fmtid="{D5CDD505-2E9C-101B-9397-08002B2CF9AE}" pid="3" name="KSOProductBuildVer">
    <vt:lpwstr>2052-12.1.0.26895</vt:lpwstr>
  </property>
</Properties>
</file>