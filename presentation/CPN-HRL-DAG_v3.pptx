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heme/theme2.xml" ContentType="application/vnd.openxmlformats-officedocument.theme+xml"/>
  <Override PartName="/ppt/tags/tag36.xml" ContentType="application/vnd.openxmlformats-officedocument.presentationml.tags+xml"/>
  <Override PartName="/ppt/notesSlides/notesSlide1.xml" ContentType="application/vnd.openxmlformats-officedocument.presentationml.notesSlide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1.xml" ContentType="application/vnd.openxmlformats-officedocument.drawingml.chart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22.xml" ContentType="application/vnd.openxmlformats-officedocument.presentationml.notesSlide+xml"/>
  <Override PartName="/ppt/charts/chart4.xml" ContentType="application/vnd.openxmlformats-officedocument.drawingml.chart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tags/tag57.xml" ContentType="application/vnd.openxmlformats-officedocument.presentationml.tags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7"/>
  </p:notesMasterIdLst>
  <p:sldIdLst>
    <p:sldId id="1001" r:id="rId2"/>
    <p:sldId id="1002" r:id="rId3"/>
    <p:sldId id="1003" r:id="rId4"/>
    <p:sldId id="1004" r:id="rId5"/>
    <p:sldId id="1005" r:id="rId6"/>
    <p:sldId id="1006" r:id="rId7"/>
    <p:sldId id="1007" r:id="rId8"/>
    <p:sldId id="1008" r:id="rId9"/>
    <p:sldId id="1009" r:id="rId10"/>
    <p:sldId id="1010" r:id="rId11"/>
    <p:sldId id="1011" r:id="rId12"/>
    <p:sldId id="1012" r:id="rId13"/>
    <p:sldId id="1013" r:id="rId14"/>
    <p:sldId id="1014" r:id="rId15"/>
    <p:sldId id="1015" r:id="rId16"/>
    <p:sldId id="1016" r:id="rId17"/>
    <p:sldId id="1017" r:id="rId18"/>
    <p:sldId id="1018" r:id="rId19"/>
    <p:sldId id="1019" r:id="rId20"/>
    <p:sldId id="1020" r:id="rId21"/>
    <p:sldId id="1021" r:id="rId22"/>
    <p:sldId id="1022" r:id="rId23"/>
    <p:sldId id="1023" r:id="rId24"/>
    <p:sldId id="1024" r:id="rId25"/>
    <p:sldId id="1025" r:id="rId26"/>
    <p:sldId id="1026" r:id="rId27"/>
    <p:sldId id="1027" r:id="rId28"/>
    <p:sldId id="1028" r:id="rId29"/>
    <p:sldId id="1029" r:id="rId30"/>
    <p:sldId id="1030" r:id="rId31"/>
    <p:sldId id="1031" r:id="rId32"/>
    <p:sldId id="1032" r:id="rId33"/>
    <p:sldId id="1033" r:id="rId34"/>
    <p:sldId id="1034" r:id="rId35"/>
    <p:sldId id="1035" r:id="rId36"/>
  </p:sldIdLst>
  <p:sldSz cx="12192000" cy="6858000"/>
  <p:notesSz cx="6858000" cy="9144000"/>
  <p:custDataLst>
    <p:tags r:id="rId3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7F08"/>
    <a:srgbClr val="08F1F4"/>
    <a:srgbClr val="0C0588"/>
    <a:srgbClr val="0AE9F5"/>
    <a:srgbClr val="00C9DC"/>
    <a:srgbClr val="969696"/>
    <a:srgbClr val="254FEB"/>
    <a:srgbClr val="F0F5FC"/>
    <a:srgbClr val="0A3CF5"/>
    <a:srgbClr val="0A06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86"/>
    <p:restoredTop sz="96405"/>
  </p:normalViewPr>
  <p:slideViewPr>
    <p:cSldViewPr snapToGrid="0" snapToObjects="1">
      <p:cViewPr varScale="1">
        <p:scale>
          <a:sx n="128" d="100"/>
          <a:sy n="128" d="100"/>
        </p:scale>
        <p:origin x="235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gs" Target="tags/tag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lang="zh-CN" altLang="en-US" sz="1875" b="1">
                <a:solidFill>
                  <a:srgbClr val="14213A"/>
                </a:solidFill>
                <a:latin typeface="黑体"/>
                <a:ea typeface="黑体"/>
                <a:cs typeface="黑体"/>
              </a:rPr>
              <a:t>候选 </a:t>
            </a:r>
            <a:r>
              <a:rPr lang="en-US" altLang="zh-CN" sz="1875" b="1">
                <a:solidFill>
                  <a:srgbClr val="14213A"/>
                </a:solidFill>
                <a:latin typeface="黑体"/>
                <a:ea typeface="黑体"/>
                <a:cs typeface="黑体"/>
              </a:rPr>
              <a:t>makespan</a:t>
            </a:r>
            <a:r>
              <a:rPr lang="zh-CN" altLang="en-US" sz="1875" b="1">
                <a:solidFill>
                  <a:srgbClr val="14213A"/>
                </a:solidFill>
                <a:latin typeface="黑体"/>
                <a:ea typeface="黑体"/>
                <a:cs typeface="黑体"/>
              </a:rPr>
              <a:t>（模拟时间）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完成时间</c:v>
          </c:tx>
          <c:spPr>
            <a:solidFill>
              <a:srgbClr val="254FEB"/>
            </a:solidFill>
          </c:spPr>
          <c:invertIfNegative val="1"/>
          <c:dPt>
            <c:idx val="3"/>
            <c:invertIfNegative val="0"/>
            <c:bubble3D val="0"/>
            <c:spPr>
              <a:solidFill>
                <a:srgbClr val="00899B"/>
              </a:solidFill>
            </c:spPr>
            <c:extLst>
              <c:ext xmlns:c16="http://schemas.microsoft.com/office/drawing/2014/chart" uri="{C3380CC4-5D6E-409C-BE32-E72D297353CC}">
                <c16:uniqueId val="{00000001-7ED6-4C4A-B0EA-65CF5EC359D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75">
                    <a:solidFill>
                      <a:srgbClr val="14213A"/>
                    </a:solidFill>
                    <a:latin typeface="黑体"/>
                    <a:ea typeface="黑体"/>
                    <a:cs typeface="黑体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Data'!$A$2:$A$5</c:f>
              <c:strCache>
                <c:ptCount val="4"/>
                <c:pt idx="0">
                  <c:v>原方案</c:v>
                </c:pt>
                <c:pt idx="1">
                  <c:v>仅移 a</c:v>
                </c:pt>
                <c:pt idx="2">
                  <c:v>仅移 b</c:v>
                </c:pt>
                <c:pt idx="3">
                  <c:v>共同移 a、b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6</c:v>
                </c:pt>
                <c:pt idx="1">
                  <c:v>14</c:v>
                </c:pt>
                <c:pt idx="2">
                  <c:v>15</c:v>
                </c:pt>
                <c:pt idx="3">
                  <c:v>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7ED6-4C4A-B0EA-65CF5EC359D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53657D"/>
                </a:solidFill>
                <a:latin typeface="黑体"/>
                <a:ea typeface="黑体"/>
                <a:cs typeface="黑体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8"/>
          <c:min val="0"/>
        </c:scaling>
        <c:delete val="0"/>
        <c:axPos val="l"/>
        <c:majorGridlines>
          <c:spPr>
            <a:ln w="9525">
              <a:solidFill>
                <a:srgbClr val="D9E2F1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53657D"/>
                </a:solidFill>
                <a:latin typeface="黑体"/>
                <a:ea typeface="黑体"/>
                <a:cs typeface="黑体"/>
              </a:defRPr>
            </a:pPr>
            <a:endParaRPr lang="zh-CN"/>
          </a:p>
        </c:txPr>
        <c:crossAx val="48650112"/>
        <c:crosses val="autoZero"/>
        <c:crossBetween val="between"/>
        <c:majorUnit val="6"/>
      </c:valAx>
      <c:spPr>
        <a:solidFill>
          <a:srgbClr val="F0F5FC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0F5FC"/>
    </a:solidFill>
    <a:ln w="0"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lang="zh-CN" altLang="en-US" sz="1875" b="1">
                <a:solidFill>
                  <a:srgbClr val="14213A"/>
                </a:solidFill>
                <a:latin typeface="黑体"/>
                <a:ea typeface="黑体"/>
                <a:cs typeface="黑体"/>
              </a:rPr>
              <a:t>任务规模分组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组合 mean_ratio</c:v>
          </c:tx>
          <c:spPr>
            <a:solidFill>
              <a:srgbClr val="254FEB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75">
                    <a:solidFill>
                      <a:srgbClr val="14213A"/>
                    </a:solidFill>
                    <a:latin typeface="黑体"/>
                    <a:ea typeface="黑体"/>
                    <a:cs typeface="黑体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50 任务</c:v>
                </c:pt>
                <c:pt idx="1">
                  <c:v>100 任务</c:v>
                </c:pt>
                <c:pt idx="2">
                  <c:v>300 任务</c:v>
                </c:pt>
              </c:strCache>
            </c:strRef>
          </c:cat>
          <c:val>
            <c:numRef>
              <c:f>'Chart Data'!$B$2:$B$4</c:f>
              <c:numCache>
                <c:formatCode>0.0000</c:formatCode>
                <c:ptCount val="3"/>
                <c:pt idx="0">
                  <c:v>0.91515999999999997</c:v>
                </c:pt>
                <c:pt idx="1">
                  <c:v>0.88980800000000004</c:v>
                </c:pt>
                <c:pt idx="2">
                  <c:v>0.94838999999999996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33B-4A22-8529-52D73EF3935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53657D"/>
                </a:solidFill>
                <a:latin typeface="黑体"/>
                <a:ea typeface="黑体"/>
                <a:cs typeface="黑体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.1000000000000001"/>
          <c:min val="0"/>
        </c:scaling>
        <c:delete val="0"/>
        <c:axPos val="l"/>
        <c:majorGridlines>
          <c:spPr>
            <a:ln w="9525">
              <a:solidFill>
                <a:srgbClr val="D9E2F1"/>
              </a:solidFill>
            </a:ln>
          </c:spPr>
        </c:majorGridlines>
        <c:numFmt formatCode="0.00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53657D"/>
                </a:solidFill>
                <a:latin typeface="黑体"/>
                <a:ea typeface="黑体"/>
                <a:cs typeface="黑体"/>
              </a:defRPr>
            </a:pPr>
            <a:endParaRPr lang="zh-CN"/>
          </a:p>
        </c:txPr>
        <c:crossAx val="48650112"/>
        <c:crosses val="autoZero"/>
        <c:crossBetween val="between"/>
        <c:majorUnit val="0.25"/>
      </c:valAx>
      <c:spPr>
        <a:solidFill>
          <a:srgbClr val="F0F5FC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0F5FC"/>
    </a:solidFill>
    <a:ln w="0">
      <a:noFill/>
    </a:ln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lang="zh-CN" altLang="en-US" sz="1875" b="1">
                <a:solidFill>
                  <a:srgbClr val="14213A"/>
                </a:solidFill>
                <a:latin typeface="黑体"/>
                <a:ea typeface="黑体"/>
                <a:cs typeface="黑体"/>
              </a:rPr>
              <a:t>资源配置分组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组合 mean_ratio</c:v>
          </c:tx>
          <c:spPr>
            <a:solidFill>
              <a:srgbClr val="00899B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75">
                    <a:solidFill>
                      <a:srgbClr val="14213A"/>
                    </a:solidFill>
                    <a:latin typeface="黑体"/>
                    <a:ea typeface="黑体"/>
                    <a:cs typeface="黑体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同构资源</c:v>
                </c:pt>
                <c:pt idx="1">
                  <c:v>异构资源</c:v>
                </c:pt>
              </c:strCache>
            </c:strRef>
          </c:cat>
          <c:val>
            <c:numRef>
              <c:f>'Chart Data'!$B$2:$B$3</c:f>
              <c:numCache>
                <c:formatCode>0.0000</c:formatCode>
                <c:ptCount val="2"/>
                <c:pt idx="0">
                  <c:v>0.99716700000000003</c:v>
                </c:pt>
                <c:pt idx="1">
                  <c:v>0.83928000000000003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1BA3-49DC-B216-5B7E38068D6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53657D"/>
                </a:solidFill>
                <a:latin typeface="黑体"/>
                <a:ea typeface="黑体"/>
                <a:cs typeface="黑体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.1000000000000001"/>
          <c:min val="0"/>
        </c:scaling>
        <c:delete val="0"/>
        <c:axPos val="l"/>
        <c:majorGridlines>
          <c:spPr>
            <a:ln w="9525">
              <a:solidFill>
                <a:srgbClr val="D9E2F1"/>
              </a:solidFill>
            </a:ln>
          </c:spPr>
        </c:majorGridlines>
        <c:numFmt formatCode="0.00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53657D"/>
                </a:solidFill>
                <a:latin typeface="黑体"/>
                <a:ea typeface="黑体"/>
                <a:cs typeface="黑体"/>
              </a:defRPr>
            </a:pPr>
            <a:endParaRPr lang="zh-CN"/>
          </a:p>
        </c:txPr>
        <c:crossAx val="48650112"/>
        <c:crosses val="autoZero"/>
        <c:crossBetween val="between"/>
        <c:majorUnit val="0.25"/>
      </c:valAx>
      <c:spPr>
        <a:solidFill>
          <a:srgbClr val="F0F5FC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0F5FC"/>
    </a:solidFill>
    <a:ln w="0">
      <a:noFill/>
    </a:ln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lang="zh-CN" altLang="en-US" sz="1875" b="1">
                <a:solidFill>
                  <a:srgbClr val="14213A"/>
                </a:solidFill>
                <a:latin typeface="黑体"/>
                <a:ea typeface="黑体"/>
                <a:cs typeface="黑体"/>
              </a:rPr>
              <a:t>三个种子的验证轨迹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2026</c:v>
          </c:tx>
          <c:spPr>
            <a:ln w="28575">
              <a:solidFill>
                <a:srgbClr val="254FEB"/>
              </a:solidFill>
            </a:ln>
          </c:spPr>
          <c:marker>
            <c:symbol val="circle"/>
            <c:size val="7"/>
            <c:spPr>
              <a:solidFill>
                <a:srgbClr val="254FEB"/>
              </a:solidFill>
            </c:spPr>
          </c:marker>
          <c:cat>
            <c:numRef>
              <c:f>'Chart Data'!$A$2:$A$5</c:f>
              <c:numCache>
                <c:formatCode>General</c:formatCode>
                <c:ptCount val="4"/>
                <c:pt idx="0">
                  <c:v>0</c:v>
                </c:pt>
                <c:pt idx="1">
                  <c:v>864</c:v>
                </c:pt>
                <c:pt idx="2">
                  <c:v>1728</c:v>
                </c:pt>
                <c:pt idx="3">
                  <c:v>2592</c:v>
                </c:pt>
              </c:numCache>
            </c:numRef>
          </c:cat>
          <c:val>
            <c:numRef>
              <c:f>'Chart Data'!$B$2:$B$5</c:f>
              <c:numCache>
                <c:formatCode>0.00</c:formatCode>
                <c:ptCount val="4"/>
                <c:pt idx="0">
                  <c:v>0.99990793030000003</c:v>
                </c:pt>
                <c:pt idx="1">
                  <c:v>0.99735777510000001</c:v>
                </c:pt>
                <c:pt idx="2">
                  <c:v>1.0026185904</c:v>
                </c:pt>
                <c:pt idx="3">
                  <c:v>1.0063076312000001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7A7-40E3-B1E2-A0F1D109AE02}"/>
            </c:ext>
          </c:extLst>
        </c:ser>
        <c:ser>
          <c:idx val="1"/>
          <c:order val="1"/>
          <c:tx>
            <c:v>2027</c:v>
          </c:tx>
          <c:spPr>
            <a:ln w="28575">
              <a:solidFill>
                <a:srgbClr val="00899B"/>
              </a:solidFill>
            </a:ln>
          </c:spPr>
          <c:marker>
            <c:symbol val="square"/>
            <c:size val="7"/>
            <c:spPr>
              <a:solidFill>
                <a:srgbClr val="00899B"/>
              </a:solidFill>
            </c:spPr>
          </c:marker>
          <c:cat>
            <c:numRef>
              <c:f>'Chart Data'!$C$2:$C$5</c:f>
              <c:numCache>
                <c:formatCode>General</c:formatCode>
                <c:ptCount val="4"/>
                <c:pt idx="0">
                  <c:v>0</c:v>
                </c:pt>
                <c:pt idx="1">
                  <c:v>864</c:v>
                </c:pt>
                <c:pt idx="2">
                  <c:v>1728</c:v>
                </c:pt>
                <c:pt idx="3">
                  <c:v>2592</c:v>
                </c:pt>
              </c:numCache>
            </c:numRef>
          </c:cat>
          <c:val>
            <c:numRef>
              <c:f>'Chart Data'!$D$2:$D$5</c:f>
              <c:numCache>
                <c:formatCode>0.00</c:formatCode>
                <c:ptCount val="4"/>
                <c:pt idx="0">
                  <c:v>0.99990793030000003</c:v>
                </c:pt>
                <c:pt idx="1">
                  <c:v>1.0110293448000001</c:v>
                </c:pt>
                <c:pt idx="2">
                  <c:v>1.0078267750000001</c:v>
                </c:pt>
                <c:pt idx="3">
                  <c:v>1.0296466478999999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7A7-40E3-B1E2-A0F1D109AE02}"/>
            </c:ext>
          </c:extLst>
        </c:ser>
        <c:ser>
          <c:idx val="2"/>
          <c:order val="2"/>
          <c:tx>
            <c:v>2028</c:v>
          </c:tx>
          <c:spPr>
            <a:ln w="28575">
              <a:solidFill>
                <a:srgbClr val="9462B6"/>
              </a:solidFill>
            </a:ln>
          </c:spPr>
          <c:marker>
            <c:symbol val="diamond"/>
            <c:size val="7"/>
            <c:spPr>
              <a:solidFill>
                <a:srgbClr val="9462B6"/>
              </a:solidFill>
            </c:spPr>
          </c:marker>
          <c:cat>
            <c:numRef>
              <c:f>'Chart Data'!$E$2:$E$5</c:f>
              <c:numCache>
                <c:formatCode>General</c:formatCode>
                <c:ptCount val="4"/>
                <c:pt idx="0">
                  <c:v>0</c:v>
                </c:pt>
                <c:pt idx="1">
                  <c:v>864</c:v>
                </c:pt>
                <c:pt idx="2">
                  <c:v>1728</c:v>
                </c:pt>
                <c:pt idx="3">
                  <c:v>2592</c:v>
                </c:pt>
              </c:numCache>
            </c:numRef>
          </c:cat>
          <c:val>
            <c:numRef>
              <c:f>'Chart Data'!$F$2:$F$5</c:f>
              <c:numCache>
                <c:formatCode>0.00</c:formatCode>
                <c:ptCount val="4"/>
                <c:pt idx="0">
                  <c:v>0.99990793030000003</c:v>
                </c:pt>
                <c:pt idx="1">
                  <c:v>1.0005154268000001</c:v>
                </c:pt>
                <c:pt idx="2">
                  <c:v>1.0156562468999999</c:v>
                </c:pt>
                <c:pt idx="3">
                  <c:v>1.0425732190000001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7A7-40E3-B1E2-A0F1D109AE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zh-CN" altLang="en-US"/>
                  <a:t>训练 </a:t>
                </a:r>
                <a:r>
                  <a:rPr lang="en-US"/>
                  <a:t>episodes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53657D"/>
                </a:solidFill>
                <a:latin typeface="黑体"/>
                <a:ea typeface="黑体"/>
                <a:cs typeface="黑体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.05"/>
          <c:min val="0.99"/>
        </c:scaling>
        <c:delete val="0"/>
        <c:axPos val="l"/>
        <c:majorGridlines>
          <c:spPr>
            <a:ln w="9525">
              <a:solidFill>
                <a:srgbClr val="D9E2F1"/>
              </a:solidFill>
            </a:ln>
          </c:spPr>
        </c:majorGridlines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53657D"/>
                </a:solidFill>
                <a:latin typeface="黑体"/>
                <a:ea typeface="黑体"/>
                <a:cs typeface="黑体"/>
              </a:defRPr>
            </a:pPr>
            <a:endParaRPr lang="zh-CN"/>
          </a:p>
        </c:txPr>
        <c:crossAx val="48650112"/>
        <c:crosses val="autoZero"/>
        <c:crossBetween val="between"/>
        <c:majorUnit val="0.02"/>
      </c:valAx>
      <c:spPr>
        <a:solidFill>
          <a:srgbClr val="F0F5FC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500">
              <a:solidFill>
                <a:srgbClr val="14213A"/>
              </a:solidFill>
              <a:latin typeface="黑体"/>
              <a:ea typeface="黑体"/>
              <a:cs typeface="黑体"/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0F5FC"/>
    </a:solidFill>
    <a:ln w="0">
      <a:noFill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2A1F87-F110-1C45-9864-1659D3ED583F}" type="datetimeFigureOut">
              <a:rPr kumimoji="1" lang="zh-CN" altLang="en-US" smtClean="0"/>
              <a:t>2026/10/6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D39FF4-4997-9F4F-A2B0-9107E5679A8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各位评委好，我们的作品是 CPN-HRL-DAG，团队名称是云边智链。项目用可验证的调度方案，缩短云、边、端工作流的总完成时间。项目定位与功能依据为 README.md 和 docs/项目说明书.pdf。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以 A 的输出供 B、C，D 等待两条分支为例。实际开始时间同时受依赖数据到达、通信和节点空闲区间影响。结合本页背景解释后续四项技术难点：时间语义、分层训练耦合、搜索状态隔离、任务块联合迁移。</a:t>
            </a:r>
          </a:p>
          <a:p>
            <a:r>
              <a:t>依据：说明书第 1.1、2.1 节；示意 DAG 不代表业务实测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我们希望同时做到更短、更可信和可复现。系统输入 DAG 与资源配置，输出每个任务的节点和执行区间，并检查依赖、资源可行性和节点时间线。当前实现是调度仿真与算法实验框架，真实集群执行是后续工作。依据为 README.md 的主要功能与已知限制。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最接近的 CPN-HRL 已有两层学习决策和分阶段训练，我们将它适配到离线 DAG。HEFT 与 PEFT 提供启发式调度基础，本项目加入关键链搜索、独立完整候选以及统一校验。优势是能在同一环境下比较、解释和复核方案。来源为 docs/创新说明文档.docx，CPN-HRL DOI 为 10.1007/s44443-026-00690-x，HEFT DOI 为 10.1109/71.993206，PEFT DOI 为 10.1109/TPDS.2013.57。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原始算法思想来自既有研究，项目贡献为任务适配与本地工程实现。源码实现范围不等于全部源码原创。数据、直接软件依赖与复制或改编代码应按实际版本登记许可，hybrid.py 与正式冻结清单的对应关系仍需核对。</a:t>
            </a:r>
          </a:p>
          <a:p>
            <a:r>
              <a:t>依据：说明书第 2.3、5 章；参考 CPN-HRL、LSTM、GAT、PPO、HEFT 与 PEFT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当前输入包括任务依赖、执行代价与通信配置，输出每项任务的节点和执行区间，并进行完整合法性检查。视频处理和数据分析是潜在工作流建模示例，尚未开展对应业务部署。项目目前支持离线仿真与回放，真实多机执行和动态任务到达属于后续验证范围。依据为项目 README.md、src/src/cpn_hrl_dag/env/dag_env.py 及 demo 运行产物。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整体模型由环境观测构造、高层LSTM actor-critic、低层任务条件GAT actor-critic和插入式模拟器组成。高层输出每个任务的logit与高层价值，ready_mask约束任务动作。选择任务i后重新构造该任务对应的节点8维特征及资源图，低层输出每节点logit与低层价值，node_mask约束节点动作。环境用(i,u)放置一个任务并返回新状态和归一化makespan增量奖励。两层各有critic、轨迹和PPO优化器，联合阶段接收同一次放置的奖励。HRL是独立学习策略，候选搜索不是该网络的一层。N为任务数，M为资源节点数，图中省略批次维。</a:t>
            </a:r>
          </a:p>
          <a:p>
            <a:r>
              <a:t>依据：说明书第 2.2.1 节；high_lstm.py、low_gat.py、dag_env.py、hierarchical_trainer.py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任务17维依次为工作量、入度、出度、已放置前驱进度、ready、scheduled、源、汇、拓扑层级、执行均值、最小值、最大值、入边数据量、出边数据量、HEFT rank、rank尺度、整体放置进度。高层资源5维是计算速度、节点可用时刻、已分配任务数、CPU容量、内存容量。低层节点8维是计算速度、所选任务执行时间、通信时间、依赖就绪时间、EST、EFT、节点可用时刻、已分配任务数，按所选任务重新构造。低层额外接收所选任务的原始17维向量，资源边2维为归一化带宽和时延。邻接矩阵为带宽有限且大于0。task_mask用于有效任务位置池化，ready_mask是真正的高层合法动作集合。node_mask筛选设备与容量可行节点，节点忙碌改变时间特征而不直接屏蔽。</a:t>
            </a:r>
          </a:p>
          <a:p>
            <a:r>
              <a:t>依据：dag_env.py：get_high_observation、get_low_observation；N 为任务数，M 为节点数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输入task_features为B×N×17。task_encoder为Linear(17,128)与tanh，单层LSTM输入与隐维度均128，输出B×N×128。Actor为Linear(128,1)，每任务输出z_i，再加入8倍归一化rank与0.5tanh有界修正。ready_mask用于策略分类分布，非法logit设为极小值；训练采样，确定性评估选最大合法logit，零残差特殊路径按float64先验与明确持平规则选择。Critic用task_mask对序列表示作有效位置均值，拼接资源特征均值M×5得到133维，经Linear(133,128)、tanh、Linear(128,1)输出V_H。高层输入采用Scenario源任务顺序，不明确按拓扑顺序重排；每次决策重新编码，LSTM隐状态不跨决策传递。</a:t>
            </a:r>
          </a:p>
          <a:p>
            <a:r>
              <a:t>依据：models/high_lstm.py：HighLevelLSTMActorCritic；维度对应正式模型 hidden_dim=128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AT编码的是计算资源图。节点输入M×8，资源边为M×M×2，adj为带宽有限且正的邻接关系。第一层4头，每头64维，跨头均值后输出M×64；第二层1头，输出M×64。注意力由节点成对项经LeakyReLU加上线性边特征项构成，再使用邻接mask及邻居Softmax聚合，输出ELU。所选任务17维经Linear(17,64)与tanh形成64维编码。Actor逐节点拼接资源表示64、复制后的任务编码64和node_features[1:]的7维，合计135，经Linear(135,64)、tanh、Linear(64,1)输出z_u；logit=-8归一化EFT+0.5tanh(z_u)。node_mask限制合法动作，输出节点u。Critic将资源表示均值64与未经task编码器的原始任务17拼接为81维，经Linear(81,64)、tanh、Linear(64,1)输出V_L(s,i)。</a:t>
            </a:r>
          </a:p>
          <a:p>
            <a:r>
              <a:t>依据：models/low_gat.py：DenseGATLayer、LowLevelGATActorCritic；正式隐维度 64，头数 4 /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每次先构造高层观测及ready_mask，采样或确定性选择任务i；环境构造所选任务条件下的节点特征及资源图，以node_mask选择u。模拟器按依赖数据到达与节点空隙放置任务，反馈新观测、奖励与是否结束。正式奖励r_t=-(M_t-M_{t-1})/C_HEFT，通信附加惩罚权重0，势函数关闭，gamma1时完整累计奖励为-Cmax/C_HEFT。联合阶段相同奖励分别写入两层轨迹，保存观测、采样mask、动作、旧log概率、各自value及done。两层独立GAE与PPO，不共用critic，损失为负裁剪策略目标加权价值误差减熵正则，采样mask在更新复用。正式配置gamma1、lambda0.95、clip0.1、最多2轮更新、batch128；高层学习率1e-4、低层5e-5。前864回合高层PPO+低层固定EFT，后1728联合，此页下方闭环对应联合阶段，冻结语义见技术难点3.2。搜索与HEFT候选在外部独立生成，冻结HRL作为完整候选参与评分，不修改训练闭环。</a:t>
            </a:r>
          </a:p>
          <a:p>
            <a:r>
              <a:t>依据：说明书第 2.1.2、2.2 节；dag_env.step、hierarchical_trainer.py、ppo.py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搜索由多种完整启发式候选开始，回溯一条实际关键链，包含依赖数据到达和节点前序任务阻塞。对短连续关键块找到共同可行节点，先按估计筛选，再重放完整后缀得到精确 makespan。HEFT、搜索、冻结 HRL 串行独立生成完整候选，HRL 不参与 beam 分支展开。候选均成功完整合法且使用同一确定性评分时，组合保留三者最小值，不保证全局最优。</a:t>
            </a:r>
          </a:p>
          <a:p>
            <a:r>
              <a:t>依据：说明书第 2.2.3、5.3 节；policies/portfolio.py、policies/hybrid.py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将不可变的场景与执行矩阵共享，复制任务放置表、每条节点时间线、就绪集合和顺序等动态状态。前缀快照只对应一个父候选，切换父候选会清空并重建快照。每次扩展先 clone 快照，再精确模拟后缀。现有测试支持候选结果等价及重复模拟调用减少，未测得统一环境的墙钟提速比例。</a:t>
            </a:r>
          </a:p>
          <a:p>
            <a:r>
              <a:t>依据：说明书第 5.3 节；ScheduleSimulator.clone、portfolio._prefix_template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双系统均为 x86_64 虚拟机CPU单线程，各2个训练回合、400次任务决策、108个场景。openEuler pytest.xml记录188通过且完整六阶段passed，新进程重载逐场景一致。openKylin已保存训练及HRL/HEFT逐场景结果，README记录188项测试与重载完成，但过程日志尚需补齐。两系统使用同一验证集，不能计216个独立样本，也不能比较操作系统快慢或宣称ARM/裸机已支持。</a:t>
            </a:r>
          </a:p>
          <a:p>
            <a:r>
              <a:t>依据：说明书第 4.1.3、4.2.1 节；tests/platform/ 两份 2026-09-30 归档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问题背景：云边端跨节点传输和节点排队会推迟后继开始。如把可选直接当成可以执行，会产生违背数据到达的调度。机制：ready_mask与node_mask控制合法选择，模拟器再计算依赖数据到达并找到足够长的节点空隙，最终重放再次校验。例子来自test_dependency_communication_and_same_node_zero，单位为模拟时间。另一个插入测试先有[10,20]，将2单位任务插入[0,2]，节点忙碌不应直接屏蔽。</a:t>
            </a:r>
          </a:p>
          <a:p>
            <a:r>
              <a:t>依据：说明书第 2.1、5.1 节；src/tests/test_simulator.py 最小通信案例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两层同时更新造成状态分布变化，需明确动作来自哪一策略、哪一层可更新、冻结什么状态。前864episodes高层PPO而低层固定最小EFT，后1728episodes两层联合PPO。PPO存储采样观测、mask、动作、旧log概率和价值估计，更新复用同一mask。禁用梯度、eval模式和停止学习率调度同时冻结。现有测试检查冻结参数与活动层参数，但正式训练后期退化，机制不能宣称已解决稳定收敛。</a:t>
            </a:r>
          </a:p>
          <a:p>
            <a:r>
              <a:t>依据：说明书第 2.2.2、5.2 节；algorithms/phases.py、ppo.py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如果分支直接引用父模拟器entries或node_timelines，分支A放置left就会修改父状态及兄弟分支：后续可选集合、节点等待与评分均不再独立。clone共享静态矩阵，复制每条动态时间线、entries、decision_order、ready集合等。测试中root放置后，父就绪集合为left/right；克隆放left后分支只剩right，父仍保留left/right。前缀缓存切换父候选重新建缓存，避免相同深度的错误复用。</a:t>
            </a:r>
          </a:p>
          <a:p>
            <a:r>
              <a:t>依据：说明书第 5.3 节；simulator.py:clone，test_simulator.py 与 test_advanced_search.py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案例a工作量4、b工作量2，a依赖输出给b，边数据量100，slow速度1、fast速度2，带宽10，时延0。都放slow得到6。仅a移fast：a完成2，传输10，b执行2，结束14。仅b移fast：a完成4，传输10，b执行1，结束15。共同移fast：a2+b1=3，无跨节点传输。数字仅为最小验证案例模拟时间，不能作为完整验证集提升比例。实际关键链同时包括节点阻塞，取短块共同可行节点，估计筛选后精确重放。</a:t>
            </a:r>
          </a:p>
          <a:p>
            <a:r>
              <a:t>依据：src/tests/test_advanced_search.py：test_joint_block_move_crosses_single_task_barrier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训练432基础DAG/864场景，验证54基础DAG/108场景，另54基础DAG划分到test尚未评估。三种子2026/2027/2028每学习模型2592episodes，384900决策。参数量FLOPs和墙钟不等同预算一致。GraphPPO和TierMAPPO为本项目适配比较策略，不直接引用论文数字。三种子复用同一验证场景，验证集参与选模。</a:t>
            </a:r>
          </a:p>
          <a:p>
            <a:r>
              <a:t>依据：说明书第 4.1 节；split_manifest、training_budget.csv、models/graph_baselines.py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三种子复用同一组一百零八个验证场景、五十四个基础 DAG。Graph PPO 的平均归一化完成时间为 1.029373，Tier MAPPO 为 1.097279，HRL搜索为 0.918223，较 HEFT 降低约百分之八点一八。HRL搜索每场景 CPU 推理平均为 5.297 秒，Graph PPO 为 0.821 秒，Tier MAPPO 为 1.060 秒，因此也应比较推理成本。主要收益来自搜索，HRL额外严格改善仅出现在种子2026的两个场景，验证集参与选模，所以这些数值不是独立测试集的泛化结论。HRL搜索对应实验记录的 hybrid 方法，数据依据为 tests/results/multiseed_20260925_122243/mean_std.csv 与 hybrid_attribution_by_seed.csv。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50任务24场景，100任务42场景，300任务42场景。资源分组各54场景，共享基础DAG。三规模均值不能等权代替总体均值。异构组变化也包含节点数和设备组成，不能全部归因于单一异构性参数。</a:t>
            </a:r>
          </a:p>
          <a:p>
            <a:r>
              <a:t>依据：说明书表 4-6、4-7：三种子组内均值的平均；指标越小越好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初始策略包含HEFT/EFT先验，seed2027/2028选step0意味着所选模型未体现训练收益。seed2026在高层训练+固定EFT结束的864最优，联合阶段退化。现有证据不能确认具体退化主因，后续建议固定高层/低层或控制更新幅度做受控对照。最佳点选择来自固定验证集，独立test仍待开展。</a:t>
            </a:r>
          </a:p>
          <a:p>
            <a:r>
              <a:t>依据：hrl_validation_history.csv；说明书表 4-8；纵轴为 validation mean_ratio，越小越好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每种子的三个学习模型采用相同的 2592 episodes 和 384900 次任务决策预算，三种子复用相同的 108 个验证场景。独立搜索 mean_ratio 为 0.918239，HRL搜索为 0.918223，主要收益来自搜索，HRL额外增量仅在种子2026的两个场景出现，跨种子平均约为0.001603个百分点。组合每种子相对HEFT均为106个场景改善、零退化和两个持平，全部调度合法；这是本批次固定场景的观察结果。CPU计时包括候选生成、校验、选择与最终重放，验证集参与选模，当前没有独立test泛化证据，324条seed与场景记录也不是324个独立样本。依据为 tests/results/multiseed_20260925_122243/三种子训练验收与结果报告.md 及 mean_std.csv、training_budget.csv、hybrid_attribution_by_seed.csv。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下面演示完整流程：先用 run_demo.py 在 CPU 上重新生成结果，再打开离线页面并选择一百任务的异构场景。页面展示四种方案的校验状态、完成时间与推理耗时，结果已保存，可随时复查。这里的一百任务场景改善百分之二十四点二二，只代表这个样例；六场景平均改善约百分之五点三六，不能替代完整验证成绩。画面与数值来自 demo/runs/20261001_154343_944150/index.html、summary.json 和 status.json。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在相同场景下切换 HEFT、搜索、HRL 和组合方案，能够看到对应的节点时间线。这个样例中，HEFT 完成时间是一百五十六点一七二，搜索与组合均为一百一十八点三五四，纯 HRL 为一百五十九点二四九，组合选择了搜索候选。播放、暂停与拖动时间滑块展示的是已验证调度的回放，时间单位沿用源数据与模拟器。画面与数值依据为 demo/runs/20261001_154343_944150/results.json 和离线页面。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点击任务，可以沿 DAG 查看它的前驱、工作量、分配节点和执行区间。这里选择 T49，可以核对其七个前驱及在 cloud_1 上的执行位置；依赖是否满足由调度校验器检查。最后导出本次结果 JSON，并查看保存的 CSV 指标与来源记录，完成从场景到可复核结果的闭环。画面与证据来自 demo/runs/20261001_154343_944150/ 的页面、results.json、metrics.csv 与 provenance.json。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当前价值是提供统一的调度比较环境，将执行区间、合法性和推理成本一起记录，并通过时间线和DAG详情支持复核。下一步先冻结配置开展独立test评估，受控比较训练阶段，再研究搜索预算与质量的取舍。真实多机通信、执行误差与故障反馈尚需单独验证；openEuler与openKylin的CPU虚拟机烟测仅提供兼容性证据。依据为 README.md、demo/runs/20261001_154343_944150/、tests/results/multiseed_20260925_122243/三种子训练验收与结果报告.md、tests/platform/openeuler_vm_20260930/README.md 与 tests/platform/openkylin_vm_20260930/README.md。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项目的价值是把调度优化、合法性校验和可复现展示连在一起，让云边端工作流的方案可以比较和复核。下一步将加强独立测试、学习增益与推理成本评估，并验证真实多机执行。谢谢各位评委，欢迎提问。现有能力与边界依据为 README.md 和 docs/创新说明文档.docx。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16x9kv-底图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7" name="标题 1"/>
          <p:cNvSpPr>
            <a:spLocks noGrp="1"/>
          </p:cNvSpPr>
          <p:nvPr>
            <p:ph type="ctrTitle" hasCustomPrompt="1"/>
          </p:nvPr>
        </p:nvSpPr>
        <p:spPr>
          <a:xfrm>
            <a:off x="1157605" y="1861820"/>
            <a:ext cx="9876790" cy="1758950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6000" b="1" i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kumimoji="1" lang="zh-CN" altLang="en-US" dirty="0"/>
              <a:t>单击此处编辑作品名称</a:t>
            </a:r>
          </a:p>
        </p:txBody>
      </p:sp>
      <p:sp>
        <p:nvSpPr>
          <p:cNvPr id="38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BA00916-396A-A444-B6A6-572F44C7530F}" type="datetimeFigureOut">
              <a:rPr kumimoji="1" lang="zh-CN" altLang="en-US" smtClean="0"/>
              <a:t>2026/10/6</a:t>
            </a:fld>
            <a:endParaRPr kumimoji="1" lang="zh-CN" altLang="en-US"/>
          </a:p>
        </p:txBody>
      </p:sp>
      <p:sp>
        <p:nvSpPr>
          <p:cNvPr id="39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40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4" name="文本占位符 9"/>
          <p:cNvSpPr>
            <a:spLocks noGrp="1"/>
          </p:cNvSpPr>
          <p:nvPr>
            <p:ph type="body" sz="quarter" idx="14" hasCustomPrompt="1"/>
          </p:nvPr>
        </p:nvSpPr>
        <p:spPr>
          <a:xfrm>
            <a:off x="5099050" y="4641215"/>
            <a:ext cx="3993515" cy="290195"/>
          </a:xfrm>
        </p:spPr>
        <p:txBody>
          <a:bodyPr anchor="t"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ea"/>
                <a:ea typeface="+mn-ea"/>
              </a:defRPr>
            </a:lvl1pPr>
            <a:lvl2pPr>
              <a:defRPr sz="2000">
                <a:latin typeface="+mj-ea"/>
                <a:ea typeface="+mj-ea"/>
              </a:defRPr>
            </a:lvl2pPr>
            <a:lvl3pPr>
              <a:defRPr sz="2000">
                <a:latin typeface="+mj-ea"/>
                <a:ea typeface="+mj-ea"/>
              </a:defRPr>
            </a:lvl3pPr>
            <a:lvl4pPr>
              <a:defRPr sz="2000">
                <a:latin typeface="+mj-ea"/>
                <a:ea typeface="+mj-ea"/>
              </a:defRPr>
            </a:lvl4pPr>
            <a:lvl5pPr>
              <a:defRPr sz="2000">
                <a:latin typeface="+mj-ea"/>
                <a:ea typeface="+mj-ea"/>
              </a:defRPr>
            </a:lvl5pPr>
          </a:lstStyle>
          <a:p>
            <a:pPr lvl="0"/>
            <a:r>
              <a:rPr kumimoji="1" lang="zh-CN" altLang="en-US" dirty="0"/>
              <a:t>编辑队伍名称</a:t>
            </a:r>
            <a:r>
              <a:rPr kumimoji="1" lang="en-US" altLang="zh-CN" dirty="0"/>
              <a:t> </a:t>
            </a:r>
            <a:r>
              <a:rPr kumimoji="1" lang="zh-CN" altLang="en-US" dirty="0"/>
              <a:t>禁止出现学校和成员信息</a:t>
            </a:r>
          </a:p>
        </p:txBody>
      </p:sp>
      <p:sp>
        <p:nvSpPr>
          <p:cNvPr id="7" name="文本占位符 9"/>
          <p:cNvSpPr>
            <a:spLocks noGrp="1"/>
          </p:cNvSpPr>
          <p:nvPr>
            <p:ph type="body" sz="quarter" idx="20" hasCustomPrompt="1"/>
          </p:nvPr>
        </p:nvSpPr>
        <p:spPr>
          <a:xfrm>
            <a:off x="5099050" y="5077460"/>
            <a:ext cx="3992880" cy="290195"/>
          </a:xfrm>
        </p:spPr>
        <p:txBody>
          <a:bodyPr anchor="t"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ea"/>
                <a:ea typeface="+mn-ea"/>
              </a:defRPr>
            </a:lvl1pPr>
            <a:lvl2pPr>
              <a:defRPr sz="2000">
                <a:latin typeface="+mj-ea"/>
                <a:ea typeface="+mj-ea"/>
              </a:defRPr>
            </a:lvl2pPr>
            <a:lvl3pPr>
              <a:defRPr sz="2000">
                <a:latin typeface="+mj-ea"/>
                <a:ea typeface="+mj-ea"/>
              </a:defRPr>
            </a:lvl3pPr>
            <a:lvl4pPr>
              <a:defRPr sz="2000">
                <a:latin typeface="+mj-ea"/>
                <a:ea typeface="+mj-ea"/>
              </a:defRPr>
            </a:lvl4pPr>
            <a:lvl5pPr>
              <a:defRPr sz="2000">
                <a:latin typeface="+mj-ea"/>
                <a:ea typeface="+mj-ea"/>
              </a:defRPr>
            </a:lvl5pPr>
          </a:lstStyle>
          <a:p>
            <a:pPr lvl="0"/>
            <a:r>
              <a:rPr kumimoji="1" lang="zh-CN" altLang="en-US" dirty="0"/>
              <a:t>编辑完成日期</a:t>
            </a:r>
            <a:r>
              <a:rPr kumimoji="1" lang="en-US" altLang="zh-CN" dirty="0"/>
              <a:t> </a:t>
            </a:r>
            <a:r>
              <a:rPr kumimoji="1" lang="zh-CN" altLang="en-US" dirty="0">
                <a:sym typeface="+mn-ea"/>
              </a:rPr>
              <a:t>禁止出现学校和成员信息</a:t>
            </a:r>
            <a:endParaRPr kumimoji="1" lang="zh-CN" altLang="en-US" dirty="0"/>
          </a:p>
          <a:p>
            <a:pPr lvl="0"/>
            <a:endParaRPr kumimoji="1" lang="en-US" altLang="zh-CN" dirty="0"/>
          </a:p>
        </p:txBody>
      </p:sp>
      <p:sp>
        <p:nvSpPr>
          <p:cNvPr id="9" name="文本占位符 9"/>
          <p:cNvSpPr>
            <a:spLocks noGrp="1"/>
          </p:cNvSpPr>
          <p:nvPr>
            <p:ph type="body" sz="quarter" idx="22" hasCustomPrompt="1"/>
          </p:nvPr>
        </p:nvSpPr>
        <p:spPr>
          <a:xfrm>
            <a:off x="3937218" y="4640664"/>
            <a:ext cx="1161805" cy="290369"/>
          </a:xfrm>
        </p:spPr>
        <p:txBody>
          <a:bodyPr anchor="t"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ea"/>
                <a:ea typeface="+mn-ea"/>
              </a:defRPr>
            </a:lvl1pPr>
            <a:lvl2pPr>
              <a:defRPr sz="2000">
                <a:latin typeface="+mj-ea"/>
                <a:ea typeface="+mj-ea"/>
              </a:defRPr>
            </a:lvl2pPr>
            <a:lvl3pPr>
              <a:defRPr sz="2000">
                <a:latin typeface="+mj-ea"/>
                <a:ea typeface="+mj-ea"/>
              </a:defRPr>
            </a:lvl3pPr>
            <a:lvl4pPr>
              <a:defRPr sz="2000">
                <a:latin typeface="+mj-ea"/>
                <a:ea typeface="+mj-ea"/>
              </a:defRPr>
            </a:lvl4pPr>
            <a:lvl5pPr>
              <a:defRPr sz="2000">
                <a:latin typeface="+mj-ea"/>
                <a:ea typeface="+mj-ea"/>
              </a:defRPr>
            </a:lvl5pPr>
          </a:lstStyle>
          <a:p>
            <a:pPr lvl="0"/>
            <a:r>
              <a:rPr kumimoji="1" lang="zh-CN" altLang="en-US" dirty="0"/>
              <a:t>参赛团队：</a:t>
            </a:r>
          </a:p>
        </p:txBody>
      </p:sp>
      <p:sp>
        <p:nvSpPr>
          <p:cNvPr id="54" name="文本占位符 9"/>
          <p:cNvSpPr>
            <a:spLocks noGrp="1"/>
          </p:cNvSpPr>
          <p:nvPr>
            <p:ph type="body" sz="quarter" idx="25" hasCustomPrompt="1"/>
          </p:nvPr>
        </p:nvSpPr>
        <p:spPr>
          <a:xfrm>
            <a:off x="3937218" y="5077480"/>
            <a:ext cx="1161805" cy="290371"/>
          </a:xfrm>
        </p:spPr>
        <p:txBody>
          <a:bodyPr anchor="t"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ea"/>
                <a:ea typeface="+mn-ea"/>
              </a:defRPr>
            </a:lvl1pPr>
            <a:lvl2pPr>
              <a:defRPr sz="2000">
                <a:latin typeface="+mj-ea"/>
                <a:ea typeface="+mj-ea"/>
              </a:defRPr>
            </a:lvl2pPr>
            <a:lvl3pPr>
              <a:defRPr sz="2000">
                <a:latin typeface="+mj-ea"/>
                <a:ea typeface="+mj-ea"/>
              </a:defRPr>
            </a:lvl3pPr>
            <a:lvl4pPr>
              <a:defRPr sz="2000">
                <a:latin typeface="+mj-ea"/>
                <a:ea typeface="+mj-ea"/>
              </a:defRPr>
            </a:lvl4pPr>
            <a:lvl5pPr>
              <a:defRPr sz="2000">
                <a:latin typeface="+mj-ea"/>
                <a:ea typeface="+mj-ea"/>
              </a:defRPr>
            </a:lvl5pPr>
          </a:lstStyle>
          <a:p>
            <a:pPr lvl="0"/>
            <a:r>
              <a:rPr kumimoji="1" lang="zh-CN" altLang="en-US" dirty="0"/>
              <a:t>完成日期：</a:t>
            </a:r>
          </a:p>
        </p:txBody>
      </p:sp>
      <p:pic>
        <p:nvPicPr>
          <p:cNvPr id="2" name="图片 1" descr="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00380" y="294640"/>
            <a:ext cx="11202035" cy="4222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2026/10/6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grpSp>
        <p:nvGrpSpPr>
          <p:cNvPr id="105" name="组合 104"/>
          <p:cNvGrpSpPr/>
          <p:nvPr userDrawn="1"/>
        </p:nvGrpSpPr>
        <p:grpSpPr>
          <a:xfrm>
            <a:off x="364475" y="2361991"/>
            <a:ext cx="4978706" cy="1729076"/>
            <a:chOff x="342441" y="2221843"/>
            <a:chExt cx="4978706" cy="1729076"/>
          </a:xfrm>
        </p:grpSpPr>
        <p:sp>
          <p:nvSpPr>
            <p:cNvPr id="107" name="标题 1"/>
            <p:cNvSpPr txBox="1"/>
            <p:nvPr userDrawn="1">
              <p:custDataLst>
                <p:tags r:id="rId1"/>
              </p:custDataLst>
            </p:nvPr>
          </p:nvSpPr>
          <p:spPr>
            <a:xfrm>
              <a:off x="1168706" y="3243360"/>
              <a:ext cx="3326176" cy="70755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600" b="1" kern="1200">
                  <a:solidFill>
                    <a:schemeClr val="tx2">
                      <a:lumMod val="50000"/>
                    </a:schemeClr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kumimoji="1" lang="en-US" altLang="zh-CN" sz="4000" dirty="0">
                  <a:solidFill>
                    <a:schemeClr val="tx2">
                      <a:lumMod val="20000"/>
                      <a:lumOff val="80000"/>
                      <a:alpha val="30000"/>
                    </a:schemeClr>
                  </a:solidFill>
                </a:rPr>
                <a:t>CONTENTS</a:t>
              </a:r>
            </a:p>
          </p:txBody>
        </p:sp>
        <p:sp>
          <p:nvSpPr>
            <p:cNvPr id="112" name="标题 1"/>
            <p:cNvSpPr txBox="1"/>
            <p:nvPr userDrawn="1">
              <p:custDataLst>
                <p:tags r:id="rId2"/>
              </p:custDataLst>
            </p:nvPr>
          </p:nvSpPr>
          <p:spPr>
            <a:xfrm>
              <a:off x="342441" y="2221843"/>
              <a:ext cx="4978706" cy="102151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600" b="1" kern="1200">
                  <a:solidFill>
                    <a:schemeClr val="tx2">
                      <a:lumMod val="50000"/>
                    </a:schemeClr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kumimoji="1" lang="zh-CN" altLang="en-US" sz="6600" dirty="0">
                  <a:solidFill>
                    <a:srgbClr val="080A12"/>
                  </a:solidFill>
                </a:rPr>
                <a:t>目录</a:t>
              </a:r>
            </a:p>
          </p:txBody>
        </p:sp>
      </p:grp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35" y="0"/>
            <a:ext cx="12191365" cy="568325"/>
          </a:xfrm>
          <a:prstGeom prst="rect">
            <a:avLst/>
          </a:prstGeom>
        </p:spPr>
      </p:pic>
      <p:pic>
        <p:nvPicPr>
          <p:cNvPr id="2" name="图片 1" descr="logo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00380" y="73025"/>
            <a:ext cx="11202035" cy="4222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16x9kv-底图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2026/10/6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8" name="标题 1"/>
          <p:cNvSpPr txBox="1"/>
          <p:nvPr userDrawn="1"/>
        </p:nvSpPr>
        <p:spPr>
          <a:xfrm>
            <a:off x="2316480" y="2591380"/>
            <a:ext cx="2661920" cy="838835"/>
          </a:xfrm>
          <a:prstGeom prst="rect">
            <a:avLst/>
          </a:prstGeom>
          <a:noFill/>
        </p:spPr>
        <p:txBody>
          <a:bodyPr vert="horz" wrap="square" lIns="90000" tIns="45720" rIns="91440" bIns="45720" rtlCol="0" anchor="ctr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8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kumimoji="1" lang="en-US" altLang="zh-CN" sz="5400" b="1" cap="none" spc="0" dirty="0">
                <a:ln w="6600">
                  <a:noFill/>
                  <a:prstDash val="solid"/>
                </a:ln>
                <a:solidFill>
                  <a:schemeClr val="bg1"/>
                </a:solidFill>
                <a:effectLst/>
              </a:rPr>
              <a:t>Part 01</a:t>
            </a:r>
          </a:p>
        </p:txBody>
      </p:sp>
      <p:sp>
        <p:nvSpPr>
          <p:cNvPr id="29" name="文本占位符 17"/>
          <p:cNvSpPr>
            <a:spLocks noGrp="1"/>
          </p:cNvSpPr>
          <p:nvPr>
            <p:ph type="body" sz="quarter" idx="13" hasCustomPrompt="1"/>
          </p:nvPr>
        </p:nvSpPr>
        <p:spPr>
          <a:xfrm>
            <a:off x="5192421" y="2453241"/>
            <a:ext cx="4304799" cy="1115113"/>
          </a:xfrm>
        </p:spPr>
        <p:txBody>
          <a:bodyPr lIns="90000" anchor="ctr">
            <a:noAutofit/>
          </a:bodyPr>
          <a:lstStyle>
            <a:lvl1pPr marL="0" indent="0" algn="l">
              <a:buNone/>
              <a:defRPr sz="6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zh-CN" altLang="en-US" dirty="0"/>
              <a:t>项目介绍</a:t>
            </a:r>
          </a:p>
        </p:txBody>
      </p:sp>
      <p:sp>
        <p:nvSpPr>
          <p:cNvPr id="42" name="文本占位符 41"/>
          <p:cNvSpPr>
            <a:spLocks noGrp="1"/>
          </p:cNvSpPr>
          <p:nvPr>
            <p:ph type="body" sz="quarter" idx="14" hasCustomPrompt="1"/>
          </p:nvPr>
        </p:nvSpPr>
        <p:spPr>
          <a:xfrm>
            <a:off x="2330450" y="3770630"/>
            <a:ext cx="7531100" cy="972185"/>
          </a:xfrm>
        </p:spPr>
        <p:txBody>
          <a:bodyPr>
            <a:normAutofit/>
          </a:bodyPr>
          <a:lstStyle>
            <a:lvl1pPr marL="0" indent="0" algn="r">
              <a:lnSpc>
                <a:spcPct val="150000"/>
              </a:lnSpc>
              <a:buNone/>
              <a:defRPr sz="1400">
                <a:solidFill>
                  <a:schemeClr val="bg1"/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CN" altLang="en-US" dirty="0"/>
              <a:t>单击编辑文本，文字是您思想的提炼，为了最终演示的良好效果，请尽量言简意赅的阐述观点</a:t>
            </a:r>
          </a:p>
        </p:txBody>
      </p:sp>
      <p:pic>
        <p:nvPicPr>
          <p:cNvPr id="7" name="图片 6" descr="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00380" y="294640"/>
            <a:ext cx="11202035" cy="4222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2026/10/6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529218" y="1445886"/>
            <a:ext cx="11133563" cy="4622027"/>
          </a:xfrm>
        </p:spPr>
        <p:txBody>
          <a:bodyPr/>
          <a:lstStyle>
            <a:lvl1pPr>
              <a:defRPr b="0" i="0">
                <a:solidFill>
                  <a:srgbClr val="090509"/>
                </a:solidFill>
                <a:latin typeface="+mn-ea"/>
                <a:ea typeface="+mn-ea"/>
              </a:defRPr>
            </a:lvl1pPr>
            <a:lvl2pPr>
              <a:defRPr b="0" i="0">
                <a:solidFill>
                  <a:srgbClr val="090509"/>
                </a:solidFill>
                <a:latin typeface="+mn-ea"/>
                <a:ea typeface="+mn-ea"/>
              </a:defRPr>
            </a:lvl2pPr>
            <a:lvl3pPr>
              <a:defRPr b="0" i="0">
                <a:solidFill>
                  <a:srgbClr val="090509"/>
                </a:solidFill>
                <a:latin typeface="+mn-ea"/>
                <a:ea typeface="+mn-ea"/>
              </a:defRPr>
            </a:lvl3pPr>
            <a:lvl4pPr>
              <a:defRPr b="0" i="0">
                <a:solidFill>
                  <a:srgbClr val="090509"/>
                </a:solidFill>
                <a:latin typeface="+mn-ea"/>
                <a:ea typeface="+mn-ea"/>
              </a:defRPr>
            </a:lvl4pPr>
            <a:lvl5pPr>
              <a:defRPr b="0" i="0">
                <a:solidFill>
                  <a:srgbClr val="090509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12" name="标题 1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28955" y="522605"/>
            <a:ext cx="7624445" cy="491490"/>
          </a:xfrm>
        </p:spPr>
        <p:txBody>
          <a:bodyPr wrap="square" anchor="ctr" anchorCtr="0">
            <a:spAutoFit/>
          </a:bodyPr>
          <a:lstStyle>
            <a:lvl1pPr>
              <a:lnSpc>
                <a:spcPct val="100000"/>
              </a:lnSpc>
              <a:defRPr sz="2600" b="1">
                <a:solidFill>
                  <a:srgbClr val="254FEB"/>
                </a:solidFill>
                <a:effectLst/>
                <a:latin typeface="+mj-ea"/>
                <a:ea typeface="+mj-ea"/>
              </a:defRPr>
            </a:lvl1pPr>
          </a:lstStyle>
          <a:p>
            <a:r>
              <a:rPr lang="en-US" altLang="zh-CN" dirty="0"/>
              <a:t>1.1 </a:t>
            </a:r>
            <a:r>
              <a:rPr lang="zh-CN" altLang="en-US" dirty="0"/>
              <a:t>设计背景</a:t>
            </a:r>
          </a:p>
        </p:txBody>
      </p:sp>
      <p:sp>
        <p:nvSpPr>
          <p:cNvPr id="8" name="任意多边形 7"/>
          <p:cNvSpPr/>
          <p:nvPr userDrawn="1">
            <p:custDataLst>
              <p:tags r:id="rId2"/>
            </p:custDataLst>
          </p:nvPr>
        </p:nvSpPr>
        <p:spPr>
          <a:xfrm>
            <a:off x="589280" y="1022985"/>
            <a:ext cx="793750" cy="78105"/>
          </a:xfrm>
          <a:custGeom>
            <a:avLst/>
            <a:gdLst>
              <a:gd name="adj" fmla="val 84552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250" h="123">
                <a:moveTo>
                  <a:pt x="0" y="123"/>
                </a:moveTo>
                <a:lnTo>
                  <a:pt x="104" y="0"/>
                </a:lnTo>
                <a:lnTo>
                  <a:pt x="218" y="0"/>
                </a:lnTo>
                <a:lnTo>
                  <a:pt x="114" y="123"/>
                </a:lnTo>
                <a:lnTo>
                  <a:pt x="0" y="123"/>
                </a:lnTo>
                <a:close/>
                <a:moveTo>
                  <a:pt x="172" y="123"/>
                </a:moveTo>
                <a:lnTo>
                  <a:pt x="276" y="0"/>
                </a:lnTo>
                <a:lnTo>
                  <a:pt x="390" y="0"/>
                </a:lnTo>
                <a:lnTo>
                  <a:pt x="286" y="123"/>
                </a:lnTo>
                <a:lnTo>
                  <a:pt x="172" y="123"/>
                </a:lnTo>
                <a:close/>
                <a:moveTo>
                  <a:pt x="344" y="123"/>
                </a:moveTo>
                <a:lnTo>
                  <a:pt x="448" y="0"/>
                </a:lnTo>
                <a:lnTo>
                  <a:pt x="562" y="0"/>
                </a:lnTo>
                <a:lnTo>
                  <a:pt x="458" y="123"/>
                </a:lnTo>
                <a:lnTo>
                  <a:pt x="344" y="123"/>
                </a:lnTo>
                <a:close/>
                <a:moveTo>
                  <a:pt x="516" y="123"/>
                </a:moveTo>
                <a:lnTo>
                  <a:pt x="620" y="0"/>
                </a:lnTo>
                <a:lnTo>
                  <a:pt x="734" y="0"/>
                </a:lnTo>
                <a:lnTo>
                  <a:pt x="630" y="123"/>
                </a:lnTo>
                <a:lnTo>
                  <a:pt x="516" y="123"/>
                </a:lnTo>
                <a:close/>
                <a:moveTo>
                  <a:pt x="688" y="123"/>
                </a:moveTo>
                <a:lnTo>
                  <a:pt x="792" y="0"/>
                </a:lnTo>
                <a:lnTo>
                  <a:pt x="906" y="0"/>
                </a:lnTo>
                <a:lnTo>
                  <a:pt x="802" y="123"/>
                </a:lnTo>
                <a:lnTo>
                  <a:pt x="688" y="123"/>
                </a:lnTo>
                <a:close/>
                <a:moveTo>
                  <a:pt x="860" y="123"/>
                </a:moveTo>
                <a:lnTo>
                  <a:pt x="964" y="0"/>
                </a:lnTo>
                <a:lnTo>
                  <a:pt x="1078" y="0"/>
                </a:lnTo>
                <a:lnTo>
                  <a:pt x="974" y="123"/>
                </a:lnTo>
                <a:lnTo>
                  <a:pt x="860" y="123"/>
                </a:lnTo>
                <a:close/>
                <a:moveTo>
                  <a:pt x="1032" y="123"/>
                </a:moveTo>
                <a:lnTo>
                  <a:pt x="1136" y="0"/>
                </a:lnTo>
                <a:lnTo>
                  <a:pt x="1250" y="0"/>
                </a:lnTo>
                <a:lnTo>
                  <a:pt x="1146" y="123"/>
                </a:lnTo>
                <a:lnTo>
                  <a:pt x="1032" y="123"/>
                </a:lnTo>
                <a:close/>
              </a:path>
            </a:pathLst>
          </a:custGeom>
          <a:gradFill>
            <a:gsLst>
              <a:gs pos="29000">
                <a:srgbClr val="254FEB"/>
              </a:gs>
              <a:gs pos="100000">
                <a:srgbClr val="254F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12191365" cy="568325"/>
          </a:xfrm>
          <a:prstGeom prst="rect">
            <a:avLst/>
          </a:prstGeom>
        </p:spPr>
      </p:pic>
      <p:pic>
        <p:nvPicPr>
          <p:cNvPr id="2" name="图片 1" descr="logo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00380" y="73025"/>
            <a:ext cx="11202035" cy="4222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仅标题"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2026/10/6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529218" y="1445886"/>
            <a:ext cx="11133563" cy="4622027"/>
          </a:xfrm>
        </p:spPr>
        <p:txBody>
          <a:bodyPr/>
          <a:lstStyle>
            <a:lvl1pPr>
              <a:defRPr b="0" i="0">
                <a:solidFill>
                  <a:srgbClr val="090509"/>
                </a:solidFill>
                <a:latin typeface="+mn-ea"/>
                <a:ea typeface="+mn-ea"/>
              </a:defRPr>
            </a:lvl1pPr>
            <a:lvl2pPr>
              <a:defRPr b="0" i="0">
                <a:solidFill>
                  <a:srgbClr val="090509"/>
                </a:solidFill>
                <a:latin typeface="+mn-ea"/>
                <a:ea typeface="+mn-ea"/>
              </a:defRPr>
            </a:lvl2pPr>
            <a:lvl3pPr>
              <a:defRPr b="0" i="0">
                <a:solidFill>
                  <a:srgbClr val="090509"/>
                </a:solidFill>
                <a:latin typeface="+mn-ea"/>
                <a:ea typeface="+mn-ea"/>
              </a:defRPr>
            </a:lvl3pPr>
            <a:lvl4pPr>
              <a:defRPr b="0" i="0">
                <a:solidFill>
                  <a:srgbClr val="090509"/>
                </a:solidFill>
                <a:latin typeface="+mn-ea"/>
                <a:ea typeface="+mn-ea"/>
              </a:defRPr>
            </a:lvl4pPr>
            <a:lvl5pPr>
              <a:defRPr b="0" i="0">
                <a:solidFill>
                  <a:srgbClr val="090509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12" name="标题 1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28955" y="522605"/>
            <a:ext cx="7624445" cy="491490"/>
          </a:xfrm>
        </p:spPr>
        <p:txBody>
          <a:bodyPr wrap="square" anchor="ctr" anchorCtr="0">
            <a:spAutoFit/>
          </a:bodyPr>
          <a:lstStyle>
            <a:lvl1pPr>
              <a:lnSpc>
                <a:spcPct val="100000"/>
              </a:lnSpc>
              <a:defRPr sz="2600" b="1">
                <a:solidFill>
                  <a:srgbClr val="254FEB"/>
                </a:solidFill>
                <a:effectLst/>
                <a:latin typeface="+mj-ea"/>
                <a:ea typeface="+mj-ea"/>
                <a:cs typeface="+mj-ea"/>
              </a:defRPr>
            </a:lvl1pPr>
          </a:lstStyle>
          <a:p>
            <a:r>
              <a:rPr lang="en-US" altLang="zh-CN" dirty="0"/>
              <a:t>1.2 </a:t>
            </a:r>
            <a:r>
              <a:rPr lang="zh-CN" altLang="en-US" dirty="0"/>
              <a:t>设计目标</a:t>
            </a:r>
          </a:p>
        </p:txBody>
      </p:sp>
      <p:sp>
        <p:nvSpPr>
          <p:cNvPr id="10" name="任意多边形 9"/>
          <p:cNvSpPr/>
          <p:nvPr userDrawn="1">
            <p:custDataLst>
              <p:tags r:id="rId2"/>
            </p:custDataLst>
          </p:nvPr>
        </p:nvSpPr>
        <p:spPr>
          <a:xfrm>
            <a:off x="589280" y="1022985"/>
            <a:ext cx="793750" cy="78105"/>
          </a:xfrm>
          <a:custGeom>
            <a:avLst/>
            <a:gdLst>
              <a:gd name="adj" fmla="val 84552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250" h="123">
                <a:moveTo>
                  <a:pt x="0" y="123"/>
                </a:moveTo>
                <a:lnTo>
                  <a:pt x="104" y="0"/>
                </a:lnTo>
                <a:lnTo>
                  <a:pt x="218" y="0"/>
                </a:lnTo>
                <a:lnTo>
                  <a:pt x="114" y="123"/>
                </a:lnTo>
                <a:lnTo>
                  <a:pt x="0" y="123"/>
                </a:lnTo>
                <a:close/>
                <a:moveTo>
                  <a:pt x="172" y="123"/>
                </a:moveTo>
                <a:lnTo>
                  <a:pt x="276" y="0"/>
                </a:lnTo>
                <a:lnTo>
                  <a:pt x="390" y="0"/>
                </a:lnTo>
                <a:lnTo>
                  <a:pt x="286" y="123"/>
                </a:lnTo>
                <a:lnTo>
                  <a:pt x="172" y="123"/>
                </a:lnTo>
                <a:close/>
                <a:moveTo>
                  <a:pt x="344" y="123"/>
                </a:moveTo>
                <a:lnTo>
                  <a:pt x="448" y="0"/>
                </a:lnTo>
                <a:lnTo>
                  <a:pt x="562" y="0"/>
                </a:lnTo>
                <a:lnTo>
                  <a:pt x="458" y="123"/>
                </a:lnTo>
                <a:lnTo>
                  <a:pt x="344" y="123"/>
                </a:lnTo>
                <a:close/>
                <a:moveTo>
                  <a:pt x="516" y="123"/>
                </a:moveTo>
                <a:lnTo>
                  <a:pt x="620" y="0"/>
                </a:lnTo>
                <a:lnTo>
                  <a:pt x="734" y="0"/>
                </a:lnTo>
                <a:lnTo>
                  <a:pt x="630" y="123"/>
                </a:lnTo>
                <a:lnTo>
                  <a:pt x="516" y="123"/>
                </a:lnTo>
                <a:close/>
                <a:moveTo>
                  <a:pt x="688" y="123"/>
                </a:moveTo>
                <a:lnTo>
                  <a:pt x="792" y="0"/>
                </a:lnTo>
                <a:lnTo>
                  <a:pt x="906" y="0"/>
                </a:lnTo>
                <a:lnTo>
                  <a:pt x="802" y="123"/>
                </a:lnTo>
                <a:lnTo>
                  <a:pt x="688" y="123"/>
                </a:lnTo>
                <a:close/>
                <a:moveTo>
                  <a:pt x="860" y="123"/>
                </a:moveTo>
                <a:lnTo>
                  <a:pt x="964" y="0"/>
                </a:lnTo>
                <a:lnTo>
                  <a:pt x="1078" y="0"/>
                </a:lnTo>
                <a:lnTo>
                  <a:pt x="974" y="123"/>
                </a:lnTo>
                <a:lnTo>
                  <a:pt x="860" y="123"/>
                </a:lnTo>
                <a:close/>
                <a:moveTo>
                  <a:pt x="1032" y="123"/>
                </a:moveTo>
                <a:lnTo>
                  <a:pt x="1136" y="0"/>
                </a:lnTo>
                <a:lnTo>
                  <a:pt x="1250" y="0"/>
                </a:lnTo>
                <a:lnTo>
                  <a:pt x="1146" y="123"/>
                </a:lnTo>
                <a:lnTo>
                  <a:pt x="1032" y="123"/>
                </a:lnTo>
                <a:close/>
              </a:path>
            </a:pathLst>
          </a:custGeom>
          <a:gradFill>
            <a:gsLst>
              <a:gs pos="29000">
                <a:srgbClr val="254FEB"/>
              </a:gs>
              <a:gs pos="100000">
                <a:srgbClr val="254F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12191365" cy="568325"/>
          </a:xfrm>
          <a:prstGeom prst="rect">
            <a:avLst/>
          </a:prstGeom>
        </p:spPr>
      </p:pic>
      <p:pic>
        <p:nvPicPr>
          <p:cNvPr id="2" name="图片 1" descr="logo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00380" y="73025"/>
            <a:ext cx="11202035" cy="4222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仅标题"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2026/10/6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529218" y="1445886"/>
            <a:ext cx="11133563" cy="4622027"/>
          </a:xfrm>
        </p:spPr>
        <p:txBody>
          <a:bodyPr/>
          <a:lstStyle>
            <a:lvl1pPr>
              <a:defRPr b="0" i="0">
                <a:solidFill>
                  <a:srgbClr val="090509"/>
                </a:solidFill>
                <a:latin typeface="+mn-ea"/>
                <a:ea typeface="+mn-ea"/>
              </a:defRPr>
            </a:lvl1pPr>
            <a:lvl2pPr>
              <a:defRPr b="0" i="0">
                <a:solidFill>
                  <a:srgbClr val="090509"/>
                </a:solidFill>
                <a:latin typeface="+mn-ea"/>
                <a:ea typeface="+mn-ea"/>
              </a:defRPr>
            </a:lvl2pPr>
            <a:lvl3pPr>
              <a:defRPr b="0" i="0">
                <a:solidFill>
                  <a:srgbClr val="090509"/>
                </a:solidFill>
                <a:latin typeface="+mn-ea"/>
                <a:ea typeface="+mn-ea"/>
              </a:defRPr>
            </a:lvl3pPr>
            <a:lvl4pPr>
              <a:defRPr b="0" i="0">
                <a:solidFill>
                  <a:srgbClr val="090509"/>
                </a:solidFill>
                <a:latin typeface="+mn-ea"/>
                <a:ea typeface="+mn-ea"/>
              </a:defRPr>
            </a:lvl4pPr>
            <a:lvl5pPr>
              <a:defRPr b="0" i="0">
                <a:solidFill>
                  <a:srgbClr val="090509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12" name="标题 1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28955" y="522605"/>
            <a:ext cx="7624445" cy="491490"/>
          </a:xfrm>
        </p:spPr>
        <p:txBody>
          <a:bodyPr wrap="square" anchor="ctr" anchorCtr="0">
            <a:spAutoFit/>
          </a:bodyPr>
          <a:lstStyle>
            <a:lvl1pPr>
              <a:lnSpc>
                <a:spcPct val="100000"/>
              </a:lnSpc>
              <a:defRPr sz="2600" b="1">
                <a:solidFill>
                  <a:srgbClr val="254FEB"/>
                </a:solidFill>
                <a:effectLst/>
                <a:latin typeface="+mj-ea"/>
                <a:ea typeface="+mj-ea"/>
                <a:cs typeface="+mj-ea"/>
              </a:defRPr>
            </a:lvl1pPr>
          </a:lstStyle>
          <a:p>
            <a:r>
              <a:rPr lang="en-US" altLang="zh-CN" dirty="0"/>
              <a:t>1.3 </a:t>
            </a:r>
            <a:r>
              <a:rPr lang="zh-CN" altLang="en-US" dirty="0"/>
              <a:t>设计简介</a:t>
            </a:r>
          </a:p>
        </p:txBody>
      </p:sp>
      <p:sp>
        <p:nvSpPr>
          <p:cNvPr id="10" name="任意多边形 9"/>
          <p:cNvSpPr/>
          <p:nvPr userDrawn="1">
            <p:custDataLst>
              <p:tags r:id="rId2"/>
            </p:custDataLst>
          </p:nvPr>
        </p:nvSpPr>
        <p:spPr>
          <a:xfrm>
            <a:off x="589280" y="1022985"/>
            <a:ext cx="793750" cy="78105"/>
          </a:xfrm>
          <a:custGeom>
            <a:avLst/>
            <a:gdLst>
              <a:gd name="adj" fmla="val 84552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250" h="123">
                <a:moveTo>
                  <a:pt x="0" y="123"/>
                </a:moveTo>
                <a:lnTo>
                  <a:pt x="104" y="0"/>
                </a:lnTo>
                <a:lnTo>
                  <a:pt x="218" y="0"/>
                </a:lnTo>
                <a:lnTo>
                  <a:pt x="114" y="123"/>
                </a:lnTo>
                <a:lnTo>
                  <a:pt x="0" y="123"/>
                </a:lnTo>
                <a:close/>
                <a:moveTo>
                  <a:pt x="172" y="123"/>
                </a:moveTo>
                <a:lnTo>
                  <a:pt x="276" y="0"/>
                </a:lnTo>
                <a:lnTo>
                  <a:pt x="390" y="0"/>
                </a:lnTo>
                <a:lnTo>
                  <a:pt x="286" y="123"/>
                </a:lnTo>
                <a:lnTo>
                  <a:pt x="172" y="123"/>
                </a:lnTo>
                <a:close/>
                <a:moveTo>
                  <a:pt x="344" y="123"/>
                </a:moveTo>
                <a:lnTo>
                  <a:pt x="448" y="0"/>
                </a:lnTo>
                <a:lnTo>
                  <a:pt x="562" y="0"/>
                </a:lnTo>
                <a:lnTo>
                  <a:pt x="458" y="123"/>
                </a:lnTo>
                <a:lnTo>
                  <a:pt x="344" y="123"/>
                </a:lnTo>
                <a:close/>
                <a:moveTo>
                  <a:pt x="516" y="123"/>
                </a:moveTo>
                <a:lnTo>
                  <a:pt x="620" y="0"/>
                </a:lnTo>
                <a:lnTo>
                  <a:pt x="734" y="0"/>
                </a:lnTo>
                <a:lnTo>
                  <a:pt x="630" y="123"/>
                </a:lnTo>
                <a:lnTo>
                  <a:pt x="516" y="123"/>
                </a:lnTo>
                <a:close/>
                <a:moveTo>
                  <a:pt x="688" y="123"/>
                </a:moveTo>
                <a:lnTo>
                  <a:pt x="792" y="0"/>
                </a:lnTo>
                <a:lnTo>
                  <a:pt x="906" y="0"/>
                </a:lnTo>
                <a:lnTo>
                  <a:pt x="802" y="123"/>
                </a:lnTo>
                <a:lnTo>
                  <a:pt x="688" y="123"/>
                </a:lnTo>
                <a:close/>
                <a:moveTo>
                  <a:pt x="860" y="123"/>
                </a:moveTo>
                <a:lnTo>
                  <a:pt x="964" y="0"/>
                </a:lnTo>
                <a:lnTo>
                  <a:pt x="1078" y="0"/>
                </a:lnTo>
                <a:lnTo>
                  <a:pt x="974" y="123"/>
                </a:lnTo>
                <a:lnTo>
                  <a:pt x="860" y="123"/>
                </a:lnTo>
                <a:close/>
                <a:moveTo>
                  <a:pt x="1032" y="123"/>
                </a:moveTo>
                <a:lnTo>
                  <a:pt x="1136" y="0"/>
                </a:lnTo>
                <a:lnTo>
                  <a:pt x="1250" y="0"/>
                </a:lnTo>
                <a:lnTo>
                  <a:pt x="1146" y="123"/>
                </a:lnTo>
                <a:lnTo>
                  <a:pt x="1032" y="123"/>
                </a:lnTo>
                <a:close/>
              </a:path>
            </a:pathLst>
          </a:custGeom>
          <a:gradFill>
            <a:gsLst>
              <a:gs pos="29000">
                <a:srgbClr val="254FEB"/>
              </a:gs>
              <a:gs pos="100000">
                <a:srgbClr val="254F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35" y="0"/>
            <a:ext cx="12191365" cy="568325"/>
          </a:xfrm>
          <a:prstGeom prst="rect">
            <a:avLst/>
          </a:prstGeom>
        </p:spPr>
      </p:pic>
      <p:pic>
        <p:nvPicPr>
          <p:cNvPr id="2" name="图片 1" descr="logo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00380" y="73025"/>
            <a:ext cx="11202035" cy="4222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仅标题"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2026/10/6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529218" y="1445886"/>
            <a:ext cx="11133563" cy="4622027"/>
          </a:xfrm>
        </p:spPr>
        <p:txBody>
          <a:bodyPr/>
          <a:lstStyle>
            <a:lvl1pPr>
              <a:defRPr b="0" i="0">
                <a:solidFill>
                  <a:srgbClr val="090509"/>
                </a:solidFill>
                <a:latin typeface="+mn-ea"/>
                <a:ea typeface="+mn-ea"/>
              </a:defRPr>
            </a:lvl1pPr>
            <a:lvl2pPr>
              <a:defRPr b="0" i="0">
                <a:solidFill>
                  <a:srgbClr val="090509"/>
                </a:solidFill>
                <a:latin typeface="+mn-ea"/>
                <a:ea typeface="+mn-ea"/>
              </a:defRPr>
            </a:lvl2pPr>
            <a:lvl3pPr>
              <a:defRPr b="0" i="0">
                <a:solidFill>
                  <a:srgbClr val="090509"/>
                </a:solidFill>
                <a:latin typeface="+mn-ea"/>
                <a:ea typeface="+mn-ea"/>
              </a:defRPr>
            </a:lvl3pPr>
            <a:lvl4pPr>
              <a:defRPr b="0" i="0">
                <a:solidFill>
                  <a:srgbClr val="090509"/>
                </a:solidFill>
                <a:latin typeface="+mn-ea"/>
                <a:ea typeface="+mn-ea"/>
              </a:defRPr>
            </a:lvl4pPr>
            <a:lvl5pPr>
              <a:defRPr b="0" i="0">
                <a:solidFill>
                  <a:srgbClr val="090509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12" name="标题 1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28955" y="522605"/>
            <a:ext cx="7624445" cy="491490"/>
          </a:xfrm>
        </p:spPr>
        <p:txBody>
          <a:bodyPr wrap="square" anchor="ctr" anchorCtr="0">
            <a:spAutoFit/>
          </a:bodyPr>
          <a:lstStyle>
            <a:lvl1pPr>
              <a:lnSpc>
                <a:spcPct val="100000"/>
              </a:lnSpc>
              <a:defRPr sz="2600" b="1">
                <a:solidFill>
                  <a:srgbClr val="254FEB"/>
                </a:solidFill>
                <a:effectLst/>
                <a:latin typeface="+mj-ea"/>
                <a:ea typeface="+mj-ea"/>
                <a:cs typeface="+mj-ea"/>
              </a:defRPr>
            </a:lvl1pPr>
          </a:lstStyle>
          <a:p>
            <a:r>
              <a:rPr lang="en-US" altLang="zh-CN" dirty="0"/>
              <a:t>1.4 </a:t>
            </a:r>
            <a:r>
              <a:rPr lang="zh-CN" altLang="en-US" dirty="0"/>
              <a:t>作品原创性情况说明</a:t>
            </a:r>
          </a:p>
        </p:txBody>
      </p:sp>
      <p:sp>
        <p:nvSpPr>
          <p:cNvPr id="10" name="任意多边形 9"/>
          <p:cNvSpPr/>
          <p:nvPr userDrawn="1">
            <p:custDataLst>
              <p:tags r:id="rId2"/>
            </p:custDataLst>
          </p:nvPr>
        </p:nvSpPr>
        <p:spPr>
          <a:xfrm>
            <a:off x="589280" y="1022985"/>
            <a:ext cx="793750" cy="78105"/>
          </a:xfrm>
          <a:custGeom>
            <a:avLst/>
            <a:gdLst>
              <a:gd name="adj" fmla="val 84552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250" h="123">
                <a:moveTo>
                  <a:pt x="0" y="123"/>
                </a:moveTo>
                <a:lnTo>
                  <a:pt x="104" y="0"/>
                </a:lnTo>
                <a:lnTo>
                  <a:pt x="218" y="0"/>
                </a:lnTo>
                <a:lnTo>
                  <a:pt x="114" y="123"/>
                </a:lnTo>
                <a:lnTo>
                  <a:pt x="0" y="123"/>
                </a:lnTo>
                <a:close/>
                <a:moveTo>
                  <a:pt x="172" y="123"/>
                </a:moveTo>
                <a:lnTo>
                  <a:pt x="276" y="0"/>
                </a:lnTo>
                <a:lnTo>
                  <a:pt x="390" y="0"/>
                </a:lnTo>
                <a:lnTo>
                  <a:pt x="286" y="123"/>
                </a:lnTo>
                <a:lnTo>
                  <a:pt x="172" y="123"/>
                </a:lnTo>
                <a:close/>
                <a:moveTo>
                  <a:pt x="344" y="123"/>
                </a:moveTo>
                <a:lnTo>
                  <a:pt x="448" y="0"/>
                </a:lnTo>
                <a:lnTo>
                  <a:pt x="562" y="0"/>
                </a:lnTo>
                <a:lnTo>
                  <a:pt x="458" y="123"/>
                </a:lnTo>
                <a:lnTo>
                  <a:pt x="344" y="123"/>
                </a:lnTo>
                <a:close/>
                <a:moveTo>
                  <a:pt x="516" y="123"/>
                </a:moveTo>
                <a:lnTo>
                  <a:pt x="620" y="0"/>
                </a:lnTo>
                <a:lnTo>
                  <a:pt x="734" y="0"/>
                </a:lnTo>
                <a:lnTo>
                  <a:pt x="630" y="123"/>
                </a:lnTo>
                <a:lnTo>
                  <a:pt x="516" y="123"/>
                </a:lnTo>
                <a:close/>
                <a:moveTo>
                  <a:pt x="688" y="123"/>
                </a:moveTo>
                <a:lnTo>
                  <a:pt x="792" y="0"/>
                </a:lnTo>
                <a:lnTo>
                  <a:pt x="906" y="0"/>
                </a:lnTo>
                <a:lnTo>
                  <a:pt x="802" y="123"/>
                </a:lnTo>
                <a:lnTo>
                  <a:pt x="688" y="123"/>
                </a:lnTo>
                <a:close/>
                <a:moveTo>
                  <a:pt x="860" y="123"/>
                </a:moveTo>
                <a:lnTo>
                  <a:pt x="964" y="0"/>
                </a:lnTo>
                <a:lnTo>
                  <a:pt x="1078" y="0"/>
                </a:lnTo>
                <a:lnTo>
                  <a:pt x="974" y="123"/>
                </a:lnTo>
                <a:lnTo>
                  <a:pt x="860" y="123"/>
                </a:lnTo>
                <a:close/>
                <a:moveTo>
                  <a:pt x="1032" y="123"/>
                </a:moveTo>
                <a:lnTo>
                  <a:pt x="1136" y="0"/>
                </a:lnTo>
                <a:lnTo>
                  <a:pt x="1250" y="0"/>
                </a:lnTo>
                <a:lnTo>
                  <a:pt x="1146" y="123"/>
                </a:lnTo>
                <a:lnTo>
                  <a:pt x="1032" y="123"/>
                </a:lnTo>
                <a:close/>
              </a:path>
            </a:pathLst>
          </a:custGeom>
          <a:gradFill>
            <a:gsLst>
              <a:gs pos="29000">
                <a:srgbClr val="254FEB"/>
              </a:gs>
              <a:gs pos="100000">
                <a:srgbClr val="254F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35" y="0"/>
            <a:ext cx="12191365" cy="568325"/>
          </a:xfrm>
          <a:prstGeom prst="rect">
            <a:avLst/>
          </a:prstGeom>
        </p:spPr>
      </p:pic>
      <p:pic>
        <p:nvPicPr>
          <p:cNvPr id="2" name="图片 1" descr="logo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00380" y="73025"/>
            <a:ext cx="11202035" cy="4222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仅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16x9kv-底图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2026/10/6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4" name="标题 1"/>
          <p:cNvSpPr txBox="1"/>
          <p:nvPr userDrawn="1">
            <p:custDataLst>
              <p:tags r:id="rId1"/>
            </p:custDataLst>
          </p:nvPr>
        </p:nvSpPr>
        <p:spPr>
          <a:xfrm>
            <a:off x="2316480" y="2591380"/>
            <a:ext cx="2661920" cy="838835"/>
          </a:xfrm>
          <a:prstGeom prst="rect">
            <a:avLst/>
          </a:prstGeom>
          <a:noFill/>
        </p:spPr>
        <p:txBody>
          <a:bodyPr vert="horz" wrap="square" lIns="90000" tIns="45720" rIns="91440" bIns="45720" rtlCol="0" anchor="ctr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8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kumimoji="1" lang="en-US" altLang="zh-CN" sz="5400" b="1" cap="none" spc="0" dirty="0">
                <a:ln w="6600">
                  <a:noFill/>
                  <a:prstDash val="solid"/>
                </a:ln>
                <a:solidFill>
                  <a:schemeClr val="bg1"/>
                </a:solidFill>
                <a:effectLst/>
              </a:rPr>
              <a:t>Part 02</a:t>
            </a:r>
          </a:p>
        </p:txBody>
      </p:sp>
      <p:sp>
        <p:nvSpPr>
          <p:cNvPr id="15" name="文本占位符 17"/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192421" y="2453241"/>
            <a:ext cx="4304799" cy="1115113"/>
          </a:xfrm>
        </p:spPr>
        <p:txBody>
          <a:bodyPr lIns="90000" anchor="ctr">
            <a:noAutofit/>
          </a:bodyPr>
          <a:lstStyle>
            <a:lvl1pPr marL="0" indent="0" algn="l">
              <a:buNone/>
              <a:defRPr sz="6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zh-CN" altLang="en-US" dirty="0"/>
              <a:t>项目亮点</a:t>
            </a:r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4" hasCustomPrompt="1"/>
            <p:custDataLst>
              <p:tags r:id="rId3"/>
            </p:custDataLst>
          </p:nvPr>
        </p:nvSpPr>
        <p:spPr>
          <a:xfrm>
            <a:off x="2330450" y="3770630"/>
            <a:ext cx="7531100" cy="972185"/>
          </a:xfrm>
        </p:spPr>
        <p:txBody>
          <a:bodyPr>
            <a:normAutofit/>
          </a:bodyPr>
          <a:lstStyle>
            <a:lvl1pPr marL="0" indent="0" algn="r">
              <a:lnSpc>
                <a:spcPct val="150000"/>
              </a:lnSpc>
              <a:buNone/>
              <a:defRPr sz="1400">
                <a:solidFill>
                  <a:schemeClr val="bg1"/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CN" altLang="en-US" dirty="0"/>
              <a:t>单击编辑文本，文字是您思想的提炼，为了最终演示的良好效果，请尽量言简意赅的阐述观点</a:t>
            </a:r>
          </a:p>
        </p:txBody>
      </p:sp>
      <p:pic>
        <p:nvPicPr>
          <p:cNvPr id="7" name="图片 6" descr="logo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500380" y="294640"/>
            <a:ext cx="11202035" cy="4222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仅标题"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2026/10/6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529218" y="1445886"/>
            <a:ext cx="11133563" cy="4622027"/>
          </a:xfrm>
        </p:spPr>
        <p:txBody>
          <a:bodyPr/>
          <a:lstStyle>
            <a:lvl1pPr>
              <a:defRPr b="0" i="0">
                <a:solidFill>
                  <a:srgbClr val="090509"/>
                </a:solidFill>
                <a:latin typeface="+mn-ea"/>
                <a:ea typeface="+mn-ea"/>
              </a:defRPr>
            </a:lvl1pPr>
            <a:lvl2pPr>
              <a:defRPr b="0" i="0">
                <a:solidFill>
                  <a:srgbClr val="090509"/>
                </a:solidFill>
                <a:latin typeface="+mn-ea"/>
                <a:ea typeface="+mn-ea"/>
              </a:defRPr>
            </a:lvl2pPr>
            <a:lvl3pPr>
              <a:defRPr b="0" i="0">
                <a:solidFill>
                  <a:srgbClr val="090509"/>
                </a:solidFill>
                <a:latin typeface="+mn-ea"/>
                <a:ea typeface="+mn-ea"/>
              </a:defRPr>
            </a:lvl3pPr>
            <a:lvl4pPr>
              <a:defRPr b="0" i="0">
                <a:solidFill>
                  <a:srgbClr val="090509"/>
                </a:solidFill>
                <a:latin typeface="+mn-ea"/>
                <a:ea typeface="+mn-ea"/>
              </a:defRPr>
            </a:lvl4pPr>
            <a:lvl5pPr>
              <a:defRPr b="0" i="0">
                <a:solidFill>
                  <a:srgbClr val="090509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12" name="标题 1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28955" y="522605"/>
            <a:ext cx="7624445" cy="491490"/>
          </a:xfrm>
        </p:spPr>
        <p:txBody>
          <a:bodyPr wrap="square" anchor="ctr" anchorCtr="0">
            <a:spAutoFit/>
          </a:bodyPr>
          <a:lstStyle>
            <a:lvl1pPr>
              <a:lnSpc>
                <a:spcPct val="100000"/>
              </a:lnSpc>
              <a:defRPr sz="2600" b="1">
                <a:solidFill>
                  <a:srgbClr val="254FEB"/>
                </a:solidFill>
                <a:effectLst/>
                <a:latin typeface="+mj-ea"/>
                <a:ea typeface="+mj-ea"/>
                <a:cs typeface="+mj-ea"/>
              </a:defRPr>
            </a:lvl1pPr>
          </a:lstStyle>
          <a:p>
            <a:r>
              <a:rPr lang="en-US" altLang="zh-CN" dirty="0"/>
              <a:t>2.1 </a:t>
            </a:r>
            <a:r>
              <a:rPr lang="zh-CN" altLang="en-US" dirty="0"/>
              <a:t>功能亮点</a:t>
            </a:r>
          </a:p>
        </p:txBody>
      </p:sp>
      <p:sp>
        <p:nvSpPr>
          <p:cNvPr id="10" name="任意多边形 9"/>
          <p:cNvSpPr/>
          <p:nvPr userDrawn="1">
            <p:custDataLst>
              <p:tags r:id="rId2"/>
            </p:custDataLst>
          </p:nvPr>
        </p:nvSpPr>
        <p:spPr>
          <a:xfrm>
            <a:off x="589280" y="1022985"/>
            <a:ext cx="793750" cy="78105"/>
          </a:xfrm>
          <a:custGeom>
            <a:avLst/>
            <a:gdLst>
              <a:gd name="adj" fmla="val 84552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250" h="123">
                <a:moveTo>
                  <a:pt x="0" y="123"/>
                </a:moveTo>
                <a:lnTo>
                  <a:pt x="104" y="0"/>
                </a:lnTo>
                <a:lnTo>
                  <a:pt x="218" y="0"/>
                </a:lnTo>
                <a:lnTo>
                  <a:pt x="114" y="123"/>
                </a:lnTo>
                <a:lnTo>
                  <a:pt x="0" y="123"/>
                </a:lnTo>
                <a:close/>
                <a:moveTo>
                  <a:pt x="172" y="123"/>
                </a:moveTo>
                <a:lnTo>
                  <a:pt x="276" y="0"/>
                </a:lnTo>
                <a:lnTo>
                  <a:pt x="390" y="0"/>
                </a:lnTo>
                <a:lnTo>
                  <a:pt x="286" y="123"/>
                </a:lnTo>
                <a:lnTo>
                  <a:pt x="172" y="123"/>
                </a:lnTo>
                <a:close/>
                <a:moveTo>
                  <a:pt x="344" y="123"/>
                </a:moveTo>
                <a:lnTo>
                  <a:pt x="448" y="0"/>
                </a:lnTo>
                <a:lnTo>
                  <a:pt x="562" y="0"/>
                </a:lnTo>
                <a:lnTo>
                  <a:pt x="458" y="123"/>
                </a:lnTo>
                <a:lnTo>
                  <a:pt x="344" y="123"/>
                </a:lnTo>
                <a:close/>
                <a:moveTo>
                  <a:pt x="516" y="123"/>
                </a:moveTo>
                <a:lnTo>
                  <a:pt x="620" y="0"/>
                </a:lnTo>
                <a:lnTo>
                  <a:pt x="734" y="0"/>
                </a:lnTo>
                <a:lnTo>
                  <a:pt x="630" y="123"/>
                </a:lnTo>
                <a:lnTo>
                  <a:pt x="516" y="123"/>
                </a:lnTo>
                <a:close/>
                <a:moveTo>
                  <a:pt x="688" y="123"/>
                </a:moveTo>
                <a:lnTo>
                  <a:pt x="792" y="0"/>
                </a:lnTo>
                <a:lnTo>
                  <a:pt x="906" y="0"/>
                </a:lnTo>
                <a:lnTo>
                  <a:pt x="802" y="123"/>
                </a:lnTo>
                <a:lnTo>
                  <a:pt x="688" y="123"/>
                </a:lnTo>
                <a:close/>
                <a:moveTo>
                  <a:pt x="860" y="123"/>
                </a:moveTo>
                <a:lnTo>
                  <a:pt x="964" y="0"/>
                </a:lnTo>
                <a:lnTo>
                  <a:pt x="1078" y="0"/>
                </a:lnTo>
                <a:lnTo>
                  <a:pt x="974" y="123"/>
                </a:lnTo>
                <a:lnTo>
                  <a:pt x="860" y="123"/>
                </a:lnTo>
                <a:close/>
                <a:moveTo>
                  <a:pt x="1032" y="123"/>
                </a:moveTo>
                <a:lnTo>
                  <a:pt x="1136" y="0"/>
                </a:lnTo>
                <a:lnTo>
                  <a:pt x="1250" y="0"/>
                </a:lnTo>
                <a:lnTo>
                  <a:pt x="1146" y="123"/>
                </a:lnTo>
                <a:lnTo>
                  <a:pt x="1032" y="123"/>
                </a:lnTo>
                <a:close/>
              </a:path>
            </a:pathLst>
          </a:custGeom>
          <a:gradFill>
            <a:gsLst>
              <a:gs pos="29000">
                <a:srgbClr val="254FEB"/>
              </a:gs>
              <a:gs pos="100000">
                <a:srgbClr val="254F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35" y="0"/>
            <a:ext cx="12191365" cy="568325"/>
          </a:xfrm>
          <a:prstGeom prst="rect">
            <a:avLst/>
          </a:prstGeom>
        </p:spPr>
      </p:pic>
      <p:pic>
        <p:nvPicPr>
          <p:cNvPr id="2" name="图片 1" descr="logo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00380" y="73025"/>
            <a:ext cx="11202035" cy="4222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仅标题"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2026/10/6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529218" y="1445886"/>
            <a:ext cx="11133563" cy="4622027"/>
          </a:xfrm>
        </p:spPr>
        <p:txBody>
          <a:bodyPr/>
          <a:lstStyle>
            <a:lvl1pPr>
              <a:defRPr b="0" i="0">
                <a:solidFill>
                  <a:srgbClr val="090509"/>
                </a:solidFill>
                <a:latin typeface="+mn-ea"/>
                <a:ea typeface="+mn-ea"/>
              </a:defRPr>
            </a:lvl1pPr>
            <a:lvl2pPr>
              <a:defRPr b="0" i="0">
                <a:solidFill>
                  <a:srgbClr val="090509"/>
                </a:solidFill>
                <a:latin typeface="+mn-ea"/>
                <a:ea typeface="+mn-ea"/>
              </a:defRPr>
            </a:lvl2pPr>
            <a:lvl3pPr>
              <a:defRPr b="0" i="0">
                <a:solidFill>
                  <a:srgbClr val="090509"/>
                </a:solidFill>
                <a:latin typeface="+mn-ea"/>
                <a:ea typeface="+mn-ea"/>
              </a:defRPr>
            </a:lvl3pPr>
            <a:lvl4pPr>
              <a:defRPr b="0" i="0">
                <a:solidFill>
                  <a:srgbClr val="090509"/>
                </a:solidFill>
                <a:latin typeface="+mn-ea"/>
                <a:ea typeface="+mn-ea"/>
              </a:defRPr>
            </a:lvl4pPr>
            <a:lvl5pPr>
              <a:defRPr b="0" i="0">
                <a:solidFill>
                  <a:srgbClr val="090509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12" name="标题 1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28955" y="522605"/>
            <a:ext cx="7624445" cy="491490"/>
          </a:xfrm>
        </p:spPr>
        <p:txBody>
          <a:bodyPr wrap="square" anchor="ctr" anchorCtr="0">
            <a:spAutoFit/>
          </a:bodyPr>
          <a:lstStyle>
            <a:lvl1pPr>
              <a:lnSpc>
                <a:spcPct val="100000"/>
              </a:lnSpc>
              <a:defRPr sz="2600" b="1">
                <a:solidFill>
                  <a:srgbClr val="254FEB"/>
                </a:solidFill>
                <a:effectLst/>
                <a:latin typeface="+mj-ea"/>
                <a:ea typeface="+mj-ea"/>
                <a:cs typeface="+mj-ea"/>
              </a:defRPr>
            </a:lvl1pPr>
          </a:lstStyle>
          <a:p>
            <a:r>
              <a:rPr lang="en-US" altLang="zh-CN" dirty="0"/>
              <a:t>2.2 XX</a:t>
            </a:r>
            <a:r>
              <a:rPr lang="zh-CN" altLang="en-US" dirty="0"/>
              <a:t>亮点</a:t>
            </a:r>
          </a:p>
        </p:txBody>
      </p:sp>
      <p:sp>
        <p:nvSpPr>
          <p:cNvPr id="10" name="任意多边形 9"/>
          <p:cNvSpPr/>
          <p:nvPr userDrawn="1">
            <p:custDataLst>
              <p:tags r:id="rId2"/>
            </p:custDataLst>
          </p:nvPr>
        </p:nvSpPr>
        <p:spPr>
          <a:xfrm>
            <a:off x="589280" y="1022985"/>
            <a:ext cx="793750" cy="78105"/>
          </a:xfrm>
          <a:custGeom>
            <a:avLst/>
            <a:gdLst>
              <a:gd name="adj" fmla="val 84552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250" h="123">
                <a:moveTo>
                  <a:pt x="0" y="123"/>
                </a:moveTo>
                <a:lnTo>
                  <a:pt x="104" y="0"/>
                </a:lnTo>
                <a:lnTo>
                  <a:pt x="218" y="0"/>
                </a:lnTo>
                <a:lnTo>
                  <a:pt x="114" y="123"/>
                </a:lnTo>
                <a:lnTo>
                  <a:pt x="0" y="123"/>
                </a:lnTo>
                <a:close/>
                <a:moveTo>
                  <a:pt x="172" y="123"/>
                </a:moveTo>
                <a:lnTo>
                  <a:pt x="276" y="0"/>
                </a:lnTo>
                <a:lnTo>
                  <a:pt x="390" y="0"/>
                </a:lnTo>
                <a:lnTo>
                  <a:pt x="286" y="123"/>
                </a:lnTo>
                <a:lnTo>
                  <a:pt x="172" y="123"/>
                </a:lnTo>
                <a:close/>
                <a:moveTo>
                  <a:pt x="344" y="123"/>
                </a:moveTo>
                <a:lnTo>
                  <a:pt x="448" y="0"/>
                </a:lnTo>
                <a:lnTo>
                  <a:pt x="562" y="0"/>
                </a:lnTo>
                <a:lnTo>
                  <a:pt x="458" y="123"/>
                </a:lnTo>
                <a:lnTo>
                  <a:pt x="344" y="123"/>
                </a:lnTo>
                <a:close/>
                <a:moveTo>
                  <a:pt x="516" y="123"/>
                </a:moveTo>
                <a:lnTo>
                  <a:pt x="620" y="0"/>
                </a:lnTo>
                <a:lnTo>
                  <a:pt x="734" y="0"/>
                </a:lnTo>
                <a:lnTo>
                  <a:pt x="630" y="123"/>
                </a:lnTo>
                <a:lnTo>
                  <a:pt x="516" y="123"/>
                </a:lnTo>
                <a:close/>
                <a:moveTo>
                  <a:pt x="688" y="123"/>
                </a:moveTo>
                <a:lnTo>
                  <a:pt x="792" y="0"/>
                </a:lnTo>
                <a:lnTo>
                  <a:pt x="906" y="0"/>
                </a:lnTo>
                <a:lnTo>
                  <a:pt x="802" y="123"/>
                </a:lnTo>
                <a:lnTo>
                  <a:pt x="688" y="123"/>
                </a:lnTo>
                <a:close/>
                <a:moveTo>
                  <a:pt x="860" y="123"/>
                </a:moveTo>
                <a:lnTo>
                  <a:pt x="964" y="0"/>
                </a:lnTo>
                <a:lnTo>
                  <a:pt x="1078" y="0"/>
                </a:lnTo>
                <a:lnTo>
                  <a:pt x="974" y="123"/>
                </a:lnTo>
                <a:lnTo>
                  <a:pt x="860" y="123"/>
                </a:lnTo>
                <a:close/>
                <a:moveTo>
                  <a:pt x="1032" y="123"/>
                </a:moveTo>
                <a:lnTo>
                  <a:pt x="1136" y="0"/>
                </a:lnTo>
                <a:lnTo>
                  <a:pt x="1250" y="0"/>
                </a:lnTo>
                <a:lnTo>
                  <a:pt x="1146" y="123"/>
                </a:lnTo>
                <a:lnTo>
                  <a:pt x="1032" y="123"/>
                </a:lnTo>
                <a:close/>
              </a:path>
            </a:pathLst>
          </a:custGeom>
          <a:gradFill>
            <a:gsLst>
              <a:gs pos="29000">
                <a:srgbClr val="254FEB"/>
              </a:gs>
              <a:gs pos="100000">
                <a:srgbClr val="254F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35" y="0"/>
            <a:ext cx="12191365" cy="568325"/>
          </a:xfrm>
          <a:prstGeom prst="rect">
            <a:avLst/>
          </a:prstGeom>
        </p:spPr>
      </p:pic>
      <p:pic>
        <p:nvPicPr>
          <p:cNvPr id="2" name="图片 1" descr="logo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00380" y="73025"/>
            <a:ext cx="11202035" cy="4222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仅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16x9kv-底图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标题 1"/>
          <p:cNvSpPr txBox="1"/>
          <p:nvPr userDrawn="1">
            <p:custDataLst>
              <p:tags r:id="rId1"/>
            </p:custDataLst>
          </p:nvPr>
        </p:nvSpPr>
        <p:spPr>
          <a:xfrm>
            <a:off x="2316480" y="2591380"/>
            <a:ext cx="2661920" cy="838835"/>
          </a:xfrm>
          <a:prstGeom prst="rect">
            <a:avLst/>
          </a:prstGeom>
          <a:noFill/>
        </p:spPr>
        <p:txBody>
          <a:bodyPr vert="horz" wrap="square" lIns="90000" tIns="45720" rIns="91440" bIns="45720" rtlCol="0" anchor="ctr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8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kumimoji="1" lang="en-US" altLang="zh-CN" sz="5400" b="1" cap="none" spc="0" dirty="0">
                <a:ln w="6600">
                  <a:noFill/>
                  <a:prstDash val="solid"/>
                </a:ln>
                <a:solidFill>
                  <a:schemeClr val="bg1"/>
                </a:solidFill>
                <a:effectLst/>
              </a:rPr>
              <a:t>Part 03</a:t>
            </a:r>
          </a:p>
        </p:txBody>
      </p:sp>
      <p:sp>
        <p:nvSpPr>
          <p:cNvPr id="16" name="文本占位符 17"/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192421" y="2453241"/>
            <a:ext cx="4304799" cy="1115113"/>
          </a:xfrm>
        </p:spPr>
        <p:txBody>
          <a:bodyPr lIns="90000" anchor="ctr">
            <a:noAutofit/>
          </a:bodyPr>
          <a:lstStyle>
            <a:lvl1pPr marL="0" indent="0" algn="l">
              <a:buNone/>
              <a:defRPr sz="6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zh-CN" altLang="en-US" dirty="0"/>
              <a:t>技术难点</a:t>
            </a:r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4" hasCustomPrompt="1"/>
            <p:custDataLst>
              <p:tags r:id="rId3"/>
            </p:custDataLst>
          </p:nvPr>
        </p:nvSpPr>
        <p:spPr>
          <a:xfrm>
            <a:off x="2330450" y="3770630"/>
            <a:ext cx="7531100" cy="972185"/>
          </a:xfrm>
        </p:spPr>
        <p:txBody>
          <a:bodyPr>
            <a:normAutofit/>
          </a:bodyPr>
          <a:lstStyle>
            <a:lvl1pPr marL="0" indent="0" algn="r">
              <a:lnSpc>
                <a:spcPct val="150000"/>
              </a:lnSpc>
              <a:buNone/>
              <a:defRPr sz="1400">
                <a:solidFill>
                  <a:schemeClr val="bg1"/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CN" altLang="en-US" dirty="0"/>
              <a:t>单击编辑文本，文字是您思想的提炼，为了最终演示的良好效果，请尽量言简意赅的阐述观点</a:t>
            </a:r>
          </a:p>
        </p:txBody>
      </p:sp>
      <p:pic>
        <p:nvPicPr>
          <p:cNvPr id="2" name="图片 1" descr="logo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500380" y="294640"/>
            <a:ext cx="11202035" cy="4222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仅标题"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2026/10/6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529218" y="1445886"/>
            <a:ext cx="11133563" cy="4622027"/>
          </a:xfrm>
        </p:spPr>
        <p:txBody>
          <a:bodyPr/>
          <a:lstStyle>
            <a:lvl1pPr>
              <a:defRPr b="0" i="0">
                <a:solidFill>
                  <a:srgbClr val="090509"/>
                </a:solidFill>
                <a:latin typeface="+mn-ea"/>
                <a:ea typeface="+mn-ea"/>
              </a:defRPr>
            </a:lvl1pPr>
            <a:lvl2pPr>
              <a:defRPr b="0" i="0">
                <a:solidFill>
                  <a:srgbClr val="090509"/>
                </a:solidFill>
                <a:latin typeface="+mn-ea"/>
                <a:ea typeface="+mn-ea"/>
              </a:defRPr>
            </a:lvl2pPr>
            <a:lvl3pPr>
              <a:defRPr b="0" i="0">
                <a:solidFill>
                  <a:srgbClr val="090509"/>
                </a:solidFill>
                <a:latin typeface="+mn-ea"/>
                <a:ea typeface="+mn-ea"/>
              </a:defRPr>
            </a:lvl3pPr>
            <a:lvl4pPr>
              <a:defRPr b="0" i="0">
                <a:solidFill>
                  <a:srgbClr val="090509"/>
                </a:solidFill>
                <a:latin typeface="+mn-ea"/>
                <a:ea typeface="+mn-ea"/>
              </a:defRPr>
            </a:lvl4pPr>
            <a:lvl5pPr>
              <a:defRPr b="0" i="0">
                <a:solidFill>
                  <a:srgbClr val="090509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12" name="标题 1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28955" y="522605"/>
            <a:ext cx="7624445" cy="491490"/>
          </a:xfrm>
        </p:spPr>
        <p:txBody>
          <a:bodyPr wrap="square" anchor="ctr" anchorCtr="0">
            <a:spAutoFit/>
          </a:bodyPr>
          <a:lstStyle>
            <a:lvl1pPr>
              <a:lnSpc>
                <a:spcPct val="100000"/>
              </a:lnSpc>
              <a:defRPr sz="2600" b="1">
                <a:solidFill>
                  <a:srgbClr val="254FEB"/>
                </a:solidFill>
                <a:effectLst/>
                <a:latin typeface="+mj-ea"/>
                <a:ea typeface="+mj-ea"/>
                <a:cs typeface="+mj-ea"/>
              </a:defRPr>
            </a:lvl1pPr>
          </a:lstStyle>
          <a:p>
            <a:r>
              <a:rPr lang="en-US" altLang="zh-CN" dirty="0"/>
              <a:t>3.1</a:t>
            </a:r>
            <a:endParaRPr lang="zh-CN" altLang="en-US" dirty="0"/>
          </a:p>
        </p:txBody>
      </p:sp>
      <p:sp>
        <p:nvSpPr>
          <p:cNvPr id="10" name="任意多边形 9"/>
          <p:cNvSpPr/>
          <p:nvPr userDrawn="1">
            <p:custDataLst>
              <p:tags r:id="rId2"/>
            </p:custDataLst>
          </p:nvPr>
        </p:nvSpPr>
        <p:spPr>
          <a:xfrm>
            <a:off x="589280" y="1022985"/>
            <a:ext cx="793750" cy="78105"/>
          </a:xfrm>
          <a:custGeom>
            <a:avLst/>
            <a:gdLst>
              <a:gd name="adj" fmla="val 84552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250" h="123">
                <a:moveTo>
                  <a:pt x="0" y="123"/>
                </a:moveTo>
                <a:lnTo>
                  <a:pt x="104" y="0"/>
                </a:lnTo>
                <a:lnTo>
                  <a:pt x="218" y="0"/>
                </a:lnTo>
                <a:lnTo>
                  <a:pt x="114" y="123"/>
                </a:lnTo>
                <a:lnTo>
                  <a:pt x="0" y="123"/>
                </a:lnTo>
                <a:close/>
                <a:moveTo>
                  <a:pt x="172" y="123"/>
                </a:moveTo>
                <a:lnTo>
                  <a:pt x="276" y="0"/>
                </a:lnTo>
                <a:lnTo>
                  <a:pt x="390" y="0"/>
                </a:lnTo>
                <a:lnTo>
                  <a:pt x="286" y="123"/>
                </a:lnTo>
                <a:lnTo>
                  <a:pt x="172" y="123"/>
                </a:lnTo>
                <a:close/>
                <a:moveTo>
                  <a:pt x="344" y="123"/>
                </a:moveTo>
                <a:lnTo>
                  <a:pt x="448" y="0"/>
                </a:lnTo>
                <a:lnTo>
                  <a:pt x="562" y="0"/>
                </a:lnTo>
                <a:lnTo>
                  <a:pt x="458" y="123"/>
                </a:lnTo>
                <a:lnTo>
                  <a:pt x="344" y="123"/>
                </a:lnTo>
                <a:close/>
                <a:moveTo>
                  <a:pt x="516" y="123"/>
                </a:moveTo>
                <a:lnTo>
                  <a:pt x="620" y="0"/>
                </a:lnTo>
                <a:lnTo>
                  <a:pt x="734" y="0"/>
                </a:lnTo>
                <a:lnTo>
                  <a:pt x="630" y="123"/>
                </a:lnTo>
                <a:lnTo>
                  <a:pt x="516" y="123"/>
                </a:lnTo>
                <a:close/>
                <a:moveTo>
                  <a:pt x="688" y="123"/>
                </a:moveTo>
                <a:lnTo>
                  <a:pt x="792" y="0"/>
                </a:lnTo>
                <a:lnTo>
                  <a:pt x="906" y="0"/>
                </a:lnTo>
                <a:lnTo>
                  <a:pt x="802" y="123"/>
                </a:lnTo>
                <a:lnTo>
                  <a:pt x="688" y="123"/>
                </a:lnTo>
                <a:close/>
                <a:moveTo>
                  <a:pt x="860" y="123"/>
                </a:moveTo>
                <a:lnTo>
                  <a:pt x="964" y="0"/>
                </a:lnTo>
                <a:lnTo>
                  <a:pt x="1078" y="0"/>
                </a:lnTo>
                <a:lnTo>
                  <a:pt x="974" y="123"/>
                </a:lnTo>
                <a:lnTo>
                  <a:pt x="860" y="123"/>
                </a:lnTo>
                <a:close/>
                <a:moveTo>
                  <a:pt x="1032" y="123"/>
                </a:moveTo>
                <a:lnTo>
                  <a:pt x="1136" y="0"/>
                </a:lnTo>
                <a:lnTo>
                  <a:pt x="1250" y="0"/>
                </a:lnTo>
                <a:lnTo>
                  <a:pt x="1146" y="123"/>
                </a:lnTo>
                <a:lnTo>
                  <a:pt x="1032" y="123"/>
                </a:lnTo>
                <a:close/>
              </a:path>
            </a:pathLst>
          </a:custGeom>
          <a:gradFill>
            <a:gsLst>
              <a:gs pos="29000">
                <a:srgbClr val="254FEB"/>
              </a:gs>
              <a:gs pos="100000">
                <a:srgbClr val="254F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35" y="0"/>
            <a:ext cx="12191365" cy="568325"/>
          </a:xfrm>
          <a:prstGeom prst="rect">
            <a:avLst/>
          </a:prstGeom>
        </p:spPr>
      </p:pic>
      <p:pic>
        <p:nvPicPr>
          <p:cNvPr id="2" name="图片 1" descr="logo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00380" y="73025"/>
            <a:ext cx="11202035" cy="4222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仅标题"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2026/10/6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529218" y="1445886"/>
            <a:ext cx="11133563" cy="4622027"/>
          </a:xfrm>
        </p:spPr>
        <p:txBody>
          <a:bodyPr/>
          <a:lstStyle>
            <a:lvl1pPr>
              <a:defRPr b="0" i="0">
                <a:solidFill>
                  <a:srgbClr val="090509"/>
                </a:solidFill>
                <a:latin typeface="+mn-ea"/>
                <a:ea typeface="+mn-ea"/>
              </a:defRPr>
            </a:lvl1pPr>
            <a:lvl2pPr>
              <a:defRPr b="0" i="0">
                <a:solidFill>
                  <a:srgbClr val="090509"/>
                </a:solidFill>
                <a:latin typeface="+mn-ea"/>
                <a:ea typeface="+mn-ea"/>
              </a:defRPr>
            </a:lvl2pPr>
            <a:lvl3pPr>
              <a:defRPr b="0" i="0">
                <a:solidFill>
                  <a:srgbClr val="090509"/>
                </a:solidFill>
                <a:latin typeface="+mn-ea"/>
                <a:ea typeface="+mn-ea"/>
              </a:defRPr>
            </a:lvl3pPr>
            <a:lvl4pPr>
              <a:defRPr b="0" i="0">
                <a:solidFill>
                  <a:srgbClr val="090509"/>
                </a:solidFill>
                <a:latin typeface="+mn-ea"/>
                <a:ea typeface="+mn-ea"/>
              </a:defRPr>
            </a:lvl4pPr>
            <a:lvl5pPr>
              <a:defRPr b="0" i="0">
                <a:solidFill>
                  <a:srgbClr val="090509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12" name="标题 1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28955" y="522605"/>
            <a:ext cx="7624445" cy="491490"/>
          </a:xfrm>
        </p:spPr>
        <p:txBody>
          <a:bodyPr wrap="square" anchor="ctr" anchorCtr="0">
            <a:spAutoFit/>
          </a:bodyPr>
          <a:lstStyle>
            <a:lvl1pPr>
              <a:lnSpc>
                <a:spcPct val="100000"/>
              </a:lnSpc>
              <a:defRPr sz="2600" b="1">
                <a:solidFill>
                  <a:srgbClr val="254FEB"/>
                </a:solidFill>
                <a:effectLst/>
                <a:latin typeface="+mj-ea"/>
                <a:ea typeface="+mj-ea"/>
                <a:cs typeface="+mj-ea"/>
              </a:defRPr>
            </a:lvl1pPr>
          </a:lstStyle>
          <a:p>
            <a:r>
              <a:rPr lang="en-US" altLang="zh-CN" dirty="0"/>
              <a:t>3.2</a:t>
            </a:r>
            <a:endParaRPr lang="zh-CN" altLang="en-US" dirty="0"/>
          </a:p>
        </p:txBody>
      </p:sp>
      <p:sp>
        <p:nvSpPr>
          <p:cNvPr id="10" name="任意多边形 9"/>
          <p:cNvSpPr/>
          <p:nvPr userDrawn="1">
            <p:custDataLst>
              <p:tags r:id="rId2"/>
            </p:custDataLst>
          </p:nvPr>
        </p:nvSpPr>
        <p:spPr>
          <a:xfrm>
            <a:off x="589280" y="1022985"/>
            <a:ext cx="793750" cy="78105"/>
          </a:xfrm>
          <a:custGeom>
            <a:avLst/>
            <a:gdLst>
              <a:gd name="adj" fmla="val 84552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250" h="123">
                <a:moveTo>
                  <a:pt x="0" y="123"/>
                </a:moveTo>
                <a:lnTo>
                  <a:pt x="104" y="0"/>
                </a:lnTo>
                <a:lnTo>
                  <a:pt x="218" y="0"/>
                </a:lnTo>
                <a:lnTo>
                  <a:pt x="114" y="123"/>
                </a:lnTo>
                <a:lnTo>
                  <a:pt x="0" y="123"/>
                </a:lnTo>
                <a:close/>
                <a:moveTo>
                  <a:pt x="172" y="123"/>
                </a:moveTo>
                <a:lnTo>
                  <a:pt x="276" y="0"/>
                </a:lnTo>
                <a:lnTo>
                  <a:pt x="390" y="0"/>
                </a:lnTo>
                <a:lnTo>
                  <a:pt x="286" y="123"/>
                </a:lnTo>
                <a:lnTo>
                  <a:pt x="172" y="123"/>
                </a:lnTo>
                <a:close/>
                <a:moveTo>
                  <a:pt x="344" y="123"/>
                </a:moveTo>
                <a:lnTo>
                  <a:pt x="448" y="0"/>
                </a:lnTo>
                <a:lnTo>
                  <a:pt x="562" y="0"/>
                </a:lnTo>
                <a:lnTo>
                  <a:pt x="458" y="123"/>
                </a:lnTo>
                <a:lnTo>
                  <a:pt x="344" y="123"/>
                </a:lnTo>
                <a:close/>
                <a:moveTo>
                  <a:pt x="516" y="123"/>
                </a:moveTo>
                <a:lnTo>
                  <a:pt x="620" y="0"/>
                </a:lnTo>
                <a:lnTo>
                  <a:pt x="734" y="0"/>
                </a:lnTo>
                <a:lnTo>
                  <a:pt x="630" y="123"/>
                </a:lnTo>
                <a:lnTo>
                  <a:pt x="516" y="123"/>
                </a:lnTo>
                <a:close/>
                <a:moveTo>
                  <a:pt x="688" y="123"/>
                </a:moveTo>
                <a:lnTo>
                  <a:pt x="792" y="0"/>
                </a:lnTo>
                <a:lnTo>
                  <a:pt x="906" y="0"/>
                </a:lnTo>
                <a:lnTo>
                  <a:pt x="802" y="123"/>
                </a:lnTo>
                <a:lnTo>
                  <a:pt x="688" y="123"/>
                </a:lnTo>
                <a:close/>
                <a:moveTo>
                  <a:pt x="860" y="123"/>
                </a:moveTo>
                <a:lnTo>
                  <a:pt x="964" y="0"/>
                </a:lnTo>
                <a:lnTo>
                  <a:pt x="1078" y="0"/>
                </a:lnTo>
                <a:lnTo>
                  <a:pt x="974" y="123"/>
                </a:lnTo>
                <a:lnTo>
                  <a:pt x="860" y="123"/>
                </a:lnTo>
                <a:close/>
                <a:moveTo>
                  <a:pt x="1032" y="123"/>
                </a:moveTo>
                <a:lnTo>
                  <a:pt x="1136" y="0"/>
                </a:lnTo>
                <a:lnTo>
                  <a:pt x="1250" y="0"/>
                </a:lnTo>
                <a:lnTo>
                  <a:pt x="1146" y="123"/>
                </a:lnTo>
                <a:lnTo>
                  <a:pt x="1032" y="123"/>
                </a:lnTo>
                <a:close/>
              </a:path>
            </a:pathLst>
          </a:custGeom>
          <a:gradFill>
            <a:gsLst>
              <a:gs pos="29000">
                <a:srgbClr val="254FEB"/>
              </a:gs>
              <a:gs pos="100000">
                <a:srgbClr val="254F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35" y="0"/>
            <a:ext cx="12191365" cy="568325"/>
          </a:xfrm>
          <a:prstGeom prst="rect">
            <a:avLst/>
          </a:prstGeom>
        </p:spPr>
      </p:pic>
      <p:pic>
        <p:nvPicPr>
          <p:cNvPr id="2" name="图片 1" descr="logo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00380" y="73025"/>
            <a:ext cx="11202035" cy="4222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仅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16x9kv-底图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标题 1"/>
          <p:cNvSpPr txBox="1"/>
          <p:nvPr userDrawn="1">
            <p:custDataLst>
              <p:tags r:id="rId1"/>
            </p:custDataLst>
          </p:nvPr>
        </p:nvSpPr>
        <p:spPr>
          <a:xfrm>
            <a:off x="2316480" y="2591380"/>
            <a:ext cx="2661920" cy="838835"/>
          </a:xfrm>
          <a:prstGeom prst="rect">
            <a:avLst/>
          </a:prstGeom>
          <a:noFill/>
        </p:spPr>
        <p:txBody>
          <a:bodyPr vert="horz" wrap="square" lIns="90000" tIns="45720" rIns="91440" bIns="45720" rtlCol="0" anchor="ctr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8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kumimoji="1" lang="en-US" altLang="zh-CN" sz="5400" b="1" cap="none" spc="0" dirty="0">
                <a:ln w="6600">
                  <a:noFill/>
                  <a:prstDash val="solid"/>
                </a:ln>
                <a:solidFill>
                  <a:schemeClr val="bg1"/>
                </a:solidFill>
                <a:effectLst/>
              </a:rPr>
              <a:t>Part 04</a:t>
            </a:r>
          </a:p>
        </p:txBody>
      </p:sp>
      <p:sp>
        <p:nvSpPr>
          <p:cNvPr id="16" name="文本占位符 17"/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192421" y="2453241"/>
            <a:ext cx="4304799" cy="1115113"/>
          </a:xfrm>
        </p:spPr>
        <p:txBody>
          <a:bodyPr lIns="90000" anchor="ctr">
            <a:noAutofit/>
          </a:bodyPr>
          <a:lstStyle>
            <a:lvl1pPr marL="0" indent="0" algn="l">
              <a:buNone/>
              <a:defRPr sz="6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zh-CN" altLang="en-US" dirty="0"/>
              <a:t>项目测试</a:t>
            </a:r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4" hasCustomPrompt="1"/>
            <p:custDataLst>
              <p:tags r:id="rId3"/>
            </p:custDataLst>
          </p:nvPr>
        </p:nvSpPr>
        <p:spPr>
          <a:xfrm>
            <a:off x="2330450" y="3770630"/>
            <a:ext cx="7531100" cy="972185"/>
          </a:xfrm>
        </p:spPr>
        <p:txBody>
          <a:bodyPr>
            <a:normAutofit/>
          </a:bodyPr>
          <a:lstStyle>
            <a:lvl1pPr marL="0" indent="0" algn="r">
              <a:lnSpc>
                <a:spcPct val="150000"/>
              </a:lnSpc>
              <a:buNone/>
              <a:defRPr sz="1400">
                <a:solidFill>
                  <a:schemeClr val="bg1"/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CN" altLang="en-US" dirty="0"/>
              <a:t>单击编辑文本，文字是您思想的提炼，为了最终演示的良好效果，请尽量言简意赅的阐述观点</a:t>
            </a:r>
          </a:p>
        </p:txBody>
      </p:sp>
      <p:pic>
        <p:nvPicPr>
          <p:cNvPr id="2" name="图片 1" descr="logo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500380" y="294640"/>
            <a:ext cx="11202035" cy="4222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仅标题"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2026/10/6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529218" y="1445886"/>
            <a:ext cx="11133563" cy="4622027"/>
          </a:xfrm>
        </p:spPr>
        <p:txBody>
          <a:bodyPr/>
          <a:lstStyle>
            <a:lvl1pPr>
              <a:defRPr b="0" i="0">
                <a:solidFill>
                  <a:srgbClr val="090509"/>
                </a:solidFill>
                <a:latin typeface="+mn-ea"/>
                <a:ea typeface="+mn-ea"/>
              </a:defRPr>
            </a:lvl1pPr>
            <a:lvl2pPr>
              <a:defRPr b="0" i="0">
                <a:solidFill>
                  <a:srgbClr val="090509"/>
                </a:solidFill>
                <a:latin typeface="+mn-ea"/>
                <a:ea typeface="+mn-ea"/>
              </a:defRPr>
            </a:lvl2pPr>
            <a:lvl3pPr>
              <a:defRPr b="0" i="0">
                <a:solidFill>
                  <a:srgbClr val="090509"/>
                </a:solidFill>
                <a:latin typeface="+mn-ea"/>
                <a:ea typeface="+mn-ea"/>
              </a:defRPr>
            </a:lvl3pPr>
            <a:lvl4pPr>
              <a:defRPr b="0" i="0">
                <a:solidFill>
                  <a:srgbClr val="090509"/>
                </a:solidFill>
                <a:latin typeface="+mn-ea"/>
                <a:ea typeface="+mn-ea"/>
              </a:defRPr>
            </a:lvl4pPr>
            <a:lvl5pPr>
              <a:defRPr b="0" i="0">
                <a:solidFill>
                  <a:srgbClr val="090509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12" name="标题 1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28955" y="522605"/>
            <a:ext cx="7624445" cy="491490"/>
          </a:xfrm>
        </p:spPr>
        <p:txBody>
          <a:bodyPr wrap="square" anchor="ctr" anchorCtr="0">
            <a:spAutoFit/>
          </a:bodyPr>
          <a:lstStyle>
            <a:lvl1pPr>
              <a:lnSpc>
                <a:spcPct val="100000"/>
              </a:lnSpc>
              <a:defRPr sz="2600" b="1">
                <a:solidFill>
                  <a:srgbClr val="254FEB"/>
                </a:solidFill>
                <a:effectLst/>
                <a:latin typeface="+mj-ea"/>
                <a:ea typeface="+mj-ea"/>
                <a:cs typeface="+mj-ea"/>
              </a:defRPr>
            </a:lvl1pPr>
          </a:lstStyle>
          <a:p>
            <a:r>
              <a:rPr lang="en-US" altLang="zh-CN" dirty="0"/>
              <a:t>4.1 </a:t>
            </a:r>
            <a:r>
              <a:rPr lang="zh-CN" altLang="en-US" dirty="0"/>
              <a:t>项目测试结果说明</a:t>
            </a:r>
          </a:p>
        </p:txBody>
      </p:sp>
      <p:sp>
        <p:nvSpPr>
          <p:cNvPr id="10" name="任意多边形 9"/>
          <p:cNvSpPr/>
          <p:nvPr userDrawn="1">
            <p:custDataLst>
              <p:tags r:id="rId2"/>
            </p:custDataLst>
          </p:nvPr>
        </p:nvSpPr>
        <p:spPr>
          <a:xfrm>
            <a:off x="589280" y="1022985"/>
            <a:ext cx="793750" cy="78105"/>
          </a:xfrm>
          <a:custGeom>
            <a:avLst/>
            <a:gdLst>
              <a:gd name="adj" fmla="val 84552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250" h="123">
                <a:moveTo>
                  <a:pt x="0" y="123"/>
                </a:moveTo>
                <a:lnTo>
                  <a:pt x="104" y="0"/>
                </a:lnTo>
                <a:lnTo>
                  <a:pt x="218" y="0"/>
                </a:lnTo>
                <a:lnTo>
                  <a:pt x="114" y="123"/>
                </a:lnTo>
                <a:lnTo>
                  <a:pt x="0" y="123"/>
                </a:lnTo>
                <a:close/>
                <a:moveTo>
                  <a:pt x="172" y="123"/>
                </a:moveTo>
                <a:lnTo>
                  <a:pt x="276" y="0"/>
                </a:lnTo>
                <a:lnTo>
                  <a:pt x="390" y="0"/>
                </a:lnTo>
                <a:lnTo>
                  <a:pt x="286" y="123"/>
                </a:lnTo>
                <a:lnTo>
                  <a:pt x="172" y="123"/>
                </a:lnTo>
                <a:close/>
                <a:moveTo>
                  <a:pt x="344" y="123"/>
                </a:moveTo>
                <a:lnTo>
                  <a:pt x="448" y="0"/>
                </a:lnTo>
                <a:lnTo>
                  <a:pt x="562" y="0"/>
                </a:lnTo>
                <a:lnTo>
                  <a:pt x="458" y="123"/>
                </a:lnTo>
                <a:lnTo>
                  <a:pt x="344" y="123"/>
                </a:lnTo>
                <a:close/>
                <a:moveTo>
                  <a:pt x="516" y="123"/>
                </a:moveTo>
                <a:lnTo>
                  <a:pt x="620" y="0"/>
                </a:lnTo>
                <a:lnTo>
                  <a:pt x="734" y="0"/>
                </a:lnTo>
                <a:lnTo>
                  <a:pt x="630" y="123"/>
                </a:lnTo>
                <a:lnTo>
                  <a:pt x="516" y="123"/>
                </a:lnTo>
                <a:close/>
                <a:moveTo>
                  <a:pt x="688" y="123"/>
                </a:moveTo>
                <a:lnTo>
                  <a:pt x="792" y="0"/>
                </a:lnTo>
                <a:lnTo>
                  <a:pt x="906" y="0"/>
                </a:lnTo>
                <a:lnTo>
                  <a:pt x="802" y="123"/>
                </a:lnTo>
                <a:lnTo>
                  <a:pt x="688" y="123"/>
                </a:lnTo>
                <a:close/>
                <a:moveTo>
                  <a:pt x="860" y="123"/>
                </a:moveTo>
                <a:lnTo>
                  <a:pt x="964" y="0"/>
                </a:lnTo>
                <a:lnTo>
                  <a:pt x="1078" y="0"/>
                </a:lnTo>
                <a:lnTo>
                  <a:pt x="974" y="123"/>
                </a:lnTo>
                <a:lnTo>
                  <a:pt x="860" y="123"/>
                </a:lnTo>
                <a:close/>
                <a:moveTo>
                  <a:pt x="1032" y="123"/>
                </a:moveTo>
                <a:lnTo>
                  <a:pt x="1136" y="0"/>
                </a:lnTo>
                <a:lnTo>
                  <a:pt x="1250" y="0"/>
                </a:lnTo>
                <a:lnTo>
                  <a:pt x="1146" y="123"/>
                </a:lnTo>
                <a:lnTo>
                  <a:pt x="1032" y="123"/>
                </a:lnTo>
                <a:close/>
              </a:path>
            </a:pathLst>
          </a:custGeom>
          <a:gradFill>
            <a:gsLst>
              <a:gs pos="29000">
                <a:srgbClr val="254FEB"/>
              </a:gs>
              <a:gs pos="100000">
                <a:srgbClr val="254F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35" y="0"/>
            <a:ext cx="12191365" cy="568325"/>
          </a:xfrm>
          <a:prstGeom prst="rect">
            <a:avLst/>
          </a:prstGeom>
        </p:spPr>
      </p:pic>
      <p:pic>
        <p:nvPicPr>
          <p:cNvPr id="2" name="图片 1" descr="logo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00380" y="73025"/>
            <a:ext cx="11202035" cy="4222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仅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16x9kv-底图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2026/10/6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5" name="标题 1"/>
          <p:cNvSpPr txBox="1"/>
          <p:nvPr userDrawn="1">
            <p:custDataLst>
              <p:tags r:id="rId1"/>
            </p:custDataLst>
          </p:nvPr>
        </p:nvSpPr>
        <p:spPr>
          <a:xfrm>
            <a:off x="2316480" y="2591380"/>
            <a:ext cx="2661920" cy="838835"/>
          </a:xfrm>
          <a:prstGeom prst="rect">
            <a:avLst/>
          </a:prstGeom>
          <a:noFill/>
        </p:spPr>
        <p:txBody>
          <a:bodyPr vert="horz" wrap="square" lIns="90000" tIns="45720" rIns="91440" bIns="45720" rtlCol="0" anchor="ctr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8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kumimoji="1" lang="en-US" altLang="zh-CN" sz="5400" b="1" cap="none" spc="0" dirty="0">
                <a:ln w="6600">
                  <a:noFill/>
                  <a:prstDash val="solid"/>
                </a:ln>
                <a:solidFill>
                  <a:schemeClr val="bg1"/>
                </a:solidFill>
                <a:effectLst/>
              </a:rPr>
              <a:t>Part 05</a:t>
            </a:r>
          </a:p>
        </p:txBody>
      </p:sp>
      <p:sp>
        <p:nvSpPr>
          <p:cNvPr id="16" name="文本占位符 17"/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192421" y="2453241"/>
            <a:ext cx="4304799" cy="1115113"/>
          </a:xfrm>
        </p:spPr>
        <p:txBody>
          <a:bodyPr lIns="90000" anchor="ctr">
            <a:noAutofit/>
          </a:bodyPr>
          <a:lstStyle>
            <a:lvl1pPr marL="0" indent="0" algn="l">
              <a:buNone/>
              <a:defRPr sz="6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zh-CN" altLang="en-US" dirty="0"/>
              <a:t>作品演示</a:t>
            </a:r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4" hasCustomPrompt="1"/>
            <p:custDataLst>
              <p:tags r:id="rId3"/>
            </p:custDataLst>
          </p:nvPr>
        </p:nvSpPr>
        <p:spPr>
          <a:xfrm>
            <a:off x="2330450" y="3770630"/>
            <a:ext cx="7531100" cy="972185"/>
          </a:xfrm>
        </p:spPr>
        <p:txBody>
          <a:bodyPr>
            <a:normAutofit/>
          </a:bodyPr>
          <a:lstStyle>
            <a:lvl1pPr marL="0" indent="0" algn="r">
              <a:lnSpc>
                <a:spcPct val="150000"/>
              </a:lnSpc>
              <a:buNone/>
              <a:defRPr sz="1400">
                <a:solidFill>
                  <a:schemeClr val="bg1"/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CN" altLang="en-US" dirty="0"/>
              <a:t>单击编辑文本，文字是您思想的提炼，为了最终演示的良好效果，请尽量言简意赅的阐述观点</a:t>
            </a:r>
          </a:p>
        </p:txBody>
      </p:sp>
      <p:pic>
        <p:nvPicPr>
          <p:cNvPr id="7" name="图片 6" descr="logo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500380" y="294640"/>
            <a:ext cx="11202035" cy="4222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仅标题"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2026/10/6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6" name="媒体占位符 5"/>
          <p:cNvSpPr>
            <a:spLocks noGrp="1"/>
          </p:cNvSpPr>
          <p:nvPr>
            <p:ph type="media" sz="quarter" idx="15"/>
          </p:nvPr>
        </p:nvSpPr>
        <p:spPr>
          <a:xfrm>
            <a:off x="529218" y="1419861"/>
            <a:ext cx="11133563" cy="4648052"/>
          </a:xfrm>
        </p:spPr>
        <p:txBody>
          <a:bodyPr/>
          <a:lstStyle>
            <a:lvl1pPr>
              <a:defRPr b="0" i="0">
                <a:solidFill>
                  <a:srgbClr val="090509"/>
                </a:solidFill>
                <a:latin typeface="+mn-ea"/>
                <a:ea typeface="+mn-ea"/>
              </a:defRPr>
            </a:lvl1pPr>
          </a:lstStyle>
          <a:p>
            <a:endParaRPr kumimoji="1" lang="zh-CN" altLang="en-US"/>
          </a:p>
        </p:txBody>
      </p:sp>
      <p:sp>
        <p:nvSpPr>
          <p:cNvPr id="12" name="标题 1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28955" y="522605"/>
            <a:ext cx="7624445" cy="491490"/>
          </a:xfrm>
        </p:spPr>
        <p:txBody>
          <a:bodyPr wrap="square" anchor="ctr" anchorCtr="0">
            <a:spAutoFit/>
          </a:bodyPr>
          <a:lstStyle>
            <a:lvl1pPr>
              <a:lnSpc>
                <a:spcPct val="100000"/>
              </a:lnSpc>
              <a:defRPr sz="2600" b="1">
                <a:solidFill>
                  <a:srgbClr val="254FEB"/>
                </a:solidFill>
                <a:effectLst/>
                <a:latin typeface="+mj-ea"/>
                <a:ea typeface="+mj-ea"/>
                <a:cs typeface="+mj-ea"/>
              </a:defRPr>
            </a:lvl1pPr>
          </a:lstStyle>
          <a:p>
            <a:r>
              <a:rPr lang="en-US" altLang="zh-CN" dirty="0"/>
              <a:t>5.1 </a:t>
            </a:r>
            <a:r>
              <a:rPr lang="zh-CN" altLang="en-US" dirty="0"/>
              <a:t>作品演示播放</a:t>
            </a:r>
          </a:p>
        </p:txBody>
      </p:sp>
      <p:sp>
        <p:nvSpPr>
          <p:cNvPr id="10" name="任意多边形 9"/>
          <p:cNvSpPr/>
          <p:nvPr userDrawn="1">
            <p:custDataLst>
              <p:tags r:id="rId2"/>
            </p:custDataLst>
          </p:nvPr>
        </p:nvSpPr>
        <p:spPr>
          <a:xfrm>
            <a:off x="589280" y="1022985"/>
            <a:ext cx="793750" cy="78105"/>
          </a:xfrm>
          <a:custGeom>
            <a:avLst/>
            <a:gdLst>
              <a:gd name="adj" fmla="val 84552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250" h="123">
                <a:moveTo>
                  <a:pt x="0" y="123"/>
                </a:moveTo>
                <a:lnTo>
                  <a:pt x="104" y="0"/>
                </a:lnTo>
                <a:lnTo>
                  <a:pt x="218" y="0"/>
                </a:lnTo>
                <a:lnTo>
                  <a:pt x="114" y="123"/>
                </a:lnTo>
                <a:lnTo>
                  <a:pt x="0" y="123"/>
                </a:lnTo>
                <a:close/>
                <a:moveTo>
                  <a:pt x="172" y="123"/>
                </a:moveTo>
                <a:lnTo>
                  <a:pt x="276" y="0"/>
                </a:lnTo>
                <a:lnTo>
                  <a:pt x="390" y="0"/>
                </a:lnTo>
                <a:lnTo>
                  <a:pt x="286" y="123"/>
                </a:lnTo>
                <a:lnTo>
                  <a:pt x="172" y="123"/>
                </a:lnTo>
                <a:close/>
                <a:moveTo>
                  <a:pt x="344" y="123"/>
                </a:moveTo>
                <a:lnTo>
                  <a:pt x="448" y="0"/>
                </a:lnTo>
                <a:lnTo>
                  <a:pt x="562" y="0"/>
                </a:lnTo>
                <a:lnTo>
                  <a:pt x="458" y="123"/>
                </a:lnTo>
                <a:lnTo>
                  <a:pt x="344" y="123"/>
                </a:lnTo>
                <a:close/>
                <a:moveTo>
                  <a:pt x="516" y="123"/>
                </a:moveTo>
                <a:lnTo>
                  <a:pt x="620" y="0"/>
                </a:lnTo>
                <a:lnTo>
                  <a:pt x="734" y="0"/>
                </a:lnTo>
                <a:lnTo>
                  <a:pt x="630" y="123"/>
                </a:lnTo>
                <a:lnTo>
                  <a:pt x="516" y="123"/>
                </a:lnTo>
                <a:close/>
                <a:moveTo>
                  <a:pt x="688" y="123"/>
                </a:moveTo>
                <a:lnTo>
                  <a:pt x="792" y="0"/>
                </a:lnTo>
                <a:lnTo>
                  <a:pt x="906" y="0"/>
                </a:lnTo>
                <a:lnTo>
                  <a:pt x="802" y="123"/>
                </a:lnTo>
                <a:lnTo>
                  <a:pt x="688" y="123"/>
                </a:lnTo>
                <a:close/>
                <a:moveTo>
                  <a:pt x="860" y="123"/>
                </a:moveTo>
                <a:lnTo>
                  <a:pt x="964" y="0"/>
                </a:lnTo>
                <a:lnTo>
                  <a:pt x="1078" y="0"/>
                </a:lnTo>
                <a:lnTo>
                  <a:pt x="974" y="123"/>
                </a:lnTo>
                <a:lnTo>
                  <a:pt x="860" y="123"/>
                </a:lnTo>
                <a:close/>
                <a:moveTo>
                  <a:pt x="1032" y="123"/>
                </a:moveTo>
                <a:lnTo>
                  <a:pt x="1136" y="0"/>
                </a:lnTo>
                <a:lnTo>
                  <a:pt x="1250" y="0"/>
                </a:lnTo>
                <a:lnTo>
                  <a:pt x="1146" y="123"/>
                </a:lnTo>
                <a:lnTo>
                  <a:pt x="1032" y="123"/>
                </a:lnTo>
                <a:close/>
              </a:path>
            </a:pathLst>
          </a:custGeom>
          <a:gradFill>
            <a:gsLst>
              <a:gs pos="29000">
                <a:srgbClr val="254FEB"/>
              </a:gs>
              <a:gs pos="100000">
                <a:srgbClr val="254F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35" y="0"/>
            <a:ext cx="12191365" cy="568325"/>
          </a:xfrm>
          <a:prstGeom prst="rect">
            <a:avLst/>
          </a:prstGeom>
        </p:spPr>
      </p:pic>
      <p:pic>
        <p:nvPicPr>
          <p:cNvPr id="2" name="图片 1" descr="logo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00380" y="73025"/>
            <a:ext cx="11202035" cy="4222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16x9kv-底图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7" name="标题 1"/>
          <p:cNvSpPr>
            <a:spLocks noGrp="1"/>
          </p:cNvSpPr>
          <p:nvPr>
            <p:ph type="ctrTitle" hasCustomPrompt="1"/>
          </p:nvPr>
        </p:nvSpPr>
        <p:spPr>
          <a:xfrm>
            <a:off x="1157605" y="1861820"/>
            <a:ext cx="9876790" cy="1758950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6000" b="1" i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kumimoji="1" lang="zh-CN" altLang="en-US" dirty="0"/>
              <a:t>单击此处编辑结束语</a:t>
            </a:r>
          </a:p>
        </p:txBody>
      </p:sp>
      <p:sp>
        <p:nvSpPr>
          <p:cNvPr id="38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BA00916-396A-A444-B6A6-572F44C7530F}" type="datetimeFigureOut">
              <a:rPr kumimoji="1" lang="zh-CN" altLang="en-US" smtClean="0"/>
              <a:t>2026/10/6</a:t>
            </a:fld>
            <a:endParaRPr kumimoji="1" lang="zh-CN" altLang="en-US"/>
          </a:p>
        </p:txBody>
      </p:sp>
      <p:sp>
        <p:nvSpPr>
          <p:cNvPr id="39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40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4" name="文本占位符 9"/>
          <p:cNvSpPr>
            <a:spLocks noGrp="1"/>
          </p:cNvSpPr>
          <p:nvPr>
            <p:ph type="body" sz="quarter" idx="14" hasCustomPrompt="1"/>
          </p:nvPr>
        </p:nvSpPr>
        <p:spPr>
          <a:xfrm>
            <a:off x="5099050" y="4641215"/>
            <a:ext cx="3866515" cy="290195"/>
          </a:xfrm>
        </p:spPr>
        <p:txBody>
          <a:bodyPr anchor="t"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ea"/>
                <a:ea typeface="+mn-ea"/>
              </a:defRPr>
            </a:lvl1pPr>
            <a:lvl2pPr>
              <a:defRPr sz="2000">
                <a:latin typeface="+mj-ea"/>
                <a:ea typeface="+mj-ea"/>
              </a:defRPr>
            </a:lvl2pPr>
            <a:lvl3pPr>
              <a:defRPr sz="2000">
                <a:latin typeface="+mj-ea"/>
                <a:ea typeface="+mj-ea"/>
              </a:defRPr>
            </a:lvl3pPr>
            <a:lvl4pPr>
              <a:defRPr sz="2000">
                <a:latin typeface="+mj-ea"/>
                <a:ea typeface="+mj-ea"/>
              </a:defRPr>
            </a:lvl4pPr>
            <a:lvl5pPr>
              <a:defRPr sz="2000">
                <a:latin typeface="+mj-ea"/>
                <a:ea typeface="+mj-ea"/>
              </a:defRPr>
            </a:lvl5pPr>
          </a:lstStyle>
          <a:p>
            <a:pPr lvl="0"/>
            <a:r>
              <a:rPr kumimoji="1" lang="zh-CN" altLang="en-US" dirty="0"/>
              <a:t>编辑队伍名称</a:t>
            </a:r>
            <a:r>
              <a:rPr kumimoji="1" lang="en-US" altLang="zh-CN" dirty="0"/>
              <a:t> </a:t>
            </a:r>
            <a:r>
              <a:rPr kumimoji="1" lang="zh-CN" altLang="en-US" dirty="0">
                <a:sym typeface="+mn-ea"/>
              </a:rPr>
              <a:t>禁止出现学校和成员信息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  <p:sp>
        <p:nvSpPr>
          <p:cNvPr id="7" name="文本占位符 9"/>
          <p:cNvSpPr>
            <a:spLocks noGrp="1"/>
          </p:cNvSpPr>
          <p:nvPr>
            <p:ph type="body" sz="quarter" idx="20" hasCustomPrompt="1"/>
          </p:nvPr>
        </p:nvSpPr>
        <p:spPr>
          <a:xfrm>
            <a:off x="5099050" y="5077460"/>
            <a:ext cx="3866515" cy="290195"/>
          </a:xfrm>
        </p:spPr>
        <p:txBody>
          <a:bodyPr anchor="t"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ea"/>
                <a:ea typeface="+mn-ea"/>
              </a:defRPr>
            </a:lvl1pPr>
            <a:lvl2pPr>
              <a:defRPr sz="2000">
                <a:latin typeface="+mj-ea"/>
                <a:ea typeface="+mj-ea"/>
              </a:defRPr>
            </a:lvl2pPr>
            <a:lvl3pPr>
              <a:defRPr sz="2000">
                <a:latin typeface="+mj-ea"/>
                <a:ea typeface="+mj-ea"/>
              </a:defRPr>
            </a:lvl3pPr>
            <a:lvl4pPr>
              <a:defRPr sz="2000">
                <a:latin typeface="+mj-ea"/>
                <a:ea typeface="+mj-ea"/>
              </a:defRPr>
            </a:lvl4pPr>
            <a:lvl5pPr>
              <a:defRPr sz="2000">
                <a:latin typeface="+mj-ea"/>
                <a:ea typeface="+mj-ea"/>
              </a:defRPr>
            </a:lvl5pPr>
          </a:lstStyle>
          <a:p>
            <a:pPr lvl="0"/>
            <a:r>
              <a:rPr kumimoji="1" lang="zh-CN" altLang="en-US" dirty="0"/>
              <a:t>编辑完成日期</a:t>
            </a:r>
            <a:r>
              <a:rPr kumimoji="1" lang="en-US" altLang="zh-CN" dirty="0"/>
              <a:t> </a:t>
            </a:r>
            <a:r>
              <a:rPr kumimoji="1" lang="zh-CN" altLang="en-US" dirty="0">
                <a:sym typeface="+mn-ea"/>
              </a:rPr>
              <a:t>禁止出现学校和成员信息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  <p:sp>
        <p:nvSpPr>
          <p:cNvPr id="9" name="文本占位符 9"/>
          <p:cNvSpPr>
            <a:spLocks noGrp="1"/>
          </p:cNvSpPr>
          <p:nvPr>
            <p:ph type="body" sz="quarter" idx="22" hasCustomPrompt="1"/>
          </p:nvPr>
        </p:nvSpPr>
        <p:spPr>
          <a:xfrm>
            <a:off x="3937218" y="4640664"/>
            <a:ext cx="1161805" cy="290369"/>
          </a:xfrm>
        </p:spPr>
        <p:txBody>
          <a:bodyPr anchor="t"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ea"/>
                <a:ea typeface="+mn-ea"/>
              </a:defRPr>
            </a:lvl1pPr>
            <a:lvl2pPr>
              <a:defRPr sz="2000">
                <a:latin typeface="+mj-ea"/>
                <a:ea typeface="+mj-ea"/>
              </a:defRPr>
            </a:lvl2pPr>
            <a:lvl3pPr>
              <a:defRPr sz="2000">
                <a:latin typeface="+mj-ea"/>
                <a:ea typeface="+mj-ea"/>
              </a:defRPr>
            </a:lvl3pPr>
            <a:lvl4pPr>
              <a:defRPr sz="2000">
                <a:latin typeface="+mj-ea"/>
                <a:ea typeface="+mj-ea"/>
              </a:defRPr>
            </a:lvl4pPr>
            <a:lvl5pPr>
              <a:defRPr sz="2000">
                <a:latin typeface="+mj-ea"/>
                <a:ea typeface="+mj-ea"/>
              </a:defRPr>
            </a:lvl5pPr>
          </a:lstStyle>
          <a:p>
            <a:pPr lvl="0"/>
            <a:r>
              <a:rPr kumimoji="1" lang="zh-CN" altLang="en-US" dirty="0"/>
              <a:t>参赛团队：</a:t>
            </a:r>
          </a:p>
        </p:txBody>
      </p:sp>
      <p:sp>
        <p:nvSpPr>
          <p:cNvPr id="54" name="文本占位符 9"/>
          <p:cNvSpPr>
            <a:spLocks noGrp="1"/>
          </p:cNvSpPr>
          <p:nvPr>
            <p:ph type="body" sz="quarter" idx="25" hasCustomPrompt="1"/>
          </p:nvPr>
        </p:nvSpPr>
        <p:spPr>
          <a:xfrm>
            <a:off x="3937218" y="5077480"/>
            <a:ext cx="1161805" cy="290371"/>
          </a:xfrm>
        </p:spPr>
        <p:txBody>
          <a:bodyPr anchor="t"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ea"/>
                <a:ea typeface="+mn-ea"/>
              </a:defRPr>
            </a:lvl1pPr>
            <a:lvl2pPr>
              <a:defRPr sz="2000">
                <a:latin typeface="+mj-ea"/>
                <a:ea typeface="+mj-ea"/>
              </a:defRPr>
            </a:lvl2pPr>
            <a:lvl3pPr>
              <a:defRPr sz="2000">
                <a:latin typeface="+mj-ea"/>
                <a:ea typeface="+mj-ea"/>
              </a:defRPr>
            </a:lvl3pPr>
            <a:lvl4pPr>
              <a:defRPr sz="2000">
                <a:latin typeface="+mj-ea"/>
                <a:ea typeface="+mj-ea"/>
              </a:defRPr>
            </a:lvl4pPr>
            <a:lvl5pPr>
              <a:defRPr sz="2000">
                <a:latin typeface="+mj-ea"/>
                <a:ea typeface="+mj-ea"/>
              </a:defRPr>
            </a:lvl5pPr>
          </a:lstStyle>
          <a:p>
            <a:pPr lvl="0"/>
            <a:r>
              <a:rPr kumimoji="1" lang="zh-CN" altLang="en-US" dirty="0"/>
              <a:t>完成日期：</a:t>
            </a:r>
          </a:p>
        </p:txBody>
      </p:sp>
      <p:pic>
        <p:nvPicPr>
          <p:cNvPr id="2" name="图片 1" descr="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00380" y="294640"/>
            <a:ext cx="11202035" cy="4222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2026/10/6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2026/10/6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2026/10/6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2026/10/6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2026/10/6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2026/10/6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2026/10/6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2026/10/6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2026/10/6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A00916-396A-A444-B6A6-572F44C7530F}" type="datetimeFigureOut">
              <a:rPr kumimoji="1" lang="zh-CN" altLang="en-US" smtClean="0"/>
              <a:t>2026/10/6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3.xml"/><Relationship Id="rId1" Type="http://schemas.openxmlformats.org/officeDocument/2006/relationships/tags" Target="../tags/tag3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44.xml"/><Relationship Id="rId13" Type="http://schemas.openxmlformats.org/officeDocument/2006/relationships/tags" Target="../tags/tag49.xml"/><Relationship Id="rId18" Type="http://schemas.openxmlformats.org/officeDocument/2006/relationships/tags" Target="../tags/tag54.xml"/><Relationship Id="rId3" Type="http://schemas.openxmlformats.org/officeDocument/2006/relationships/tags" Target="../tags/tag39.xml"/><Relationship Id="rId21" Type="http://schemas.openxmlformats.org/officeDocument/2006/relationships/slideLayout" Target="../slideLayouts/slideLayout2.xml"/><Relationship Id="rId7" Type="http://schemas.openxmlformats.org/officeDocument/2006/relationships/tags" Target="../tags/tag43.xml"/><Relationship Id="rId12" Type="http://schemas.openxmlformats.org/officeDocument/2006/relationships/tags" Target="../tags/tag48.xml"/><Relationship Id="rId17" Type="http://schemas.openxmlformats.org/officeDocument/2006/relationships/tags" Target="../tags/tag53.xml"/><Relationship Id="rId2" Type="http://schemas.openxmlformats.org/officeDocument/2006/relationships/tags" Target="../tags/tag38.xml"/><Relationship Id="rId16" Type="http://schemas.openxmlformats.org/officeDocument/2006/relationships/tags" Target="../tags/tag52.xml"/><Relationship Id="rId20" Type="http://schemas.openxmlformats.org/officeDocument/2006/relationships/tags" Target="../tags/tag56.xml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11" Type="http://schemas.openxmlformats.org/officeDocument/2006/relationships/tags" Target="../tags/tag47.xml"/><Relationship Id="rId5" Type="http://schemas.openxmlformats.org/officeDocument/2006/relationships/tags" Target="../tags/tag41.xml"/><Relationship Id="rId15" Type="http://schemas.openxmlformats.org/officeDocument/2006/relationships/tags" Target="../tags/tag51.xml"/><Relationship Id="rId10" Type="http://schemas.openxmlformats.org/officeDocument/2006/relationships/tags" Target="../tags/tag46.xml"/><Relationship Id="rId19" Type="http://schemas.openxmlformats.org/officeDocument/2006/relationships/tags" Target="../tags/tag55.xml"/><Relationship Id="rId4" Type="http://schemas.openxmlformats.org/officeDocument/2006/relationships/tags" Target="../tags/tag40.xml"/><Relationship Id="rId9" Type="http://schemas.openxmlformats.org/officeDocument/2006/relationships/tags" Target="../tags/tag45.xml"/><Relationship Id="rId14" Type="http://schemas.openxmlformats.org/officeDocument/2006/relationships/tags" Target="../tags/tag5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4" Type="http://schemas.openxmlformats.org/officeDocument/2006/relationships/chart" Target="../charts/char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" y="0"/>
            <a:ext cx="12189460" cy="685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文本占位符 45"/>
          <p:cNvSpPr>
            <a:spLocks noGrp="1"/>
          </p:cNvSpPr>
          <p:nvPr>
            <p:ph type="body" sz="quarter" idx="14"/>
          </p:nvPr>
        </p:nvSpPr>
        <p:spPr>
          <a:xfrm>
            <a:off x="5735712" y="4785026"/>
            <a:ext cx="3971258" cy="290227"/>
          </a:xfrm>
          <a:prstGeom prst="rect">
            <a:avLst/>
          </a:prstGeom>
          <a:noFill/>
          <a:ln>
            <a:noFill/>
          </a:ln>
        </p:spPr>
        <p:txBody>
          <a:bodyPr wrap="none" lIns="82582" tIns="4477" rIns="0" bIns="0" anchor="t" anchorCtr="0">
            <a:no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黑体"/>
                <a:ea typeface="Microsoft YaHei"/>
                <a:cs typeface="黑体"/>
              </a:rPr>
              <a:t>云边智链</a:t>
            </a:r>
          </a:p>
        </p:txBody>
      </p:sp>
      <p:sp>
        <p:nvSpPr>
          <p:cNvPr id="49" name="文本占位符 48"/>
          <p:cNvSpPr>
            <a:spLocks noGrp="1"/>
          </p:cNvSpPr>
          <p:nvPr>
            <p:ph type="body" sz="quarter" idx="20"/>
          </p:nvPr>
        </p:nvSpPr>
        <p:spPr>
          <a:xfrm>
            <a:off x="5735712" y="5222605"/>
            <a:ext cx="3997928" cy="290227"/>
          </a:xfrm>
          <a:prstGeom prst="rect">
            <a:avLst/>
          </a:prstGeom>
          <a:noFill/>
          <a:ln>
            <a:noFill/>
          </a:ln>
        </p:spPr>
        <p:txBody>
          <a:bodyPr wrap="none" lIns="82582" tIns="5048" rIns="0" bIns="0" anchor="t" anchorCtr="0">
            <a:no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黑体"/>
                <a:ea typeface="Microsoft YaHei"/>
                <a:cs typeface="黑体"/>
              </a:rPr>
              <a:t>2026年10月</a:t>
            </a:r>
          </a:p>
        </p:txBody>
      </p:sp>
      <p:sp>
        <p:nvSpPr>
          <p:cNvPr id="51" name="文本占位符 50"/>
          <p:cNvSpPr>
            <a:spLocks noGrp="1"/>
          </p:cNvSpPr>
          <p:nvPr>
            <p:ph type="body" sz="quarter" idx="22"/>
          </p:nvPr>
        </p:nvSpPr>
        <p:spPr>
          <a:xfrm>
            <a:off x="4573912" y="4785777"/>
            <a:ext cx="1161805" cy="290369"/>
          </a:xfrm>
        </p:spPr>
        <p:txBody>
          <a:bodyPr/>
          <a:lstStyle/>
          <a:p>
            <a:r>
              <a:rPr lang="zh-CN" altLang="en-US" dirty="0"/>
              <a:t>参赛团队：</a:t>
            </a:r>
          </a:p>
        </p:txBody>
      </p:sp>
      <p:sp>
        <p:nvSpPr>
          <p:cNvPr id="54" name="文本占位符 53"/>
          <p:cNvSpPr>
            <a:spLocks noGrp="1"/>
          </p:cNvSpPr>
          <p:nvPr>
            <p:ph type="body" sz="quarter" idx="25"/>
          </p:nvPr>
        </p:nvSpPr>
        <p:spPr>
          <a:xfrm>
            <a:off x="4573912" y="5222593"/>
            <a:ext cx="1161805" cy="290371"/>
          </a:xfrm>
        </p:spPr>
        <p:txBody>
          <a:bodyPr/>
          <a:lstStyle/>
          <a:p>
            <a:r>
              <a:rPr lang="zh-CN" altLang="en-US"/>
              <a:t>完成日期：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8241030" y="5848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grpSp>
        <p:nvGrpSpPr>
          <p:cNvPr id="9" name="project-title"/>
          <p:cNvGrpSpPr/>
          <p:nvPr/>
        </p:nvGrpSpPr>
        <p:grpSpPr>
          <a:xfrm>
            <a:off x="4111664" y="2045018"/>
            <a:ext cx="3968671" cy="847725"/>
            <a:chOff x="4111664" y="2045018"/>
            <a:chExt cx="3968671" cy="847725"/>
          </a:xfrm>
        </p:grpSpPr>
        <p:sp>
          <p:nvSpPr>
            <p:cNvPr id="8" name="TextBox 8"/>
            <p:cNvSpPr txBox="1"/>
            <p:nvPr/>
          </p:nvSpPr>
          <p:spPr>
            <a:xfrm>
              <a:off x="4111664" y="2045018"/>
              <a:ext cx="3968671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350" b="1" dirty="0">
                  <a:solidFill>
                    <a:srgbClr val="FFFFFF"/>
                  </a:solidFill>
                  <a:latin typeface="黑体"/>
                  <a:ea typeface="黑体"/>
                  <a:cs typeface="黑体"/>
                </a:rPr>
                <a:t>CPN-HRL-DAG</a:t>
              </a:r>
            </a:p>
          </p:txBody>
        </p:sp>
      </p:grpSp>
      <p:grpSp>
        <p:nvGrpSpPr>
          <p:cNvPr id="11" name="project-subtitle"/>
          <p:cNvGrpSpPr/>
          <p:nvPr/>
        </p:nvGrpSpPr>
        <p:grpSpPr>
          <a:xfrm>
            <a:off x="3821656" y="2917508"/>
            <a:ext cx="4548689" cy="616077"/>
            <a:chOff x="3821656" y="2917508"/>
            <a:chExt cx="4548689" cy="616077"/>
          </a:xfrm>
        </p:grpSpPr>
        <p:sp>
          <p:nvSpPr>
            <p:cNvPr id="10" name="TextBox 10"/>
            <p:cNvSpPr txBox="1"/>
            <p:nvPr/>
          </p:nvSpPr>
          <p:spPr>
            <a:xfrm>
              <a:off x="1238250" y="2819400"/>
              <a:ext cx="9715500" cy="990600"/>
            </a:xfrm>
            <a:prstGeom prst="rect">
              <a:avLst/>
            </a:prstGeom>
            <a:noFill/>
            <a:ln w="0">
              <a:noFill/>
            </a:ln>
          </p:spPr>
          <p:txBody>
            <a:bodyPr anchor="ctr">
              <a:noAutofit/>
            </a:bodyPr>
            <a:lstStyle/>
            <a:p>
              <a:pPr algn="ctr">
                <a:defRPr sz="3150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3150" b="1" dirty="0" err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基于分层强化学习的</a:t>
              </a:r>
              <a:endParaRPr sz="31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endParaRPr>
            </a:p>
            <a:p>
              <a:pPr algn="ctr">
                <a:defRPr sz="3150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31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云-边-</a:t>
              </a:r>
              <a:r>
                <a:rPr sz="3150" b="1" dirty="0" err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端异构计算资源管理调度方法</a:t>
              </a:r>
              <a:endParaRPr sz="31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4" name="value"/>
          <p:cNvGrpSpPr/>
          <p:nvPr/>
        </p:nvGrpSpPr>
        <p:grpSpPr>
          <a:xfrm>
            <a:off x="3150235" y="3899059"/>
            <a:ext cx="5891530" cy="425386"/>
            <a:chOff x="3150235" y="3899059"/>
            <a:chExt cx="5891530" cy="425386"/>
          </a:xfrm>
        </p:grpSpPr>
        <p:sp>
          <p:nvSpPr>
            <p:cNvPr id="12" name="TextBox 12"/>
            <p:cNvSpPr txBox="1"/>
            <p:nvPr/>
          </p:nvSpPr>
          <p:spPr>
            <a:xfrm>
              <a:off x="3150235" y="3899059"/>
              <a:ext cx="5891530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80" dirty="0">
                  <a:solidFill>
                    <a:srgbClr val="FFFFFF"/>
                  </a:solidFill>
                  <a:latin typeface="黑体"/>
                  <a:ea typeface="Microsoft YaHei"/>
                  <a:cs typeface="黑体"/>
                </a:rPr>
                <a:t>用可验证的调度方案，缩短工作流总完成时间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>
            <p:custDataLst>
              <p:tags r:id="rId1"/>
            </p:custDataLst>
          </p:nvPr>
        </p:nvSpPr>
        <p:spPr>
          <a:xfrm>
            <a:off x="5092065" y="1496695"/>
            <a:ext cx="5114925" cy="741045"/>
          </a:xfrm>
          <a:prstGeom prst="round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2">
                  <a:lumMod val="20000"/>
                  <a:lumOff val="80000"/>
                  <a:alpha val="30000"/>
                </a:schemeClr>
              </a:solidFill>
            </a:endParaRPr>
          </a:p>
        </p:txBody>
      </p:sp>
      <p:sp>
        <p:nvSpPr>
          <p:cNvPr id="28" name="任意形状 10"/>
          <p:cNvSpPr/>
          <p:nvPr userDrawn="1">
            <p:custDataLst>
              <p:tags r:id="rId2"/>
            </p:custDataLst>
          </p:nvPr>
        </p:nvSpPr>
        <p:spPr>
          <a:xfrm rot="5400000">
            <a:off x="5560060" y="1378585"/>
            <a:ext cx="784860" cy="933450"/>
          </a:xfrm>
          <a:custGeom>
            <a:avLst/>
            <a:gdLst>
              <a:gd name="connsiteX0" fmla="*/ 0 w 1021517"/>
              <a:gd name="connsiteY0" fmla="*/ 1048944 h 1219200"/>
              <a:gd name="connsiteX1" fmla="*/ 0 w 1021517"/>
              <a:gd name="connsiteY1" fmla="*/ 343438 h 1219200"/>
              <a:gd name="connsiteX2" fmla="*/ 170256 w 1021517"/>
              <a:gd name="connsiteY2" fmla="*/ 173182 h 1219200"/>
              <a:gd name="connsiteX3" fmla="*/ 412580 w 1021517"/>
              <a:gd name="connsiteY3" fmla="*/ 173182 h 1219200"/>
              <a:gd name="connsiteX4" fmla="*/ 513025 w 1021517"/>
              <a:gd name="connsiteY4" fmla="*/ 0 h 1219200"/>
              <a:gd name="connsiteX5" fmla="*/ 613470 w 1021517"/>
              <a:gd name="connsiteY5" fmla="*/ 173182 h 1219200"/>
              <a:gd name="connsiteX6" fmla="*/ 851261 w 1021517"/>
              <a:gd name="connsiteY6" fmla="*/ 173182 h 1219200"/>
              <a:gd name="connsiteX7" fmla="*/ 1021517 w 1021517"/>
              <a:gd name="connsiteY7" fmla="*/ 343438 h 1219200"/>
              <a:gd name="connsiteX8" fmla="*/ 1021517 w 1021517"/>
              <a:gd name="connsiteY8" fmla="*/ 1048944 h 1219200"/>
              <a:gd name="connsiteX9" fmla="*/ 851261 w 1021517"/>
              <a:gd name="connsiteY9" fmla="*/ 1219200 h 1219200"/>
              <a:gd name="connsiteX10" fmla="*/ 170256 w 1021517"/>
              <a:gd name="connsiteY10" fmla="*/ 1219200 h 1219200"/>
              <a:gd name="connsiteX11" fmla="*/ 0 w 1021517"/>
              <a:gd name="connsiteY11" fmla="*/ 1048944 h 121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1517" h="1219200">
                <a:moveTo>
                  <a:pt x="0" y="1048944"/>
                </a:moveTo>
                <a:lnTo>
                  <a:pt x="0" y="343438"/>
                </a:lnTo>
                <a:cubicBezTo>
                  <a:pt x="0" y="249408"/>
                  <a:pt x="76226" y="173182"/>
                  <a:pt x="170256" y="173182"/>
                </a:cubicBezTo>
                <a:lnTo>
                  <a:pt x="412580" y="173182"/>
                </a:lnTo>
                <a:lnTo>
                  <a:pt x="513025" y="0"/>
                </a:lnTo>
                <a:lnTo>
                  <a:pt x="613470" y="173182"/>
                </a:lnTo>
                <a:lnTo>
                  <a:pt x="851261" y="173182"/>
                </a:lnTo>
                <a:cubicBezTo>
                  <a:pt x="945291" y="173182"/>
                  <a:pt x="1021517" y="249408"/>
                  <a:pt x="1021517" y="343438"/>
                </a:cubicBezTo>
                <a:lnTo>
                  <a:pt x="1021517" y="1048944"/>
                </a:lnTo>
                <a:cubicBezTo>
                  <a:pt x="1021517" y="1142974"/>
                  <a:pt x="945291" y="1219200"/>
                  <a:pt x="851261" y="1219200"/>
                </a:cubicBezTo>
                <a:lnTo>
                  <a:pt x="170256" y="1219200"/>
                </a:lnTo>
                <a:cubicBezTo>
                  <a:pt x="76226" y="1219200"/>
                  <a:pt x="0" y="1142974"/>
                  <a:pt x="0" y="1048944"/>
                </a:cubicBezTo>
                <a:close/>
              </a:path>
            </a:pathLst>
          </a:custGeom>
          <a:solidFill>
            <a:srgbClr val="254F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en-US" altLang="zh-CN" dirty="0">
              <a:solidFill>
                <a:srgbClr val="C00000"/>
              </a:solidFill>
            </a:endParaRPr>
          </a:p>
        </p:txBody>
      </p:sp>
      <p:sp>
        <p:nvSpPr>
          <p:cNvPr id="29" name="文本框 28"/>
          <p:cNvSpPr txBox="1"/>
          <p:nvPr userDrawn="1">
            <p:custDataLst>
              <p:tags r:id="rId3"/>
            </p:custDataLst>
          </p:nvPr>
        </p:nvSpPr>
        <p:spPr>
          <a:xfrm>
            <a:off x="5485765" y="1591310"/>
            <a:ext cx="796925" cy="52197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>
              <a:lnSpc>
                <a:spcPct val="100000"/>
              </a:lnSpc>
            </a:pPr>
            <a:r>
              <a:rPr kumimoji="1" lang="en-US" altLang="zh-CN" sz="2800" b="1" dirty="0">
                <a:solidFill>
                  <a:schemeClr val="bg1"/>
                </a:solidFill>
                <a:latin typeface="+mj-ea"/>
                <a:ea typeface="+mj-ea"/>
              </a:rPr>
              <a:t>01</a:t>
            </a:r>
          </a:p>
        </p:txBody>
      </p:sp>
      <p:sp>
        <p:nvSpPr>
          <p:cNvPr id="115" name="圆角矩形 114"/>
          <p:cNvSpPr/>
          <p:nvPr userDrawn="1">
            <p:custDataLst>
              <p:tags r:id="rId4"/>
            </p:custDataLst>
          </p:nvPr>
        </p:nvSpPr>
        <p:spPr>
          <a:xfrm>
            <a:off x="5092065" y="2439670"/>
            <a:ext cx="5114925" cy="741045"/>
          </a:xfrm>
          <a:prstGeom prst="round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2">
                  <a:lumMod val="20000"/>
                  <a:lumOff val="80000"/>
                  <a:alpha val="30000"/>
                </a:schemeClr>
              </a:solidFill>
            </a:endParaRPr>
          </a:p>
        </p:txBody>
      </p:sp>
      <p:sp>
        <p:nvSpPr>
          <p:cNvPr id="116" name="任意形状 10"/>
          <p:cNvSpPr/>
          <p:nvPr userDrawn="1">
            <p:custDataLst>
              <p:tags r:id="rId5"/>
            </p:custDataLst>
          </p:nvPr>
        </p:nvSpPr>
        <p:spPr>
          <a:xfrm rot="5400000">
            <a:off x="5560060" y="2321560"/>
            <a:ext cx="784860" cy="933450"/>
          </a:xfrm>
          <a:custGeom>
            <a:avLst/>
            <a:gdLst>
              <a:gd name="connsiteX0" fmla="*/ 0 w 1021517"/>
              <a:gd name="connsiteY0" fmla="*/ 1048944 h 1219200"/>
              <a:gd name="connsiteX1" fmla="*/ 0 w 1021517"/>
              <a:gd name="connsiteY1" fmla="*/ 343438 h 1219200"/>
              <a:gd name="connsiteX2" fmla="*/ 170256 w 1021517"/>
              <a:gd name="connsiteY2" fmla="*/ 173182 h 1219200"/>
              <a:gd name="connsiteX3" fmla="*/ 412580 w 1021517"/>
              <a:gd name="connsiteY3" fmla="*/ 173182 h 1219200"/>
              <a:gd name="connsiteX4" fmla="*/ 513025 w 1021517"/>
              <a:gd name="connsiteY4" fmla="*/ 0 h 1219200"/>
              <a:gd name="connsiteX5" fmla="*/ 613470 w 1021517"/>
              <a:gd name="connsiteY5" fmla="*/ 173182 h 1219200"/>
              <a:gd name="connsiteX6" fmla="*/ 851261 w 1021517"/>
              <a:gd name="connsiteY6" fmla="*/ 173182 h 1219200"/>
              <a:gd name="connsiteX7" fmla="*/ 1021517 w 1021517"/>
              <a:gd name="connsiteY7" fmla="*/ 343438 h 1219200"/>
              <a:gd name="connsiteX8" fmla="*/ 1021517 w 1021517"/>
              <a:gd name="connsiteY8" fmla="*/ 1048944 h 1219200"/>
              <a:gd name="connsiteX9" fmla="*/ 851261 w 1021517"/>
              <a:gd name="connsiteY9" fmla="*/ 1219200 h 1219200"/>
              <a:gd name="connsiteX10" fmla="*/ 170256 w 1021517"/>
              <a:gd name="connsiteY10" fmla="*/ 1219200 h 1219200"/>
              <a:gd name="connsiteX11" fmla="*/ 0 w 1021517"/>
              <a:gd name="connsiteY11" fmla="*/ 1048944 h 121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1517" h="1219200">
                <a:moveTo>
                  <a:pt x="0" y="1048944"/>
                </a:moveTo>
                <a:lnTo>
                  <a:pt x="0" y="343438"/>
                </a:lnTo>
                <a:cubicBezTo>
                  <a:pt x="0" y="249408"/>
                  <a:pt x="76226" y="173182"/>
                  <a:pt x="170256" y="173182"/>
                </a:cubicBezTo>
                <a:lnTo>
                  <a:pt x="412580" y="173182"/>
                </a:lnTo>
                <a:lnTo>
                  <a:pt x="513025" y="0"/>
                </a:lnTo>
                <a:lnTo>
                  <a:pt x="613470" y="173182"/>
                </a:lnTo>
                <a:lnTo>
                  <a:pt x="851261" y="173182"/>
                </a:lnTo>
                <a:cubicBezTo>
                  <a:pt x="945291" y="173182"/>
                  <a:pt x="1021517" y="249408"/>
                  <a:pt x="1021517" y="343438"/>
                </a:cubicBezTo>
                <a:lnTo>
                  <a:pt x="1021517" y="1048944"/>
                </a:lnTo>
                <a:cubicBezTo>
                  <a:pt x="1021517" y="1142974"/>
                  <a:pt x="945291" y="1219200"/>
                  <a:pt x="851261" y="1219200"/>
                </a:cubicBezTo>
                <a:lnTo>
                  <a:pt x="170256" y="1219200"/>
                </a:lnTo>
                <a:cubicBezTo>
                  <a:pt x="76226" y="1219200"/>
                  <a:pt x="0" y="1142974"/>
                  <a:pt x="0" y="1048944"/>
                </a:cubicBezTo>
                <a:close/>
              </a:path>
            </a:pathLst>
          </a:custGeom>
          <a:solidFill>
            <a:srgbClr val="254F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7" name="文本框 116"/>
          <p:cNvSpPr txBox="1"/>
          <p:nvPr userDrawn="1">
            <p:custDataLst>
              <p:tags r:id="rId6"/>
            </p:custDataLst>
          </p:nvPr>
        </p:nvSpPr>
        <p:spPr>
          <a:xfrm>
            <a:off x="5485765" y="2534285"/>
            <a:ext cx="796925" cy="52197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>
              <a:lnSpc>
                <a:spcPct val="100000"/>
              </a:lnSpc>
            </a:pPr>
            <a:r>
              <a:rPr kumimoji="1" lang="en-US" altLang="zh-CN" sz="2800" b="1" dirty="0">
                <a:solidFill>
                  <a:schemeClr val="bg1"/>
                </a:solidFill>
                <a:latin typeface="+mj-ea"/>
                <a:ea typeface="+mj-ea"/>
              </a:rPr>
              <a:t>02</a:t>
            </a:r>
          </a:p>
        </p:txBody>
      </p:sp>
      <p:sp>
        <p:nvSpPr>
          <p:cNvPr id="120" name="圆角矩形 119"/>
          <p:cNvSpPr/>
          <p:nvPr userDrawn="1">
            <p:custDataLst>
              <p:tags r:id="rId7"/>
            </p:custDataLst>
          </p:nvPr>
        </p:nvSpPr>
        <p:spPr>
          <a:xfrm>
            <a:off x="5092065" y="3382645"/>
            <a:ext cx="5114925" cy="741045"/>
          </a:xfrm>
          <a:prstGeom prst="round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2">
                  <a:lumMod val="20000"/>
                  <a:lumOff val="80000"/>
                  <a:alpha val="30000"/>
                </a:schemeClr>
              </a:solidFill>
            </a:endParaRPr>
          </a:p>
        </p:txBody>
      </p:sp>
      <p:sp>
        <p:nvSpPr>
          <p:cNvPr id="121" name="任意形状 10"/>
          <p:cNvSpPr/>
          <p:nvPr userDrawn="1">
            <p:custDataLst>
              <p:tags r:id="rId8"/>
            </p:custDataLst>
          </p:nvPr>
        </p:nvSpPr>
        <p:spPr>
          <a:xfrm rot="5400000">
            <a:off x="5560060" y="3264535"/>
            <a:ext cx="784860" cy="933450"/>
          </a:xfrm>
          <a:custGeom>
            <a:avLst/>
            <a:gdLst>
              <a:gd name="connsiteX0" fmla="*/ 0 w 1021517"/>
              <a:gd name="connsiteY0" fmla="*/ 1048944 h 1219200"/>
              <a:gd name="connsiteX1" fmla="*/ 0 w 1021517"/>
              <a:gd name="connsiteY1" fmla="*/ 343438 h 1219200"/>
              <a:gd name="connsiteX2" fmla="*/ 170256 w 1021517"/>
              <a:gd name="connsiteY2" fmla="*/ 173182 h 1219200"/>
              <a:gd name="connsiteX3" fmla="*/ 412580 w 1021517"/>
              <a:gd name="connsiteY3" fmla="*/ 173182 h 1219200"/>
              <a:gd name="connsiteX4" fmla="*/ 513025 w 1021517"/>
              <a:gd name="connsiteY4" fmla="*/ 0 h 1219200"/>
              <a:gd name="connsiteX5" fmla="*/ 613470 w 1021517"/>
              <a:gd name="connsiteY5" fmla="*/ 173182 h 1219200"/>
              <a:gd name="connsiteX6" fmla="*/ 851261 w 1021517"/>
              <a:gd name="connsiteY6" fmla="*/ 173182 h 1219200"/>
              <a:gd name="connsiteX7" fmla="*/ 1021517 w 1021517"/>
              <a:gd name="connsiteY7" fmla="*/ 343438 h 1219200"/>
              <a:gd name="connsiteX8" fmla="*/ 1021517 w 1021517"/>
              <a:gd name="connsiteY8" fmla="*/ 1048944 h 1219200"/>
              <a:gd name="connsiteX9" fmla="*/ 851261 w 1021517"/>
              <a:gd name="connsiteY9" fmla="*/ 1219200 h 1219200"/>
              <a:gd name="connsiteX10" fmla="*/ 170256 w 1021517"/>
              <a:gd name="connsiteY10" fmla="*/ 1219200 h 1219200"/>
              <a:gd name="connsiteX11" fmla="*/ 0 w 1021517"/>
              <a:gd name="connsiteY11" fmla="*/ 1048944 h 121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1517" h="1219200">
                <a:moveTo>
                  <a:pt x="0" y="1048944"/>
                </a:moveTo>
                <a:lnTo>
                  <a:pt x="0" y="343438"/>
                </a:lnTo>
                <a:cubicBezTo>
                  <a:pt x="0" y="249408"/>
                  <a:pt x="76226" y="173182"/>
                  <a:pt x="170256" y="173182"/>
                </a:cubicBezTo>
                <a:lnTo>
                  <a:pt x="412580" y="173182"/>
                </a:lnTo>
                <a:lnTo>
                  <a:pt x="513025" y="0"/>
                </a:lnTo>
                <a:lnTo>
                  <a:pt x="613470" y="173182"/>
                </a:lnTo>
                <a:lnTo>
                  <a:pt x="851261" y="173182"/>
                </a:lnTo>
                <a:cubicBezTo>
                  <a:pt x="945291" y="173182"/>
                  <a:pt x="1021517" y="249408"/>
                  <a:pt x="1021517" y="343438"/>
                </a:cubicBezTo>
                <a:lnTo>
                  <a:pt x="1021517" y="1048944"/>
                </a:lnTo>
                <a:cubicBezTo>
                  <a:pt x="1021517" y="1142974"/>
                  <a:pt x="945291" y="1219200"/>
                  <a:pt x="851261" y="1219200"/>
                </a:cubicBezTo>
                <a:lnTo>
                  <a:pt x="170256" y="1219200"/>
                </a:lnTo>
                <a:cubicBezTo>
                  <a:pt x="76226" y="1219200"/>
                  <a:pt x="0" y="1142974"/>
                  <a:pt x="0" y="1048944"/>
                </a:cubicBezTo>
                <a:close/>
              </a:path>
            </a:pathLst>
          </a:custGeom>
          <a:solidFill>
            <a:srgbClr val="254F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en-US" altLang="zh-CN" dirty="0"/>
          </a:p>
        </p:txBody>
      </p:sp>
      <p:sp>
        <p:nvSpPr>
          <p:cNvPr id="122" name="文本框 121"/>
          <p:cNvSpPr txBox="1"/>
          <p:nvPr userDrawn="1">
            <p:custDataLst>
              <p:tags r:id="rId9"/>
            </p:custDataLst>
          </p:nvPr>
        </p:nvSpPr>
        <p:spPr>
          <a:xfrm>
            <a:off x="5485765" y="3477260"/>
            <a:ext cx="796925" cy="52197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>
              <a:lnSpc>
                <a:spcPct val="100000"/>
              </a:lnSpc>
            </a:pPr>
            <a:r>
              <a:rPr kumimoji="1" lang="en-US" altLang="zh-CN" sz="2800" b="1" dirty="0">
                <a:solidFill>
                  <a:schemeClr val="bg1"/>
                </a:solidFill>
                <a:latin typeface="+mj-ea"/>
                <a:ea typeface="+mj-ea"/>
              </a:rPr>
              <a:t>03</a:t>
            </a:r>
          </a:p>
        </p:txBody>
      </p:sp>
      <p:sp>
        <p:nvSpPr>
          <p:cNvPr id="125" name="圆角矩形 124"/>
          <p:cNvSpPr/>
          <p:nvPr userDrawn="1">
            <p:custDataLst>
              <p:tags r:id="rId10"/>
            </p:custDataLst>
          </p:nvPr>
        </p:nvSpPr>
        <p:spPr>
          <a:xfrm>
            <a:off x="5092065" y="4325620"/>
            <a:ext cx="5114925" cy="741045"/>
          </a:xfrm>
          <a:prstGeom prst="round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2">
                  <a:lumMod val="20000"/>
                  <a:lumOff val="80000"/>
                  <a:alpha val="30000"/>
                </a:schemeClr>
              </a:solidFill>
            </a:endParaRPr>
          </a:p>
        </p:txBody>
      </p:sp>
      <p:sp>
        <p:nvSpPr>
          <p:cNvPr id="126" name="任意形状 10"/>
          <p:cNvSpPr/>
          <p:nvPr userDrawn="1">
            <p:custDataLst>
              <p:tags r:id="rId11"/>
            </p:custDataLst>
          </p:nvPr>
        </p:nvSpPr>
        <p:spPr>
          <a:xfrm rot="5400000">
            <a:off x="5560060" y="4207510"/>
            <a:ext cx="784860" cy="933450"/>
          </a:xfrm>
          <a:custGeom>
            <a:avLst/>
            <a:gdLst>
              <a:gd name="connsiteX0" fmla="*/ 0 w 1021517"/>
              <a:gd name="connsiteY0" fmla="*/ 1048944 h 1219200"/>
              <a:gd name="connsiteX1" fmla="*/ 0 w 1021517"/>
              <a:gd name="connsiteY1" fmla="*/ 343438 h 1219200"/>
              <a:gd name="connsiteX2" fmla="*/ 170256 w 1021517"/>
              <a:gd name="connsiteY2" fmla="*/ 173182 h 1219200"/>
              <a:gd name="connsiteX3" fmla="*/ 412580 w 1021517"/>
              <a:gd name="connsiteY3" fmla="*/ 173182 h 1219200"/>
              <a:gd name="connsiteX4" fmla="*/ 513025 w 1021517"/>
              <a:gd name="connsiteY4" fmla="*/ 0 h 1219200"/>
              <a:gd name="connsiteX5" fmla="*/ 613470 w 1021517"/>
              <a:gd name="connsiteY5" fmla="*/ 173182 h 1219200"/>
              <a:gd name="connsiteX6" fmla="*/ 851261 w 1021517"/>
              <a:gd name="connsiteY6" fmla="*/ 173182 h 1219200"/>
              <a:gd name="connsiteX7" fmla="*/ 1021517 w 1021517"/>
              <a:gd name="connsiteY7" fmla="*/ 343438 h 1219200"/>
              <a:gd name="connsiteX8" fmla="*/ 1021517 w 1021517"/>
              <a:gd name="connsiteY8" fmla="*/ 1048944 h 1219200"/>
              <a:gd name="connsiteX9" fmla="*/ 851261 w 1021517"/>
              <a:gd name="connsiteY9" fmla="*/ 1219200 h 1219200"/>
              <a:gd name="connsiteX10" fmla="*/ 170256 w 1021517"/>
              <a:gd name="connsiteY10" fmla="*/ 1219200 h 1219200"/>
              <a:gd name="connsiteX11" fmla="*/ 0 w 1021517"/>
              <a:gd name="connsiteY11" fmla="*/ 1048944 h 121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1517" h="1219200">
                <a:moveTo>
                  <a:pt x="0" y="1048944"/>
                </a:moveTo>
                <a:lnTo>
                  <a:pt x="0" y="343438"/>
                </a:lnTo>
                <a:cubicBezTo>
                  <a:pt x="0" y="249408"/>
                  <a:pt x="76226" y="173182"/>
                  <a:pt x="170256" y="173182"/>
                </a:cubicBezTo>
                <a:lnTo>
                  <a:pt x="412580" y="173182"/>
                </a:lnTo>
                <a:lnTo>
                  <a:pt x="513025" y="0"/>
                </a:lnTo>
                <a:lnTo>
                  <a:pt x="613470" y="173182"/>
                </a:lnTo>
                <a:lnTo>
                  <a:pt x="851261" y="173182"/>
                </a:lnTo>
                <a:cubicBezTo>
                  <a:pt x="945291" y="173182"/>
                  <a:pt x="1021517" y="249408"/>
                  <a:pt x="1021517" y="343438"/>
                </a:cubicBezTo>
                <a:lnTo>
                  <a:pt x="1021517" y="1048944"/>
                </a:lnTo>
                <a:cubicBezTo>
                  <a:pt x="1021517" y="1142974"/>
                  <a:pt x="945291" y="1219200"/>
                  <a:pt x="851261" y="1219200"/>
                </a:cubicBezTo>
                <a:lnTo>
                  <a:pt x="170256" y="1219200"/>
                </a:lnTo>
                <a:cubicBezTo>
                  <a:pt x="76226" y="1219200"/>
                  <a:pt x="0" y="1142974"/>
                  <a:pt x="0" y="1048944"/>
                </a:cubicBezTo>
                <a:close/>
              </a:path>
            </a:pathLst>
          </a:custGeom>
          <a:solidFill>
            <a:srgbClr val="254F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en-US" altLang="zh-CN" dirty="0"/>
          </a:p>
        </p:txBody>
      </p:sp>
      <p:sp>
        <p:nvSpPr>
          <p:cNvPr id="127" name="文本框 126"/>
          <p:cNvSpPr txBox="1"/>
          <p:nvPr userDrawn="1">
            <p:custDataLst>
              <p:tags r:id="rId12"/>
            </p:custDataLst>
          </p:nvPr>
        </p:nvSpPr>
        <p:spPr>
          <a:xfrm>
            <a:off x="5485765" y="4420235"/>
            <a:ext cx="796925" cy="52197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>
              <a:lnSpc>
                <a:spcPct val="100000"/>
              </a:lnSpc>
            </a:pPr>
            <a:r>
              <a:rPr kumimoji="1" lang="en-US" altLang="zh-CN" sz="2800" b="1" dirty="0">
                <a:solidFill>
                  <a:schemeClr val="bg1"/>
                </a:solidFill>
                <a:latin typeface="+mj-ea"/>
                <a:ea typeface="+mj-ea"/>
              </a:rPr>
              <a:t>04</a:t>
            </a:r>
          </a:p>
        </p:txBody>
      </p:sp>
      <p:sp>
        <p:nvSpPr>
          <p:cNvPr id="130" name="圆角矩形 129"/>
          <p:cNvSpPr/>
          <p:nvPr userDrawn="1">
            <p:custDataLst>
              <p:tags r:id="rId13"/>
            </p:custDataLst>
          </p:nvPr>
        </p:nvSpPr>
        <p:spPr>
          <a:xfrm>
            <a:off x="5092065" y="5268595"/>
            <a:ext cx="5114925" cy="741045"/>
          </a:xfrm>
          <a:prstGeom prst="round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2">
                  <a:lumMod val="20000"/>
                  <a:lumOff val="80000"/>
                  <a:alpha val="30000"/>
                </a:schemeClr>
              </a:solidFill>
            </a:endParaRPr>
          </a:p>
        </p:txBody>
      </p:sp>
      <p:sp>
        <p:nvSpPr>
          <p:cNvPr id="131" name="任意形状 10"/>
          <p:cNvSpPr/>
          <p:nvPr userDrawn="1">
            <p:custDataLst>
              <p:tags r:id="rId14"/>
            </p:custDataLst>
          </p:nvPr>
        </p:nvSpPr>
        <p:spPr>
          <a:xfrm rot="5400000">
            <a:off x="5560060" y="5150485"/>
            <a:ext cx="784860" cy="933450"/>
          </a:xfrm>
          <a:custGeom>
            <a:avLst/>
            <a:gdLst>
              <a:gd name="connsiteX0" fmla="*/ 0 w 1021517"/>
              <a:gd name="connsiteY0" fmla="*/ 1048944 h 1219200"/>
              <a:gd name="connsiteX1" fmla="*/ 0 w 1021517"/>
              <a:gd name="connsiteY1" fmla="*/ 343438 h 1219200"/>
              <a:gd name="connsiteX2" fmla="*/ 170256 w 1021517"/>
              <a:gd name="connsiteY2" fmla="*/ 173182 h 1219200"/>
              <a:gd name="connsiteX3" fmla="*/ 412580 w 1021517"/>
              <a:gd name="connsiteY3" fmla="*/ 173182 h 1219200"/>
              <a:gd name="connsiteX4" fmla="*/ 513025 w 1021517"/>
              <a:gd name="connsiteY4" fmla="*/ 0 h 1219200"/>
              <a:gd name="connsiteX5" fmla="*/ 613470 w 1021517"/>
              <a:gd name="connsiteY5" fmla="*/ 173182 h 1219200"/>
              <a:gd name="connsiteX6" fmla="*/ 851261 w 1021517"/>
              <a:gd name="connsiteY6" fmla="*/ 173182 h 1219200"/>
              <a:gd name="connsiteX7" fmla="*/ 1021517 w 1021517"/>
              <a:gd name="connsiteY7" fmla="*/ 343438 h 1219200"/>
              <a:gd name="connsiteX8" fmla="*/ 1021517 w 1021517"/>
              <a:gd name="connsiteY8" fmla="*/ 1048944 h 1219200"/>
              <a:gd name="connsiteX9" fmla="*/ 851261 w 1021517"/>
              <a:gd name="connsiteY9" fmla="*/ 1219200 h 1219200"/>
              <a:gd name="connsiteX10" fmla="*/ 170256 w 1021517"/>
              <a:gd name="connsiteY10" fmla="*/ 1219200 h 1219200"/>
              <a:gd name="connsiteX11" fmla="*/ 0 w 1021517"/>
              <a:gd name="connsiteY11" fmla="*/ 1048944 h 121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1517" h="1219200">
                <a:moveTo>
                  <a:pt x="0" y="1048944"/>
                </a:moveTo>
                <a:lnTo>
                  <a:pt x="0" y="343438"/>
                </a:lnTo>
                <a:cubicBezTo>
                  <a:pt x="0" y="249408"/>
                  <a:pt x="76226" y="173182"/>
                  <a:pt x="170256" y="173182"/>
                </a:cubicBezTo>
                <a:lnTo>
                  <a:pt x="412580" y="173182"/>
                </a:lnTo>
                <a:lnTo>
                  <a:pt x="513025" y="0"/>
                </a:lnTo>
                <a:lnTo>
                  <a:pt x="613470" y="173182"/>
                </a:lnTo>
                <a:lnTo>
                  <a:pt x="851261" y="173182"/>
                </a:lnTo>
                <a:cubicBezTo>
                  <a:pt x="945291" y="173182"/>
                  <a:pt x="1021517" y="249408"/>
                  <a:pt x="1021517" y="343438"/>
                </a:cubicBezTo>
                <a:lnTo>
                  <a:pt x="1021517" y="1048944"/>
                </a:lnTo>
                <a:cubicBezTo>
                  <a:pt x="1021517" y="1142974"/>
                  <a:pt x="945291" y="1219200"/>
                  <a:pt x="851261" y="1219200"/>
                </a:cubicBezTo>
                <a:lnTo>
                  <a:pt x="170256" y="1219200"/>
                </a:lnTo>
                <a:cubicBezTo>
                  <a:pt x="76226" y="1219200"/>
                  <a:pt x="0" y="1142974"/>
                  <a:pt x="0" y="1048944"/>
                </a:cubicBezTo>
                <a:close/>
              </a:path>
            </a:pathLst>
          </a:custGeom>
          <a:solidFill>
            <a:srgbClr val="254F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en-US" altLang="zh-CN" dirty="0"/>
          </a:p>
        </p:txBody>
      </p:sp>
      <p:sp>
        <p:nvSpPr>
          <p:cNvPr id="132" name="文本框 131"/>
          <p:cNvSpPr txBox="1"/>
          <p:nvPr userDrawn="1">
            <p:custDataLst>
              <p:tags r:id="rId15"/>
            </p:custDataLst>
          </p:nvPr>
        </p:nvSpPr>
        <p:spPr>
          <a:xfrm>
            <a:off x="5485765" y="5363210"/>
            <a:ext cx="796925" cy="52197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>
              <a:lnSpc>
                <a:spcPct val="100000"/>
              </a:lnSpc>
            </a:pPr>
            <a:r>
              <a:rPr kumimoji="1" lang="en-US" altLang="zh-CN" sz="2800" b="1" dirty="0">
                <a:solidFill>
                  <a:schemeClr val="bg1"/>
                </a:solidFill>
                <a:latin typeface="+mj-ea"/>
                <a:ea typeface="+mj-ea"/>
              </a:rPr>
              <a:t>05</a:t>
            </a:r>
          </a:p>
        </p:txBody>
      </p:sp>
      <p:sp>
        <p:nvSpPr>
          <p:cNvPr id="33" name="标题 32"/>
          <p:cNvSpPr>
            <a:spLocks noGrp="1"/>
          </p:cNvSpPr>
          <p:nvPr>
            <p:ph type="title" hasCustomPrompt="1"/>
            <p:custDataLst>
              <p:tags r:id="rId16"/>
            </p:custDataLst>
          </p:nvPr>
        </p:nvSpPr>
        <p:spPr>
          <a:xfrm>
            <a:off x="6762750" y="1586865"/>
            <a:ext cx="3072130" cy="521970"/>
          </a:xfrm>
        </p:spPr>
        <p:txBody>
          <a:bodyPr wrap="square" anchor="ctr" anchorCtr="0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ea"/>
                <a:ea typeface="+mj-ea"/>
              </a:defRPr>
            </a:lvl1pPr>
          </a:lstStyle>
          <a:p>
            <a:r>
              <a:rPr lang="zh-CN" altLang="en-US" dirty="0"/>
              <a:t>项目介绍</a:t>
            </a:r>
          </a:p>
        </p:txBody>
      </p:sp>
      <p:sp>
        <p:nvSpPr>
          <p:cNvPr id="2" name="标题 32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6762750" y="2539365"/>
            <a:ext cx="3072130" cy="52197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ea"/>
                <a:ea typeface="+mj-ea"/>
              </a:defRPr>
            </a:lvl1pPr>
          </a:lstStyle>
          <a:p>
            <a:r>
              <a:rPr lang="zh-CN" altLang="en-US" dirty="0"/>
              <a:t>项目亮点</a:t>
            </a:r>
          </a:p>
        </p:txBody>
      </p:sp>
      <p:sp>
        <p:nvSpPr>
          <p:cNvPr id="3" name="标题 32"/>
          <p:cNvSpPr>
            <a:spLocks noGrp="1"/>
          </p:cNvSpPr>
          <p:nvPr>
            <p:custDataLst>
              <p:tags r:id="rId18"/>
            </p:custDataLst>
          </p:nvPr>
        </p:nvSpPr>
        <p:spPr>
          <a:xfrm>
            <a:off x="6762750" y="3466465"/>
            <a:ext cx="3072130" cy="52197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ea"/>
                <a:ea typeface="+mj-ea"/>
              </a:defRPr>
            </a:lvl1pPr>
          </a:lstStyle>
          <a:p>
            <a:r>
              <a:rPr lang="zh-CN" altLang="en-US" dirty="0"/>
              <a:t>技术难点</a:t>
            </a:r>
          </a:p>
        </p:txBody>
      </p:sp>
      <p:sp>
        <p:nvSpPr>
          <p:cNvPr id="4" name="标题 32"/>
          <p:cNvSpPr>
            <a:spLocks noGrp="1"/>
          </p:cNvSpPr>
          <p:nvPr>
            <p:custDataLst>
              <p:tags r:id="rId19"/>
            </p:custDataLst>
          </p:nvPr>
        </p:nvSpPr>
        <p:spPr>
          <a:xfrm>
            <a:off x="6762750" y="4418965"/>
            <a:ext cx="3072130" cy="52197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ea"/>
                <a:ea typeface="+mj-ea"/>
              </a:defRPr>
            </a:lvl1pPr>
          </a:lstStyle>
          <a:p>
            <a:r>
              <a:rPr lang="zh-CN" altLang="en-US" dirty="0"/>
              <a:t>项目测试</a:t>
            </a:r>
          </a:p>
        </p:txBody>
      </p:sp>
      <p:sp>
        <p:nvSpPr>
          <p:cNvPr id="5" name="标题 32"/>
          <p:cNvSpPr>
            <a:spLocks noGrp="1"/>
          </p:cNvSpPr>
          <p:nvPr>
            <p:custDataLst>
              <p:tags r:id="rId20"/>
            </p:custDataLst>
          </p:nvPr>
        </p:nvSpPr>
        <p:spPr>
          <a:xfrm>
            <a:off x="6762750" y="5371465"/>
            <a:ext cx="3072130" cy="52197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ea"/>
                <a:ea typeface="+mj-ea"/>
              </a:defRPr>
            </a:lvl1pPr>
          </a:lstStyle>
          <a:p>
            <a:r>
              <a:rPr lang="zh-CN" altLang="en-US" dirty="0"/>
              <a:t>作品演示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/>
              <a:t>项目介绍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168840CF-1EB3-4CEE-A03D-7DEFC573B433}"/>
              </a:ext>
            </a:extLst>
          </p:cNvPr>
          <p:cNvSpPr>
            <a:spLocks noGrp="1"/>
          </p:cNvSpPr>
          <p:nvPr/>
        </p:nvSpPr>
        <p:spPr>
          <a:xfrm>
            <a:off x="523875" y="533400"/>
            <a:ext cx="109537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00" b="1">
                <a:solidFill>
                  <a:srgbClr val="254FEB"/>
                </a:solidFill>
                <a:latin typeface="黑体"/>
                <a:ea typeface="黑体"/>
                <a:cs typeface="黑体"/>
              </a:defRPr>
            </a:pPr>
            <a:r>
              <a:rPr sz="2600" b="1">
                <a:solidFill>
                  <a:srgbClr val="254FEB"/>
                </a:solidFill>
                <a:latin typeface="黑体"/>
                <a:ea typeface="黑体"/>
                <a:cs typeface="黑体"/>
              </a:rPr>
              <a:t>1.1 设计背景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52DD3F2-132A-4F6B-BE10-0E9E43F540BB}"/>
              </a:ext>
            </a:extLst>
          </p:cNvPr>
          <p:cNvSpPr>
            <a:spLocks noGrp="1"/>
          </p:cNvSpPr>
          <p:nvPr/>
        </p:nvSpPr>
        <p:spPr>
          <a:xfrm>
            <a:off x="619125" y="1438275"/>
            <a:ext cx="1095375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250" b="1">
                <a:solidFill>
                  <a:srgbClr val="14213A"/>
                </a:solidFill>
                <a:latin typeface="黑体"/>
                <a:ea typeface="黑体"/>
                <a:cs typeface="黑体"/>
              </a:defRPr>
            </a:pPr>
            <a:r>
              <a:rPr sz="2250" b="1">
                <a:solidFill>
                  <a:srgbClr val="14213A"/>
                </a:solidFill>
                <a:latin typeface="黑体"/>
                <a:ea typeface="黑体"/>
                <a:cs typeface="黑体"/>
              </a:rPr>
              <a:t>依赖等待与节点竞争，使局部最快选择难以保证整体最优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BECC724-1EA7-40A6-B3A4-8F4DAF117E4F}"/>
              </a:ext>
            </a:extLst>
          </p:cNvPr>
          <p:cNvSpPr>
            <a:spLocks noGrp="1"/>
          </p:cNvSpPr>
          <p:nvPr/>
        </p:nvSpPr>
        <p:spPr>
          <a:xfrm>
            <a:off x="619125" y="6257925"/>
            <a:ext cx="10953750" cy="371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0">
                <a:solidFill>
                  <a:srgbClr val="53657D"/>
                </a:solidFill>
                <a:latin typeface="黑体"/>
                <a:ea typeface="黑体"/>
                <a:cs typeface="黑体"/>
              </a:defRPr>
            </a:pPr>
            <a:r>
              <a:rPr sz="1275" b="0">
                <a:solidFill>
                  <a:srgbClr val="53657D"/>
                </a:solidFill>
                <a:latin typeface="黑体"/>
                <a:ea typeface="黑体"/>
                <a:cs typeface="黑体"/>
              </a:rPr>
              <a:t>说明书第 1.1、2.1 节；示意 DAG 不代表业务实测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442591F-993D-4C5B-B7FE-1D3A29EA3645}"/>
              </a:ext>
            </a:extLst>
          </p:cNvPr>
          <p:cNvSpPr>
            <a:spLocks noGrp="1"/>
          </p:cNvSpPr>
          <p:nvPr/>
        </p:nvSpPr>
        <p:spPr>
          <a:xfrm>
            <a:off x="619125" y="2133600"/>
            <a:ext cx="46672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254FEB"/>
                </a:solidFill>
                <a:latin typeface="黑体"/>
                <a:ea typeface="黑体"/>
                <a:cs typeface="黑体"/>
              </a:defRPr>
            </a:pPr>
            <a:r>
              <a:rPr sz="2100" b="1">
                <a:solidFill>
                  <a:srgbClr val="254FEB"/>
                </a:solidFill>
                <a:latin typeface="黑体"/>
                <a:ea typeface="黑体"/>
                <a:cs typeface="黑体"/>
              </a:rPr>
              <a:t>依赖任务工作流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FAD0FE0-31A3-473C-A0C9-1A55A1473BD2}"/>
              </a:ext>
            </a:extLst>
          </p:cNvPr>
          <p:cNvSpPr>
            <a:spLocks noGrp="1"/>
          </p:cNvSpPr>
          <p:nvPr/>
        </p:nvSpPr>
        <p:spPr>
          <a:xfrm>
            <a:off x="619125" y="5524500"/>
            <a:ext cx="495300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0">
                <a:solidFill>
                  <a:srgbClr val="53657D"/>
                </a:solidFill>
                <a:latin typeface="黑体"/>
                <a:ea typeface="黑体"/>
                <a:cs typeface="黑体"/>
              </a:defRPr>
            </a:pPr>
            <a:r>
              <a:rPr sz="1875" b="0">
                <a:solidFill>
                  <a:srgbClr val="53657D"/>
                </a:solidFill>
                <a:latin typeface="黑体"/>
                <a:ea typeface="黑体"/>
                <a:cs typeface="黑体"/>
              </a:rPr>
              <a:t>D 需要等待 B、C 的结果均到达执行节点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7F566C9-7405-483C-9D4F-850389DE253C}"/>
              </a:ext>
            </a:extLst>
          </p:cNvPr>
          <p:cNvSpPr>
            <a:spLocks noGrp="1"/>
          </p:cNvSpPr>
          <p:nvPr/>
        </p:nvSpPr>
        <p:spPr>
          <a:xfrm>
            <a:off x="6191250" y="2143125"/>
            <a:ext cx="5238750" cy="371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14213A"/>
                </a:solidFill>
                <a:latin typeface="黑体"/>
                <a:ea typeface="黑体"/>
                <a:cs typeface="黑体"/>
              </a:defRPr>
            </a:pPr>
            <a:r>
              <a:rPr sz="2100" b="1">
                <a:solidFill>
                  <a:srgbClr val="14213A"/>
                </a:solidFill>
                <a:latin typeface="黑体"/>
                <a:ea typeface="黑体"/>
                <a:cs typeface="黑体"/>
              </a:rPr>
              <a:t>算力与通信相互制约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4C0B626-C661-404D-850D-222791FB8A05}"/>
              </a:ext>
            </a:extLst>
          </p:cNvPr>
          <p:cNvSpPr>
            <a:spLocks noGrp="1"/>
          </p:cNvSpPr>
          <p:nvPr/>
        </p:nvSpPr>
        <p:spPr>
          <a:xfrm>
            <a:off x="6191250" y="2514600"/>
            <a:ext cx="523875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0">
                <a:solidFill>
                  <a:srgbClr val="14213A"/>
                </a:solidFill>
                <a:latin typeface="黑体"/>
                <a:ea typeface="黑体"/>
                <a:cs typeface="黑体"/>
              </a:defRPr>
            </a:pPr>
            <a:r>
              <a:rPr sz="1875" b="0">
                <a:solidFill>
                  <a:srgbClr val="14213A"/>
                </a:solidFill>
                <a:latin typeface="黑体"/>
                <a:ea typeface="黑体"/>
                <a:cs typeface="黑体"/>
              </a:rPr>
              <a:t>迁移到快节点可能增加前驱数据传输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46A2544-2380-4AF4-A070-642E3F474C2C}"/>
              </a:ext>
            </a:extLst>
          </p:cNvPr>
          <p:cNvSpPr>
            <a:spLocks noGrp="1"/>
          </p:cNvSpPr>
          <p:nvPr/>
        </p:nvSpPr>
        <p:spPr>
          <a:xfrm>
            <a:off x="6191250" y="3057525"/>
            <a:ext cx="5238750" cy="371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14213A"/>
                </a:solidFill>
                <a:latin typeface="黑体"/>
                <a:ea typeface="黑体"/>
                <a:cs typeface="黑体"/>
              </a:defRPr>
            </a:pPr>
            <a:r>
              <a:rPr sz="2100" b="1">
                <a:solidFill>
                  <a:srgbClr val="14213A"/>
                </a:solidFill>
                <a:latin typeface="黑体"/>
                <a:ea typeface="黑体"/>
                <a:cs typeface="黑体"/>
              </a:rPr>
              <a:t>任务次序影响后续资源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898C2D6-429E-46C6-A93D-3E318720BA50}"/>
              </a:ext>
            </a:extLst>
          </p:cNvPr>
          <p:cNvSpPr>
            <a:spLocks noGrp="1"/>
          </p:cNvSpPr>
          <p:nvPr/>
        </p:nvSpPr>
        <p:spPr>
          <a:xfrm>
            <a:off x="6191250" y="3429000"/>
            <a:ext cx="523875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0">
                <a:solidFill>
                  <a:srgbClr val="14213A"/>
                </a:solidFill>
                <a:latin typeface="黑体"/>
                <a:ea typeface="黑体"/>
                <a:cs typeface="黑体"/>
              </a:defRPr>
            </a:pPr>
            <a:r>
              <a:rPr sz="1875" b="0">
                <a:solidFill>
                  <a:srgbClr val="14213A"/>
                </a:solidFill>
                <a:latin typeface="黑体"/>
                <a:ea typeface="黑体"/>
                <a:cs typeface="黑体"/>
              </a:rPr>
              <a:t>B、C 的节点选择会改变 D 的等待时间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8E38020-B539-4915-B701-5F0B8667657B}"/>
              </a:ext>
            </a:extLst>
          </p:cNvPr>
          <p:cNvSpPr>
            <a:spLocks noGrp="1"/>
          </p:cNvSpPr>
          <p:nvPr/>
        </p:nvSpPr>
        <p:spPr>
          <a:xfrm>
            <a:off x="6191250" y="3971925"/>
            <a:ext cx="5238750" cy="371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14213A"/>
                </a:solidFill>
                <a:latin typeface="黑体"/>
                <a:ea typeface="黑体"/>
                <a:cs typeface="黑体"/>
              </a:defRPr>
            </a:pPr>
            <a:r>
              <a:rPr sz="2100" b="1">
                <a:solidFill>
                  <a:srgbClr val="14213A"/>
                </a:solidFill>
                <a:latin typeface="黑体"/>
                <a:ea typeface="黑体"/>
                <a:cs typeface="黑体"/>
              </a:rPr>
              <a:t>分层决策互相影响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BE753F0-11A8-4046-94B5-F00652258AFB}"/>
              </a:ext>
            </a:extLst>
          </p:cNvPr>
          <p:cNvSpPr>
            <a:spLocks noGrp="1"/>
          </p:cNvSpPr>
          <p:nvPr/>
        </p:nvSpPr>
        <p:spPr>
          <a:xfrm>
            <a:off x="6191250" y="4343400"/>
            <a:ext cx="523875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0">
                <a:solidFill>
                  <a:srgbClr val="14213A"/>
                </a:solidFill>
                <a:latin typeface="黑体"/>
                <a:ea typeface="黑体"/>
                <a:cs typeface="黑体"/>
              </a:defRPr>
            </a:pPr>
            <a:r>
              <a:rPr sz="1875" b="0">
                <a:solidFill>
                  <a:srgbClr val="14213A"/>
                </a:solidFill>
                <a:latin typeface="黑体"/>
                <a:ea typeface="黑体"/>
                <a:cs typeface="黑体"/>
              </a:rPr>
              <a:t>任务选择改变节点条件，分配改变下一状态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1147E61-E8A2-420B-84C4-FD7871929412}"/>
              </a:ext>
            </a:extLst>
          </p:cNvPr>
          <p:cNvSpPr>
            <a:spLocks noGrp="1"/>
          </p:cNvSpPr>
          <p:nvPr/>
        </p:nvSpPr>
        <p:spPr>
          <a:xfrm>
            <a:off x="6191250" y="4886325"/>
            <a:ext cx="5238750" cy="371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00899B"/>
                </a:solidFill>
                <a:latin typeface="黑体"/>
                <a:ea typeface="黑体"/>
                <a:cs typeface="黑体"/>
              </a:defRPr>
            </a:pPr>
            <a:r>
              <a:rPr sz="2100" b="1">
                <a:solidFill>
                  <a:srgbClr val="00899B"/>
                </a:solidFill>
                <a:latin typeface="黑体"/>
                <a:ea typeface="黑体"/>
                <a:cs typeface="黑体"/>
              </a:rPr>
              <a:t>搜索需要分支与重放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B93C141-1B4D-4F74-9FA9-54C8B93590DE}"/>
              </a:ext>
            </a:extLst>
          </p:cNvPr>
          <p:cNvSpPr>
            <a:spLocks noGrp="1"/>
          </p:cNvSpPr>
          <p:nvPr/>
        </p:nvSpPr>
        <p:spPr>
          <a:xfrm>
            <a:off x="6191250" y="5257800"/>
            <a:ext cx="523875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0">
                <a:solidFill>
                  <a:srgbClr val="14213A"/>
                </a:solidFill>
                <a:latin typeface="黑体"/>
                <a:ea typeface="黑体"/>
                <a:cs typeface="黑体"/>
              </a:defRPr>
            </a:pPr>
            <a:r>
              <a:rPr sz="1875" b="0">
                <a:solidFill>
                  <a:srgbClr val="14213A"/>
                </a:solidFill>
                <a:latin typeface="黑体"/>
                <a:ea typeface="黑体"/>
                <a:cs typeface="黑体"/>
              </a:rPr>
              <a:t>比较多个候选必须保证状态独立、评分一致</a:t>
            </a: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20907" y="2609850"/>
            <a:ext cx="4644686" cy="29051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28923" y="522637"/>
            <a:ext cx="7624477" cy="491490"/>
          </a:xfrm>
          <a:prstGeom prst="rect">
            <a:avLst/>
          </a:prstGeom>
          <a:noFill/>
          <a:ln>
            <a:noFill/>
          </a:ln>
        </p:spPr>
        <p:txBody>
          <a:bodyPr wrap="none" lIns="91440" tIns="80586" rIns="0" bIns="0" anchor="t" anchorCtr="0">
            <a:noAutofit/>
          </a:bodyPr>
          <a:lstStyle/>
          <a:p>
            <a:pPr algn="l"/>
            <a:r>
              <a:rPr lang="zh-CN" sz="2600" b="1" dirty="0">
                <a:solidFill>
                  <a:srgbClr val="254FEB"/>
                </a:solidFill>
                <a:latin typeface="黑体"/>
                <a:ea typeface="Microsoft YaHei"/>
                <a:cs typeface="黑体"/>
              </a:rPr>
              <a:t>1.2 设计目标</a:t>
            </a:r>
          </a:p>
        </p:txBody>
      </p:sp>
      <p:grpSp>
        <p:nvGrpSpPr>
          <p:cNvPr id="7" name="goal"/>
          <p:cNvGrpSpPr/>
          <p:nvPr/>
        </p:nvGrpSpPr>
        <p:grpSpPr>
          <a:xfrm>
            <a:off x="606171" y="1572578"/>
            <a:ext cx="6598023" cy="498729"/>
            <a:chOff x="606171" y="1572578"/>
            <a:chExt cx="6598023" cy="498729"/>
          </a:xfrm>
        </p:grpSpPr>
        <p:sp>
          <p:nvSpPr>
            <p:cNvPr id="6" name="TextBox 6"/>
            <p:cNvSpPr txBox="1"/>
            <p:nvPr/>
          </p:nvSpPr>
          <p:spPr>
            <a:xfrm>
              <a:off x="606171" y="1572578"/>
              <a:ext cx="65980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4213A"/>
                  </a:solidFill>
                  <a:latin typeface="黑体"/>
                  <a:ea typeface="Microsoft YaHei"/>
                  <a:cs typeface="黑体"/>
                </a:rPr>
                <a:t>目标：在依赖与资源约束下缩短 makespan</a:t>
              </a:r>
            </a:p>
          </p:txBody>
        </p: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09675" y="2424113"/>
            <a:ext cx="9772650" cy="32575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28923" y="522637"/>
            <a:ext cx="7624477" cy="491490"/>
          </a:xfrm>
          <a:prstGeom prst="rect">
            <a:avLst/>
          </a:prstGeom>
          <a:noFill/>
          <a:ln>
            <a:noFill/>
          </a:ln>
        </p:spPr>
        <p:txBody>
          <a:bodyPr wrap="none" lIns="91440" tIns="80586" rIns="0" bIns="0" anchor="t" anchorCtr="0">
            <a:noAutofit/>
          </a:bodyPr>
          <a:lstStyle/>
          <a:p>
            <a:pPr algn="l"/>
            <a:r>
              <a:rPr lang="zh-CN" sz="2600" b="1" dirty="0">
                <a:solidFill>
                  <a:srgbClr val="254FEB"/>
                </a:solidFill>
                <a:latin typeface="黑体"/>
                <a:ea typeface="Microsoft YaHei"/>
                <a:cs typeface="黑体"/>
              </a:rPr>
              <a:t>1.3 较同类产品的优势</a:t>
            </a:r>
          </a:p>
        </p:txBody>
      </p:sp>
      <p:grpSp>
        <p:nvGrpSpPr>
          <p:cNvPr id="7" name="comparison-intro"/>
          <p:cNvGrpSpPr/>
          <p:nvPr/>
        </p:nvGrpSpPr>
        <p:grpSpPr>
          <a:xfrm>
            <a:off x="606933" y="1531620"/>
            <a:ext cx="6646469" cy="469392"/>
            <a:chOff x="606933" y="1531620"/>
            <a:chExt cx="6646469" cy="469392"/>
          </a:xfrm>
        </p:grpSpPr>
        <p:sp>
          <p:nvSpPr>
            <p:cNvPr id="6" name="TextBox 6"/>
            <p:cNvSpPr txBox="1"/>
            <p:nvPr/>
          </p:nvSpPr>
          <p:spPr>
            <a:xfrm>
              <a:off x="606933" y="1531620"/>
              <a:ext cx="664646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4213A"/>
                  </a:solidFill>
                  <a:latin typeface="黑体"/>
                  <a:ea typeface="Microsoft YaHei"/>
                  <a:cs typeface="黑体"/>
                </a:rPr>
                <a:t>以已有算法为基础，补齐 DAG 适配与结果复核</a:t>
              </a:r>
            </a:p>
          </p:txBody>
        </p:sp>
      </p:grpSp>
      <p:graphicFrame>
        <p:nvGraphicFramePr>
          <p:cNvPr id="8" name="prior-work"/>
          <p:cNvGraphicFramePr>
            <a:graphicFrameLocks noGrp="1"/>
          </p:cNvGraphicFramePr>
          <p:nvPr/>
        </p:nvGraphicFramePr>
        <p:xfrm>
          <a:off x="619125" y="2238375"/>
          <a:ext cx="10858500" cy="3143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5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85813">
                <a:tc>
                  <a:txBody>
                    <a:bodyPr/>
                    <a:lstStyle/>
                    <a:p>
                      <a:r>
                        <a:rPr lang="zh-CN" sz="1880" b="1">
                          <a:solidFill>
                            <a:srgbClr val="FFFFFF"/>
                          </a:solidFill>
                          <a:latin typeface="黑体"/>
                          <a:ea typeface="Microsoft YaHei"/>
                          <a:cs typeface="黑体"/>
                        </a:rPr>
                        <a:t>对比对象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254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80" b="1">
                          <a:solidFill>
                            <a:srgbClr val="FFFFFF"/>
                          </a:solidFill>
                          <a:latin typeface="黑体"/>
                          <a:ea typeface="Microsoft YaHei"/>
                          <a:cs typeface="黑体"/>
                        </a:rPr>
                        <a:t>已有能力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254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80" b="1">
                          <a:solidFill>
                            <a:srgbClr val="FFFFFF"/>
                          </a:solidFill>
                          <a:latin typeface="黑体"/>
                          <a:ea typeface="Microsoft YaHei"/>
                          <a:cs typeface="黑体"/>
                        </a:rPr>
                        <a:t>本项目增加的能力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254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5813">
                <a:tc>
                  <a:txBody>
                    <a:bodyPr/>
                    <a:lstStyle/>
                    <a:p>
                      <a:r>
                        <a:rPr lang="en-US" sz="1880" b="1">
                          <a:solidFill>
                            <a:srgbClr val="14213A"/>
                          </a:solidFill>
                          <a:latin typeface="黑体"/>
                          <a:ea typeface="Microsoft YaHei"/>
                          <a:cs typeface="黑体"/>
                        </a:rPr>
                        <a:t>CPN-HRL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80" b="0" dirty="0">
                          <a:solidFill>
                            <a:srgbClr val="14213A"/>
                          </a:solidFill>
                          <a:latin typeface="黑体"/>
                          <a:ea typeface="Microsoft YaHei"/>
                          <a:cs typeface="黑体"/>
                        </a:rPr>
                        <a:t>LSTM-PPO 排序
GAT-PPO 分配；分阶段训练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80" b="0">
                          <a:solidFill>
                            <a:srgbClr val="14213A"/>
                          </a:solidFill>
                          <a:latin typeface="黑体"/>
                          <a:ea typeface="Microsoft YaHei"/>
                          <a:cs typeface="黑体"/>
                        </a:rPr>
                        <a:t>离线 DAG 就绪/可行动作
数据到达与插入时间线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5812">
                <a:tc>
                  <a:txBody>
                    <a:bodyPr/>
                    <a:lstStyle/>
                    <a:p>
                      <a:r>
                        <a:rPr lang="en-US" sz="1880" b="1">
                          <a:solidFill>
                            <a:srgbClr val="14213A"/>
                          </a:solidFill>
                          <a:latin typeface="黑体"/>
                          <a:ea typeface="Microsoft YaHei"/>
                          <a:cs typeface="黑体"/>
                        </a:rPr>
                        <a:t>HEFT / PEFT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80" b="0" dirty="0">
                          <a:solidFill>
                            <a:srgbClr val="14213A"/>
                          </a:solidFill>
                          <a:latin typeface="黑体"/>
                          <a:ea typeface="Microsoft YaHei"/>
                          <a:cs typeface="黑体"/>
                        </a:rPr>
                        <a:t>优先级排序与 EFT 插入
乐观代价估计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80" b="0">
                          <a:solidFill>
                            <a:srgbClr val="14213A"/>
                          </a:solidFill>
                          <a:latin typeface="黑体"/>
                          <a:ea typeface="Microsoft YaHei"/>
                          <a:cs typeface="黑体"/>
                        </a:rPr>
                        <a:t>实际关键链与任务块搜索
状态克隆与前缀复用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5812">
                <a:tc>
                  <a:txBody>
                    <a:bodyPr/>
                    <a:lstStyle/>
                    <a:p>
                      <a:r>
                        <a:rPr lang="zh-CN" sz="1880" b="1">
                          <a:solidFill>
                            <a:srgbClr val="14213A"/>
                          </a:solidFill>
                          <a:latin typeface="黑体"/>
                          <a:ea typeface="Microsoft YaHei"/>
                          <a:cs typeface="黑体"/>
                        </a:rPr>
                        <a:t>单一候选策略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80" b="0" dirty="0">
                          <a:solidFill>
                            <a:srgbClr val="14213A"/>
                          </a:solidFill>
                          <a:latin typeface="黑体"/>
                          <a:ea typeface="Microsoft YaHei"/>
                          <a:cs typeface="黑体"/>
                        </a:rPr>
                        <a:t>生成一个完整调度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80" b="0" dirty="0">
                          <a:solidFill>
                            <a:srgbClr val="14213A"/>
                          </a:solidFill>
                          <a:latin typeface="黑体"/>
                          <a:ea typeface="Microsoft YaHei"/>
                          <a:cs typeface="黑体"/>
                        </a:rPr>
                        <a:t>独立生成多个完整候选
统一校验、择优、重放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9"/>
          <p:cNvSpPr txBox="1"/>
          <p:nvPr/>
        </p:nvSpPr>
        <p:spPr>
          <a:xfrm>
            <a:off x="612267" y="6093142"/>
            <a:ext cx="564756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3657D"/>
                </a:solidFill>
                <a:latin typeface="黑体"/>
                <a:ea typeface="Microsoft YaHei"/>
                <a:cs typeface="黑体"/>
              </a:rPr>
              <a:t>比较的是实现机制与可复核能力；性能优势以同一仿真场景的实测为准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E5841A36-B0B1-4A0E-8B72-E429BFFB0028}"/>
              </a:ext>
            </a:extLst>
          </p:cNvPr>
          <p:cNvSpPr>
            <a:spLocks noGrp="1"/>
          </p:cNvSpPr>
          <p:nvPr/>
        </p:nvSpPr>
        <p:spPr>
          <a:xfrm>
            <a:off x="523875" y="533400"/>
            <a:ext cx="109537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00" b="1">
                <a:solidFill>
                  <a:srgbClr val="254FEB"/>
                </a:solidFill>
                <a:latin typeface="黑体"/>
                <a:ea typeface="黑体"/>
                <a:cs typeface="黑体"/>
              </a:defRPr>
            </a:pPr>
            <a:r>
              <a:rPr sz="2600" b="1">
                <a:solidFill>
                  <a:srgbClr val="254FEB"/>
                </a:solidFill>
                <a:latin typeface="黑体"/>
                <a:ea typeface="黑体"/>
                <a:cs typeface="黑体"/>
              </a:rPr>
              <a:t>1.4 作品原创性情况说明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78F5EFF-7A55-4A57-B594-3A846EA3AC49}"/>
              </a:ext>
            </a:extLst>
          </p:cNvPr>
          <p:cNvSpPr>
            <a:spLocks noGrp="1"/>
          </p:cNvSpPr>
          <p:nvPr/>
        </p:nvSpPr>
        <p:spPr>
          <a:xfrm>
            <a:off x="619125" y="1438275"/>
            <a:ext cx="1095375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250" b="1">
                <a:solidFill>
                  <a:srgbClr val="14213A"/>
                </a:solidFill>
                <a:latin typeface="黑体"/>
                <a:ea typeface="黑体"/>
                <a:cs typeface="黑体"/>
              </a:defRPr>
            </a:pPr>
            <a:r>
              <a:rPr sz="2250" b="1" dirty="0" err="1">
                <a:solidFill>
                  <a:srgbClr val="14213A"/>
                </a:solidFill>
                <a:latin typeface="黑体"/>
                <a:ea typeface="黑体"/>
                <a:cs typeface="黑体"/>
              </a:rPr>
              <a:t>贡献集中在离线</a:t>
            </a:r>
            <a:r>
              <a:rPr sz="2250" b="1" dirty="0">
                <a:solidFill>
                  <a:srgbClr val="14213A"/>
                </a:solidFill>
                <a:latin typeface="黑体"/>
                <a:ea typeface="黑体"/>
                <a:cs typeface="黑体"/>
              </a:rPr>
              <a:t> DAG </a:t>
            </a:r>
            <a:r>
              <a:rPr sz="2250" b="1" dirty="0" err="1">
                <a:solidFill>
                  <a:srgbClr val="14213A"/>
                </a:solidFill>
                <a:latin typeface="黑体"/>
                <a:ea typeface="黑体"/>
                <a:cs typeface="黑体"/>
              </a:rPr>
              <a:t>适配、候选改进和状态复用</a:t>
            </a:r>
            <a:endParaRPr sz="2250" b="1" dirty="0">
              <a:solidFill>
                <a:srgbClr val="14213A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8FCA544-D287-442B-A0B4-390BC794E208}"/>
              </a:ext>
            </a:extLst>
          </p:cNvPr>
          <p:cNvSpPr>
            <a:spLocks noGrp="1"/>
          </p:cNvSpPr>
          <p:nvPr/>
        </p:nvSpPr>
        <p:spPr>
          <a:xfrm>
            <a:off x="619125" y="6257925"/>
            <a:ext cx="10953750" cy="371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0">
                <a:solidFill>
                  <a:srgbClr val="53657D"/>
                </a:solidFill>
                <a:latin typeface="黑体"/>
                <a:ea typeface="黑体"/>
                <a:cs typeface="黑体"/>
              </a:defRPr>
            </a:pPr>
            <a:r>
              <a:rPr sz="1275" b="0">
                <a:solidFill>
                  <a:srgbClr val="53657D"/>
                </a:solidFill>
                <a:latin typeface="黑体"/>
                <a:ea typeface="黑体"/>
                <a:cs typeface="黑体"/>
              </a:rPr>
              <a:t>说明书第 2.3、5 章；参考 CPN-HRL、LSTM、GAT、PPO、HEFT 与 PEFT</a:t>
            </a:r>
          </a:p>
        </p:txBody>
      </p:sp>
      <p:graphicFrame>
        <p:nvGraphicFramePr>
          <p:cNvPr id="9" name="表格 8"/>
          <p:cNvGraphicFramePr/>
          <p:nvPr/>
        </p:nvGraphicFramePr>
        <p:xfrm>
          <a:off x="619125" y="2190750"/>
          <a:ext cx="10953750" cy="3267076"/>
        </p:xfrm>
        <a:graphic>
          <a:graphicData uri="http://schemas.openxmlformats.org/drawingml/2006/table">
            <a:tbl>
              <a:tblPr/>
              <a:tblGrid>
                <a:gridCol w="276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3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16769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项目贡献</a:t>
                      </a:r>
                    </a:p>
                  </a:txBody>
                  <a:tcPr marL="114300" marR="95250" marT="76200" marB="76200" anchor="ctr">
                    <a:solidFill>
                      <a:srgbClr val="254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 dirty="0" err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本地实现内容</a:t>
                      </a:r>
                      <a:endParaRPr sz="1875" b="1" dirty="0">
                        <a:solidFill>
                          <a:srgbClr val="FFFFFF"/>
                        </a:solidFill>
                        <a:latin typeface="黑体"/>
                        <a:ea typeface="黑体"/>
                        <a:cs typeface="黑体"/>
                      </a:endParaRPr>
                    </a:p>
                  </a:txBody>
                  <a:tcPr marL="114300" marR="95250" marT="76200" marB="76200" anchor="ctr">
                    <a:solidFill>
                      <a:srgbClr val="254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已有基础</a:t>
                      </a:r>
                    </a:p>
                  </a:txBody>
                  <a:tcPr marL="114300" marR="95250" marT="76200" marB="76200" anchor="ctr">
                    <a:solidFill>
                      <a:srgbClr val="254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6769">
                <a:tc>
                  <a:txBody>
                    <a:bodyPr/>
                    <a:lstStyle/>
                    <a:p>
                      <a:r>
                        <a:rPr sz="1875" b="0" dirty="0" err="1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离线</a:t>
                      </a:r>
                      <a:r>
                        <a:rPr sz="1875" b="0" dirty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 DAG </a:t>
                      </a:r>
                      <a:r>
                        <a:rPr sz="1875" b="0" dirty="0" err="1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分层调度适配</a:t>
                      </a:r>
                      <a:endParaRPr sz="1875" b="0" dirty="0">
                        <a:solidFill>
                          <a:srgbClr val="14213A"/>
                        </a:solidFill>
                        <a:latin typeface="黑体"/>
                        <a:ea typeface="黑体"/>
                        <a:cs typeface="黑体"/>
                      </a:endParaRPr>
                    </a:p>
                  </a:txBody>
                  <a:tcPr marL="11430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 dirty="0" err="1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前驱约束、插入时间线</a:t>
                      </a:r>
                      <a:endParaRPr sz="1875" b="0" dirty="0">
                        <a:solidFill>
                          <a:srgbClr val="14213A"/>
                        </a:solidFill>
                        <a:latin typeface="黑体"/>
                        <a:ea typeface="黑体"/>
                        <a:cs typeface="黑体"/>
                      </a:endParaRPr>
                    </a:p>
                    <a:p>
                      <a:r>
                        <a:rPr sz="1875" b="0" dirty="0" err="1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掩码</a:t>
                      </a:r>
                      <a:r>
                        <a:rPr sz="1875" b="0" dirty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 PPO </a:t>
                      </a:r>
                      <a:r>
                        <a:rPr sz="1875" b="0" dirty="0" err="1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与启发式有界残差</a:t>
                      </a:r>
                      <a:endParaRPr sz="1875" b="0" dirty="0">
                        <a:solidFill>
                          <a:srgbClr val="14213A"/>
                        </a:solidFill>
                        <a:latin typeface="黑体"/>
                        <a:ea typeface="黑体"/>
                        <a:cs typeface="黑体"/>
                      </a:endParaRPr>
                    </a:p>
                  </a:txBody>
                  <a:tcPr marL="11430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CPN-HRL 分层思路</a:t>
                      </a:r>
                    </a:p>
                    <a:p>
                      <a:r>
                        <a:rPr sz="1875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LSTM、GAT、PPO</a:t>
                      </a:r>
                    </a:p>
                  </a:txBody>
                  <a:tcPr marL="114300" marR="9525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6769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关键链与任务块搜索</a:t>
                      </a:r>
                    </a:p>
                  </a:txBody>
                  <a:tcPr marL="114300" marR="95250" marT="76200" marB="76200" anchor="ctr">
                    <a:solidFill>
                      <a:srgbClr val="E7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 dirty="0" err="1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回溯数据和节点阻塞</a:t>
                      </a:r>
                      <a:endParaRPr sz="1875" b="0" dirty="0">
                        <a:solidFill>
                          <a:srgbClr val="14213A"/>
                        </a:solidFill>
                        <a:latin typeface="黑体"/>
                        <a:ea typeface="黑体"/>
                        <a:cs typeface="黑体"/>
                      </a:endParaRPr>
                    </a:p>
                    <a:p>
                      <a:r>
                        <a:rPr sz="1875" b="0" dirty="0" err="1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共同迁移短块并重放完整候选</a:t>
                      </a:r>
                      <a:endParaRPr sz="1875" b="0" dirty="0">
                        <a:solidFill>
                          <a:srgbClr val="14213A"/>
                        </a:solidFill>
                        <a:latin typeface="黑体"/>
                        <a:ea typeface="黑体"/>
                        <a:cs typeface="黑体"/>
                      </a:endParaRPr>
                    </a:p>
                  </a:txBody>
                  <a:tcPr marL="114300" marR="95250" marT="76200" marB="76200" anchor="ctr">
                    <a:solidFill>
                      <a:srgbClr val="E7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HEFT、PEFT</a:t>
                      </a:r>
                    </a:p>
                    <a:p>
                      <a:r>
                        <a:rPr sz="1875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beam 与局部搜索</a:t>
                      </a:r>
                    </a:p>
                  </a:txBody>
                  <a:tcPr marL="114300" marR="95250" marT="76200" marB="76200" anchor="ctr">
                    <a:solidFill>
                      <a:srgbClr val="E7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6769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动态隔离与前缀复用</a:t>
                      </a:r>
                    </a:p>
                  </a:txBody>
                  <a:tcPr marL="11430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 dirty="0" err="1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静态缓存共享、动态状态复制</a:t>
                      </a:r>
                      <a:endParaRPr sz="1875" b="0" dirty="0">
                        <a:solidFill>
                          <a:srgbClr val="14213A"/>
                        </a:solidFill>
                        <a:latin typeface="黑体"/>
                        <a:ea typeface="黑体"/>
                        <a:cs typeface="黑体"/>
                      </a:endParaRPr>
                    </a:p>
                    <a:p>
                      <a:r>
                        <a:rPr sz="1875" b="0" dirty="0" err="1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按父候选保存前缀快照</a:t>
                      </a:r>
                      <a:endParaRPr sz="1875" b="0" dirty="0">
                        <a:solidFill>
                          <a:srgbClr val="14213A"/>
                        </a:solidFill>
                        <a:latin typeface="黑体"/>
                        <a:ea typeface="黑体"/>
                        <a:cs typeface="黑体"/>
                      </a:endParaRPr>
                    </a:p>
                  </a:txBody>
                  <a:tcPr marL="11430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 dirty="0" err="1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模拟器克隆</a:t>
                      </a:r>
                      <a:endParaRPr sz="1875" b="0" dirty="0">
                        <a:solidFill>
                          <a:srgbClr val="14213A"/>
                        </a:solidFill>
                        <a:latin typeface="黑体"/>
                        <a:ea typeface="黑体"/>
                        <a:cs typeface="黑体"/>
                      </a:endParaRPr>
                    </a:p>
                    <a:p>
                      <a:r>
                        <a:rPr sz="1875" b="0" dirty="0" err="1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缓存与分支搜索思想</a:t>
                      </a:r>
                      <a:endParaRPr sz="1875" b="0" dirty="0">
                        <a:solidFill>
                          <a:srgbClr val="14213A"/>
                        </a:solidFill>
                        <a:latin typeface="黑体"/>
                        <a:ea typeface="黑体"/>
                        <a:cs typeface="黑体"/>
                      </a:endParaRPr>
                    </a:p>
                  </a:txBody>
                  <a:tcPr marL="114300" marR="9525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EF56AD61-F1BF-4F5A-A3BF-0ABD595458EC}"/>
              </a:ext>
            </a:extLst>
          </p:cNvPr>
          <p:cNvSpPr>
            <a:spLocks noGrp="1"/>
          </p:cNvSpPr>
          <p:nvPr/>
        </p:nvSpPr>
        <p:spPr>
          <a:xfrm>
            <a:off x="619125" y="5629275"/>
            <a:ext cx="10858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254FEB"/>
                </a:solidFill>
                <a:latin typeface="黑体"/>
                <a:ea typeface="黑体"/>
                <a:cs typeface="黑体"/>
              </a:defRPr>
            </a:pPr>
            <a:r>
              <a:rPr sz="1875" b="1" dirty="0" err="1">
                <a:solidFill>
                  <a:srgbClr val="254FEB"/>
                </a:solidFill>
                <a:latin typeface="黑体"/>
                <a:ea typeface="黑体"/>
                <a:cs typeface="黑体"/>
              </a:rPr>
              <a:t>算法与来源分别标注，实验配置、源码和权重可按哈希追溯</a:t>
            </a:r>
            <a:endParaRPr sz="1875" b="1" dirty="0">
              <a:solidFill>
                <a:srgbClr val="254FEB"/>
              </a:solidFill>
              <a:latin typeface="黑体"/>
              <a:ea typeface="黑体"/>
              <a:cs typeface="黑体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28923" y="522637"/>
            <a:ext cx="7624477" cy="491490"/>
          </a:xfrm>
          <a:prstGeom prst="rect">
            <a:avLst/>
          </a:prstGeom>
          <a:noFill/>
          <a:ln>
            <a:noFill/>
          </a:ln>
        </p:spPr>
        <p:txBody>
          <a:bodyPr wrap="none" lIns="91440" tIns="80586" rIns="0" bIns="0" anchor="t" anchorCtr="0">
            <a:noAutofit/>
          </a:bodyPr>
          <a:lstStyle/>
          <a:p>
            <a:pPr algn="l"/>
            <a:r>
              <a:rPr lang="zh-CN" sz="2600" b="1" dirty="0">
                <a:solidFill>
                  <a:srgbClr val="254FEB"/>
                </a:solidFill>
                <a:latin typeface="黑体"/>
                <a:ea typeface="Microsoft YaHei"/>
                <a:cs typeface="黑体"/>
              </a:rPr>
              <a:t>1.5 应用场景与问题范围</a:t>
            </a:r>
          </a:p>
        </p:txBody>
      </p:sp>
      <p:grpSp>
        <p:nvGrpSpPr>
          <p:cNvPr id="5" name="applications-text-0"/>
          <p:cNvGrpSpPr/>
          <p:nvPr/>
        </p:nvGrpSpPr>
        <p:grpSpPr>
          <a:xfrm>
            <a:off x="607314" y="1501616"/>
            <a:ext cx="6582308" cy="454724"/>
            <a:chOff x="607314" y="1501616"/>
            <a:chExt cx="6582308" cy="454724"/>
          </a:xfrm>
        </p:grpSpPr>
        <p:sp>
          <p:nvSpPr>
            <p:cNvPr id="4" name="TextBox 4"/>
            <p:cNvSpPr txBox="1"/>
            <p:nvPr/>
          </p:nvSpPr>
          <p:spPr>
            <a:xfrm>
              <a:off x="607314" y="1501616"/>
              <a:ext cx="6582308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320" b="1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离线规划完整工作流，比较任务放置与节点分配</a:t>
              </a:r>
            </a:p>
          </p:txBody>
        </p:sp>
      </p:grpSp>
      <p:grpSp>
        <p:nvGrpSpPr>
          <p:cNvPr id="7" name="applications-text-1"/>
          <p:cNvGrpSpPr/>
          <p:nvPr/>
        </p:nvGrpSpPr>
        <p:grpSpPr>
          <a:xfrm>
            <a:off x="607695" y="2262188"/>
            <a:ext cx="1840230" cy="440055"/>
            <a:chOff x="607695" y="2262188"/>
            <a:chExt cx="1840230" cy="440055"/>
          </a:xfrm>
        </p:grpSpPr>
        <p:sp>
          <p:nvSpPr>
            <p:cNvPr id="6" name="TextBox 6"/>
            <p:cNvSpPr txBox="1"/>
            <p:nvPr/>
          </p:nvSpPr>
          <p:spPr>
            <a:xfrm>
              <a:off x="607695" y="2262188"/>
              <a:ext cx="184023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54FEB"/>
                  </a:solidFill>
                  <a:latin typeface="Arial"/>
                  <a:ea typeface="Microsoft YaHei"/>
                  <a:cs typeface="Arial"/>
                </a:rPr>
                <a:t>当前项目支持</a:t>
              </a:r>
            </a:p>
          </p:txBody>
        </p:sp>
      </p:grpSp>
      <p:grpSp>
        <p:nvGrpSpPr>
          <p:cNvPr id="9" name="applications-text-2"/>
          <p:cNvGrpSpPr/>
          <p:nvPr/>
        </p:nvGrpSpPr>
        <p:grpSpPr>
          <a:xfrm>
            <a:off x="609219" y="2789872"/>
            <a:ext cx="4635556" cy="381381"/>
            <a:chOff x="609219" y="2789872"/>
            <a:chExt cx="4635556" cy="381381"/>
          </a:xfrm>
        </p:grpSpPr>
        <p:sp>
          <p:nvSpPr>
            <p:cNvPr id="8" name="TextBox 8"/>
            <p:cNvSpPr txBox="1"/>
            <p:nvPr/>
          </p:nvSpPr>
          <p:spPr>
            <a:xfrm>
              <a:off x="609219" y="2789872"/>
              <a:ext cx="463555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输入：任务 DAG、执行代价与通信配置</a:t>
              </a:r>
            </a:p>
          </p:txBody>
        </p:sp>
      </p:grpSp>
      <p:grpSp>
        <p:nvGrpSpPr>
          <p:cNvPr id="11" name="applications-text-3"/>
          <p:cNvGrpSpPr/>
          <p:nvPr/>
        </p:nvGrpSpPr>
        <p:grpSpPr>
          <a:xfrm>
            <a:off x="609219" y="3189922"/>
            <a:ext cx="4219956" cy="381381"/>
            <a:chOff x="609219" y="3189922"/>
            <a:chExt cx="4219956" cy="381381"/>
          </a:xfrm>
        </p:grpSpPr>
        <p:sp>
          <p:nvSpPr>
            <p:cNvPr id="10" name="TextBox 10"/>
            <p:cNvSpPr txBox="1"/>
            <p:nvPr/>
          </p:nvSpPr>
          <p:spPr>
            <a:xfrm>
              <a:off x="609219" y="3189922"/>
              <a:ext cx="421995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约束：前驱数据到达、节点可用区间</a:t>
              </a:r>
            </a:p>
          </p:txBody>
        </p:sp>
      </p:grpSp>
      <p:grpSp>
        <p:nvGrpSpPr>
          <p:cNvPr id="13" name="applications-text-4"/>
          <p:cNvGrpSpPr/>
          <p:nvPr/>
        </p:nvGrpSpPr>
        <p:grpSpPr>
          <a:xfrm>
            <a:off x="609219" y="3589972"/>
            <a:ext cx="5080408" cy="381381"/>
            <a:chOff x="609219" y="3589972"/>
            <a:chExt cx="5080408" cy="381381"/>
          </a:xfrm>
        </p:grpSpPr>
        <p:sp>
          <p:nvSpPr>
            <p:cNvPr id="12" name="TextBox 12"/>
            <p:cNvSpPr txBox="1"/>
            <p:nvPr/>
          </p:nvSpPr>
          <p:spPr>
            <a:xfrm>
              <a:off x="609219" y="3589972"/>
              <a:ext cx="508040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输出：节点分配、开始/结束时间及校验结果</a:t>
              </a:r>
            </a:p>
          </p:txBody>
        </p:sp>
      </p:grpSp>
      <p:grpSp>
        <p:nvGrpSpPr>
          <p:cNvPr id="15" name="applications-text-5"/>
          <p:cNvGrpSpPr/>
          <p:nvPr/>
        </p:nvGrpSpPr>
        <p:grpSpPr>
          <a:xfrm>
            <a:off x="608457" y="4259580"/>
            <a:ext cx="3979164" cy="410718"/>
            <a:chOff x="608457" y="4259580"/>
            <a:chExt cx="3979164" cy="410718"/>
          </a:xfrm>
        </p:grpSpPr>
        <p:sp>
          <p:nvSpPr>
            <p:cNvPr id="14" name="TextBox 14"/>
            <p:cNvSpPr txBox="1"/>
            <p:nvPr/>
          </p:nvSpPr>
          <p:spPr>
            <a:xfrm>
              <a:off x="608457" y="4259580"/>
              <a:ext cx="39791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54FEB"/>
                  </a:solidFill>
                  <a:latin typeface="Arial"/>
                  <a:ea typeface="Microsoft YaHei"/>
                  <a:cs typeface="Arial"/>
                </a:rPr>
                <a:t>适合在执行前比较多个调度方案</a:t>
              </a:r>
            </a:p>
          </p:txBody>
        </p:sp>
      </p:grpSp>
      <p:grpSp>
        <p:nvGrpSpPr>
          <p:cNvPr id="17" name="applications-text-6"/>
          <p:cNvGrpSpPr/>
          <p:nvPr/>
        </p:nvGrpSpPr>
        <p:grpSpPr>
          <a:xfrm>
            <a:off x="609219" y="4704398"/>
            <a:ext cx="4744974" cy="381381"/>
            <a:chOff x="609219" y="4704398"/>
            <a:chExt cx="4744974" cy="381381"/>
          </a:xfrm>
        </p:grpSpPr>
        <p:sp>
          <p:nvSpPr>
            <p:cNvPr id="16" name="TextBox 16"/>
            <p:cNvSpPr txBox="1"/>
            <p:nvPr/>
          </p:nvSpPr>
          <p:spPr>
            <a:xfrm>
              <a:off x="609219" y="4704398"/>
              <a:ext cx="474497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同一场景复用约束与评分，定位等待来源</a:t>
              </a:r>
            </a:p>
          </p:txBody>
        </p:sp>
      </p:grpSp>
      <p:grpSp>
        <p:nvGrpSpPr>
          <p:cNvPr id="19" name="applications-text-7"/>
          <p:cNvGrpSpPr/>
          <p:nvPr/>
        </p:nvGrpSpPr>
        <p:grpSpPr>
          <a:xfrm>
            <a:off x="609219" y="5104448"/>
            <a:ext cx="4588784" cy="381381"/>
            <a:chOff x="609219" y="5104448"/>
            <a:chExt cx="4588784" cy="381381"/>
          </a:xfrm>
        </p:grpSpPr>
        <p:sp>
          <p:nvSpPr>
            <p:cNvPr id="18" name="TextBox 18"/>
            <p:cNvSpPr txBox="1"/>
            <p:nvPr/>
          </p:nvSpPr>
          <p:spPr>
            <a:xfrm>
              <a:off x="609219" y="5104448"/>
              <a:ext cx="45887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保留 JSON 与来源记录，支持结果复核</a:t>
              </a:r>
            </a:p>
          </p:txBody>
        </p:sp>
      </p:grpSp>
      <p:grpSp>
        <p:nvGrpSpPr>
          <p:cNvPr id="21" name="applications-text-8"/>
          <p:cNvGrpSpPr/>
          <p:nvPr/>
        </p:nvGrpSpPr>
        <p:grpSpPr>
          <a:xfrm>
            <a:off x="6179820" y="2262188"/>
            <a:ext cx="1840230" cy="440055"/>
            <a:chOff x="6179820" y="2262188"/>
            <a:chExt cx="1840230" cy="440055"/>
          </a:xfrm>
        </p:grpSpPr>
        <p:sp>
          <p:nvSpPr>
            <p:cNvPr id="20" name="TextBox 20"/>
            <p:cNvSpPr txBox="1"/>
            <p:nvPr/>
          </p:nvSpPr>
          <p:spPr>
            <a:xfrm>
              <a:off x="6179820" y="2262188"/>
              <a:ext cx="184023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54FEB"/>
                  </a:solidFill>
                  <a:latin typeface="Arial"/>
                  <a:ea typeface="Microsoft YaHei"/>
                  <a:cs typeface="Arial"/>
                </a:rPr>
                <a:t>潜在应用示例</a:t>
              </a:r>
            </a:p>
          </p:txBody>
        </p:sp>
      </p:grpSp>
      <p:grpSp>
        <p:nvGrpSpPr>
          <p:cNvPr id="23" name="applications-text-9"/>
          <p:cNvGrpSpPr/>
          <p:nvPr/>
        </p:nvGrpSpPr>
        <p:grpSpPr>
          <a:xfrm>
            <a:off x="6181344" y="2789872"/>
            <a:ext cx="4482465" cy="381381"/>
            <a:chOff x="6181344" y="2789872"/>
            <a:chExt cx="4482465" cy="381381"/>
          </a:xfrm>
        </p:grpSpPr>
        <p:sp>
          <p:nvSpPr>
            <p:cNvPr id="22" name="TextBox 22"/>
            <p:cNvSpPr txBox="1"/>
            <p:nvPr/>
          </p:nvSpPr>
          <p:spPr>
            <a:xfrm>
              <a:off x="6181344" y="2789872"/>
              <a:ext cx="448246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视频处理：解码、特征提取与结果汇总</a:t>
              </a:r>
            </a:p>
          </p:txBody>
        </p:sp>
      </p:grpSp>
      <p:grpSp>
        <p:nvGrpSpPr>
          <p:cNvPr id="25" name="applications-text-10"/>
          <p:cNvGrpSpPr/>
          <p:nvPr/>
        </p:nvGrpSpPr>
        <p:grpSpPr>
          <a:xfrm>
            <a:off x="6181344" y="3189922"/>
            <a:ext cx="4219956" cy="381381"/>
            <a:chOff x="6181344" y="3189922"/>
            <a:chExt cx="4219956" cy="381381"/>
          </a:xfrm>
        </p:grpSpPr>
        <p:sp>
          <p:nvSpPr>
            <p:cNvPr id="24" name="TextBox 24"/>
            <p:cNvSpPr txBox="1"/>
            <p:nvPr/>
          </p:nvSpPr>
          <p:spPr>
            <a:xfrm>
              <a:off x="6181344" y="3189922"/>
              <a:ext cx="421995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数据分析：预处理、并行计算与聚合</a:t>
              </a:r>
            </a:p>
          </p:txBody>
        </p:sp>
      </p:grpSp>
      <p:grpSp>
        <p:nvGrpSpPr>
          <p:cNvPr id="27" name="applications-text-11"/>
          <p:cNvGrpSpPr/>
          <p:nvPr/>
        </p:nvGrpSpPr>
        <p:grpSpPr>
          <a:xfrm>
            <a:off x="6181344" y="3589972"/>
            <a:ext cx="4635556" cy="381381"/>
            <a:chOff x="6181344" y="3589972"/>
            <a:chExt cx="4635556" cy="381381"/>
          </a:xfrm>
        </p:grpSpPr>
        <p:sp>
          <p:nvSpPr>
            <p:cNvPr id="26" name="TextBox 26"/>
            <p:cNvSpPr txBox="1"/>
            <p:nvPr/>
          </p:nvSpPr>
          <p:spPr>
            <a:xfrm>
              <a:off x="6181344" y="3589972"/>
              <a:ext cx="463555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以上流程可抽象为存在前后依赖的 DAG</a:t>
              </a:r>
            </a:p>
          </p:txBody>
        </p:sp>
      </p:grpSp>
      <p:grpSp>
        <p:nvGrpSpPr>
          <p:cNvPr id="29" name="applications-text-12"/>
          <p:cNvGrpSpPr/>
          <p:nvPr/>
        </p:nvGrpSpPr>
        <p:grpSpPr>
          <a:xfrm>
            <a:off x="6180582" y="4259580"/>
            <a:ext cx="2000250" cy="410718"/>
            <a:chOff x="6180582" y="4259580"/>
            <a:chExt cx="2000250" cy="410718"/>
          </a:xfrm>
        </p:grpSpPr>
        <p:sp>
          <p:nvSpPr>
            <p:cNvPr id="28" name="TextBox 28"/>
            <p:cNvSpPr txBox="1"/>
            <p:nvPr/>
          </p:nvSpPr>
          <p:spPr>
            <a:xfrm>
              <a:off x="6180582" y="4259580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54FEB"/>
                  </a:solidFill>
                  <a:latin typeface="Arial"/>
                  <a:ea typeface="Microsoft YaHei"/>
                  <a:cs typeface="Arial"/>
                </a:rPr>
                <a:t>现阶段实施范围</a:t>
              </a:r>
            </a:p>
          </p:txBody>
        </p:sp>
      </p:grpSp>
      <p:grpSp>
        <p:nvGrpSpPr>
          <p:cNvPr id="31" name="applications-text-13"/>
          <p:cNvGrpSpPr/>
          <p:nvPr/>
        </p:nvGrpSpPr>
        <p:grpSpPr>
          <a:xfrm>
            <a:off x="6181344" y="4704398"/>
            <a:ext cx="3169920" cy="381381"/>
            <a:chOff x="6181344" y="4704398"/>
            <a:chExt cx="3169920" cy="381381"/>
          </a:xfrm>
        </p:grpSpPr>
        <p:sp>
          <p:nvSpPr>
            <p:cNvPr id="30" name="TextBox 30"/>
            <p:cNvSpPr txBox="1"/>
            <p:nvPr/>
          </p:nvSpPr>
          <p:spPr>
            <a:xfrm>
              <a:off x="6181344" y="4704398"/>
              <a:ext cx="31699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已实现离线仿真与调度回放</a:t>
              </a:r>
            </a:p>
          </p:txBody>
        </p:sp>
      </p:grpSp>
      <p:grpSp>
        <p:nvGrpSpPr>
          <p:cNvPr id="33" name="applications-text-14"/>
          <p:cNvGrpSpPr/>
          <p:nvPr/>
        </p:nvGrpSpPr>
        <p:grpSpPr>
          <a:xfrm>
            <a:off x="6181344" y="5104448"/>
            <a:ext cx="4482465" cy="381381"/>
            <a:chOff x="6181344" y="5104448"/>
            <a:chExt cx="4482465" cy="381381"/>
          </a:xfrm>
        </p:grpSpPr>
        <p:sp>
          <p:nvSpPr>
            <p:cNvPr id="32" name="TextBox 32"/>
            <p:cNvSpPr txBox="1"/>
            <p:nvPr/>
          </p:nvSpPr>
          <p:spPr>
            <a:xfrm>
              <a:off x="6181344" y="5104448"/>
              <a:ext cx="448246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真实多机执行和动态任务到达留待验证</a:t>
              </a:r>
            </a:p>
          </p:txBody>
        </p:sp>
      </p:grpSp>
      <p:grpSp>
        <p:nvGrpSpPr>
          <p:cNvPr id="35" name="applications-text-15"/>
          <p:cNvGrpSpPr/>
          <p:nvPr/>
        </p:nvGrpSpPr>
        <p:grpSpPr>
          <a:xfrm>
            <a:off x="611505" y="6134100"/>
            <a:ext cx="5846314" cy="293370"/>
            <a:chOff x="611505" y="6134100"/>
            <a:chExt cx="5846314" cy="293370"/>
          </a:xfrm>
        </p:grpSpPr>
        <p:sp>
          <p:nvSpPr>
            <p:cNvPr id="34" name="TextBox 34"/>
            <p:cNvSpPr txBox="1"/>
            <p:nvPr/>
          </p:nvSpPr>
          <p:spPr>
            <a:xfrm>
              <a:off x="611505" y="6134100"/>
              <a:ext cx="58463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3657D"/>
                  </a:solidFill>
                  <a:latin typeface="Arial"/>
                  <a:ea typeface="Microsoft YaHei"/>
                  <a:cs typeface="Arial"/>
                </a:rPr>
                <a:t>应用示例用于说明任务建模方式；当前实验均基于离线 DAG 仿真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/>
              <a:t>项目亮点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DB265B19-6AE9-4DD2-8E52-242BE57DABD8}"/>
              </a:ext>
            </a:extLst>
          </p:cNvPr>
          <p:cNvSpPr>
            <a:spLocks noGrp="1"/>
          </p:cNvSpPr>
          <p:nvPr/>
        </p:nvSpPr>
        <p:spPr>
          <a:xfrm>
            <a:off x="523875" y="533400"/>
            <a:ext cx="109537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00" b="1">
                <a:solidFill>
                  <a:srgbClr val="254FEB"/>
                </a:solidFill>
                <a:latin typeface="黑体"/>
                <a:ea typeface="黑体"/>
                <a:cs typeface="黑体"/>
              </a:defRPr>
            </a:pPr>
            <a:r>
              <a:rPr sz="2600" b="1">
                <a:solidFill>
                  <a:srgbClr val="254FEB"/>
                </a:solidFill>
                <a:latin typeface="黑体"/>
                <a:ea typeface="黑体"/>
                <a:cs typeface="黑体"/>
              </a:rPr>
              <a:t>2.1 分层模型整体架构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B7E3D46-BE84-4F44-A2A6-3C8E9C343EB7}"/>
              </a:ext>
            </a:extLst>
          </p:cNvPr>
          <p:cNvSpPr>
            <a:spLocks noGrp="1"/>
          </p:cNvSpPr>
          <p:nvPr/>
        </p:nvSpPr>
        <p:spPr>
          <a:xfrm>
            <a:off x="619125" y="1438275"/>
            <a:ext cx="1095375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250" b="1">
                <a:solidFill>
                  <a:srgbClr val="14213A"/>
                </a:solidFill>
                <a:latin typeface="黑体"/>
                <a:ea typeface="黑体"/>
                <a:cs typeface="黑体"/>
              </a:defRPr>
            </a:pPr>
            <a:r>
              <a:rPr sz="2250" b="1" dirty="0" err="1">
                <a:solidFill>
                  <a:srgbClr val="14213A"/>
                </a:solidFill>
                <a:latin typeface="黑体"/>
                <a:ea typeface="黑体"/>
                <a:cs typeface="黑体"/>
              </a:rPr>
              <a:t>任务选择确定低层条件，资源分配通过模拟器反馈下一状态</a:t>
            </a:r>
            <a:endParaRPr sz="2250" b="1" dirty="0">
              <a:solidFill>
                <a:srgbClr val="14213A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4699237-9D43-41F6-A374-2A7254E6ED89}"/>
              </a:ext>
            </a:extLst>
          </p:cNvPr>
          <p:cNvSpPr>
            <a:spLocks noGrp="1"/>
          </p:cNvSpPr>
          <p:nvPr/>
        </p:nvSpPr>
        <p:spPr>
          <a:xfrm>
            <a:off x="619125" y="6257925"/>
            <a:ext cx="10953750" cy="371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0">
                <a:solidFill>
                  <a:srgbClr val="53657D"/>
                </a:solidFill>
                <a:latin typeface="黑体"/>
                <a:ea typeface="黑体"/>
                <a:cs typeface="黑体"/>
              </a:defRPr>
            </a:pPr>
            <a:r>
              <a:rPr sz="1275" b="0" dirty="0" err="1">
                <a:solidFill>
                  <a:srgbClr val="53657D"/>
                </a:solidFill>
                <a:latin typeface="黑体"/>
                <a:ea typeface="黑体"/>
                <a:cs typeface="黑体"/>
              </a:rPr>
              <a:t>说明书第</a:t>
            </a:r>
            <a:r>
              <a:rPr sz="1275" b="0" dirty="0">
                <a:solidFill>
                  <a:srgbClr val="53657D"/>
                </a:solidFill>
                <a:latin typeface="黑体"/>
                <a:ea typeface="黑体"/>
                <a:cs typeface="黑体"/>
              </a:rPr>
              <a:t> 2.2.1 节；high_lstm.py、low_gat.py、dag_env.py、hierarchical_trainer.py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2E71C86-0AC9-4E58-9E93-0FC8893D2373}"/>
              </a:ext>
            </a:extLst>
          </p:cNvPr>
          <p:cNvSpPr>
            <a:spLocks noGrp="1"/>
          </p:cNvSpPr>
          <p:nvPr/>
        </p:nvSpPr>
        <p:spPr>
          <a:xfrm>
            <a:off x="619125" y="5562600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950" b="1">
                <a:solidFill>
                  <a:srgbClr val="254FEB"/>
                </a:solidFill>
                <a:latin typeface="黑体"/>
                <a:ea typeface="黑体"/>
                <a:cs typeface="黑体"/>
              </a:defRPr>
            </a:pPr>
            <a:r>
              <a:rPr sz="1950" b="1" dirty="0" err="1">
                <a:solidFill>
                  <a:srgbClr val="254FEB"/>
                </a:solidFill>
                <a:latin typeface="黑体"/>
                <a:ea typeface="黑体"/>
                <a:cs typeface="黑体"/>
              </a:rPr>
              <a:t>先选任务</a:t>
            </a:r>
            <a:r>
              <a:rPr sz="1950" b="1" dirty="0">
                <a:solidFill>
                  <a:srgbClr val="254FEB"/>
                </a:solidFill>
                <a:latin typeface="黑体"/>
                <a:ea typeface="黑体"/>
                <a:cs typeface="黑体"/>
              </a:rPr>
              <a:t> </a:t>
            </a:r>
            <a:r>
              <a:rPr sz="1950" b="1" dirty="0" err="1">
                <a:solidFill>
                  <a:srgbClr val="254FEB"/>
                </a:solidFill>
                <a:latin typeface="黑体"/>
                <a:ea typeface="黑体"/>
                <a:cs typeface="黑体"/>
              </a:rPr>
              <a:t>i，再生成低层节点特征中的执行、通信、EST</a:t>
            </a:r>
            <a:r>
              <a:rPr sz="1950" b="1" dirty="0">
                <a:solidFill>
                  <a:srgbClr val="254FEB"/>
                </a:solidFill>
                <a:latin typeface="黑体"/>
                <a:ea typeface="黑体"/>
                <a:cs typeface="黑体"/>
              </a:rPr>
              <a:t> / EFT </a:t>
            </a:r>
            <a:r>
              <a:rPr sz="1950" b="1" dirty="0" err="1">
                <a:solidFill>
                  <a:srgbClr val="254FEB"/>
                </a:solidFill>
                <a:latin typeface="黑体"/>
                <a:ea typeface="黑体"/>
                <a:cs typeface="黑体"/>
              </a:rPr>
              <a:t>信息</a:t>
            </a:r>
            <a:endParaRPr sz="1950" b="1" dirty="0">
              <a:solidFill>
                <a:srgbClr val="254FEB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12C6658-0EEE-43BC-BBBD-41D9A9FF4285}"/>
              </a:ext>
            </a:extLst>
          </p:cNvPr>
          <p:cNvSpPr>
            <a:spLocks noGrp="1"/>
          </p:cNvSpPr>
          <p:nvPr/>
        </p:nvSpPr>
        <p:spPr>
          <a:xfrm>
            <a:off x="619125" y="5962650"/>
            <a:ext cx="109537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00899B"/>
                </a:solidFill>
                <a:latin typeface="黑体"/>
                <a:ea typeface="黑体"/>
                <a:cs typeface="黑体"/>
              </a:defRPr>
            </a:pPr>
            <a:r>
              <a:rPr sz="1800" b="0" dirty="0" err="1">
                <a:solidFill>
                  <a:srgbClr val="00899B"/>
                </a:solidFill>
                <a:latin typeface="黑体"/>
                <a:ea typeface="黑体"/>
                <a:cs typeface="黑体"/>
              </a:rPr>
              <a:t>模拟器反馈新观测与奖励，两层独立收集轨迹并按训练阶段更新</a:t>
            </a:r>
            <a:endParaRPr sz="1800" b="0" dirty="0">
              <a:solidFill>
                <a:srgbClr val="00899B"/>
              </a:solidFill>
              <a:latin typeface="黑体"/>
              <a:ea typeface="黑体"/>
              <a:cs typeface="黑体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66813" y="2105025"/>
            <a:ext cx="9858375" cy="32861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BB812F2A-6130-4EFA-A683-7DBE315CD588}"/>
              </a:ext>
            </a:extLst>
          </p:cNvPr>
          <p:cNvSpPr>
            <a:spLocks noGrp="1"/>
          </p:cNvSpPr>
          <p:nvPr/>
        </p:nvSpPr>
        <p:spPr>
          <a:xfrm>
            <a:off x="523875" y="533400"/>
            <a:ext cx="109537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00" b="1">
                <a:solidFill>
                  <a:srgbClr val="254FEB"/>
                </a:solidFill>
                <a:latin typeface="黑体"/>
                <a:ea typeface="黑体"/>
                <a:cs typeface="黑体"/>
              </a:defRPr>
            </a:pPr>
            <a:r>
              <a:rPr sz="2600" b="1">
                <a:solidFill>
                  <a:srgbClr val="254FEB"/>
                </a:solidFill>
                <a:latin typeface="黑体"/>
                <a:ea typeface="黑体"/>
                <a:cs typeface="黑体"/>
              </a:rPr>
              <a:t>2.1.1 模型输入与合法动作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F4A4F57-F26A-4D1E-BB5C-5FCBC54FD90D}"/>
              </a:ext>
            </a:extLst>
          </p:cNvPr>
          <p:cNvSpPr>
            <a:spLocks noGrp="1"/>
          </p:cNvSpPr>
          <p:nvPr/>
        </p:nvSpPr>
        <p:spPr>
          <a:xfrm>
            <a:off x="619125" y="1438275"/>
            <a:ext cx="1095375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250" b="1">
                <a:solidFill>
                  <a:srgbClr val="14213A"/>
                </a:solidFill>
                <a:latin typeface="黑体"/>
                <a:ea typeface="黑体"/>
                <a:cs typeface="黑体"/>
              </a:defRPr>
            </a:pPr>
            <a:r>
              <a:rPr sz="2250" b="1" dirty="0" err="1">
                <a:solidFill>
                  <a:srgbClr val="14213A"/>
                </a:solidFill>
                <a:latin typeface="黑体"/>
                <a:ea typeface="黑体"/>
                <a:cs typeface="黑体"/>
              </a:rPr>
              <a:t>同一调度状态生成两套观测，低层观测依赖高层选中的任务</a:t>
            </a:r>
            <a:endParaRPr sz="2250" b="1" dirty="0">
              <a:solidFill>
                <a:srgbClr val="14213A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A7E80D6-C44C-4BB7-880E-3B5CB7742716}"/>
              </a:ext>
            </a:extLst>
          </p:cNvPr>
          <p:cNvSpPr>
            <a:spLocks noGrp="1"/>
          </p:cNvSpPr>
          <p:nvPr/>
        </p:nvSpPr>
        <p:spPr>
          <a:xfrm>
            <a:off x="619125" y="6257925"/>
            <a:ext cx="10953750" cy="371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0">
                <a:solidFill>
                  <a:srgbClr val="53657D"/>
                </a:solidFill>
                <a:latin typeface="黑体"/>
                <a:ea typeface="黑体"/>
                <a:cs typeface="黑体"/>
              </a:defRPr>
            </a:pPr>
            <a:r>
              <a:rPr sz="1275" b="0">
                <a:solidFill>
                  <a:srgbClr val="53657D"/>
                </a:solidFill>
                <a:latin typeface="黑体"/>
                <a:ea typeface="黑体"/>
                <a:cs typeface="黑体"/>
              </a:rPr>
              <a:t>dag_env.py：get_high_observation、get_low_observation；N 为任务数，M 为节点数</a:t>
            </a:r>
          </a:p>
        </p:txBody>
      </p:sp>
      <p:graphicFrame>
        <p:nvGraphicFramePr>
          <p:cNvPr id="10" name="表格 9"/>
          <p:cNvGraphicFramePr/>
          <p:nvPr/>
        </p:nvGraphicFramePr>
        <p:xfrm>
          <a:off x="619125" y="2105025"/>
          <a:ext cx="10953750" cy="3449955"/>
        </p:xfrm>
        <a:graphic>
          <a:graphicData uri="http://schemas.openxmlformats.org/drawingml/2006/table">
            <a:tbl>
              <a:tblPr/>
              <a:tblGrid>
                <a:gridCol w="271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3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579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输入</a:t>
                      </a:r>
                    </a:p>
                  </a:txBody>
                  <a:tcPr marL="114300" marR="95250" marT="76200" marB="76200" anchor="ctr">
                    <a:solidFill>
                      <a:srgbClr val="254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形状</a:t>
                      </a:r>
                    </a:p>
                  </a:txBody>
                  <a:tcPr marL="114300" marR="95250" marT="76200" marB="76200" anchor="ctr">
                    <a:solidFill>
                      <a:srgbClr val="254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特征或用途</a:t>
                      </a:r>
                    </a:p>
                  </a:txBody>
                  <a:tcPr marL="114300" marR="95250" marT="76200" marB="76200" anchor="ctr">
                    <a:solidFill>
                      <a:srgbClr val="254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579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高层任务特征</a:t>
                      </a:r>
                    </a:p>
                  </a:txBody>
                  <a:tcPr marL="11430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N × 17</a:t>
                      </a:r>
                    </a:p>
                  </a:txBody>
                  <a:tcPr marL="11430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工作量、依赖与拓扑、前驱放置状态</a:t>
                      </a:r>
                    </a:p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执行统计、入出数据量、HEFT rank、放置进度</a:t>
                      </a:r>
                    </a:p>
                  </a:txBody>
                  <a:tcPr marL="114300" marR="9525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579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高层资源特征</a:t>
                      </a:r>
                    </a:p>
                  </a:txBody>
                  <a:tcPr marL="114300" marR="95250" marT="76200" marB="76200" anchor="ctr">
                    <a:solidFill>
                      <a:srgbClr val="E7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M × 5</a:t>
                      </a:r>
                    </a:p>
                  </a:txBody>
                  <a:tcPr marL="114300" marR="95250" marT="76200" marB="76200" anchor="ctr">
                    <a:solidFill>
                      <a:srgbClr val="E7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速度、可用时刻、已分配数、CPU / 内存容量</a:t>
                      </a:r>
                    </a:p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资源均值进入高层 critic</a:t>
                      </a:r>
                    </a:p>
                  </a:txBody>
                  <a:tcPr marL="114300" marR="95250" marT="76200" marB="76200" anchor="ctr">
                    <a:solidFill>
                      <a:srgbClr val="E7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579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低层节点特征</a:t>
                      </a:r>
                    </a:p>
                  </a:txBody>
                  <a:tcPr marL="11430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M × 8</a:t>
                      </a:r>
                    </a:p>
                  </a:txBody>
                  <a:tcPr marL="11430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速度、执行与通信时间、数据就绪</a:t>
                      </a:r>
                    </a:p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EST / EFT、可用时刻、已分配数</a:t>
                      </a:r>
                    </a:p>
                  </a:txBody>
                  <a:tcPr marL="114300" marR="9525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579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所选任务与资源图</a:t>
                      </a:r>
                    </a:p>
                  </a:txBody>
                  <a:tcPr marL="114300" marR="95250" marT="76200" marB="76200" anchor="ctr">
                    <a:solidFill>
                      <a:srgbClr val="E7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17；M × M × 2</a:t>
                      </a:r>
                    </a:p>
                  </a:txBody>
                  <a:tcPr marL="114300" marR="95250" marT="76200" marB="76200" anchor="ctr">
                    <a:solidFill>
                      <a:srgbClr val="E7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 err="1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所选任务</a:t>
                      </a:r>
                      <a:r>
                        <a:rPr sz="1800" b="0" dirty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i</a:t>
                      </a:r>
                      <a:r>
                        <a:rPr sz="1800" b="0" dirty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的特征；资源边的带宽和时延</a:t>
                      </a:r>
                      <a:endParaRPr sz="1800" b="0" dirty="0">
                        <a:solidFill>
                          <a:srgbClr val="14213A"/>
                        </a:solidFill>
                        <a:latin typeface="黑体"/>
                        <a:ea typeface="黑体"/>
                        <a:cs typeface="黑体"/>
                      </a:endParaRPr>
                    </a:p>
                    <a:p>
                      <a:r>
                        <a:rPr sz="1800" b="0" dirty="0" err="1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邻接矩阵由正且有限的带宽构造</a:t>
                      </a:r>
                      <a:endParaRPr sz="1800" b="0" dirty="0">
                        <a:solidFill>
                          <a:srgbClr val="14213A"/>
                        </a:solidFill>
                        <a:latin typeface="黑体"/>
                        <a:ea typeface="黑体"/>
                        <a:cs typeface="黑体"/>
                      </a:endParaRPr>
                    </a:p>
                  </a:txBody>
                  <a:tcPr marL="114300" marR="95250" marT="76200" marB="76200" anchor="ctr">
                    <a:solidFill>
                      <a:srgbClr val="E7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BFFFFAB3-81CF-419F-AE06-08847D905342}"/>
              </a:ext>
            </a:extLst>
          </p:cNvPr>
          <p:cNvSpPr>
            <a:spLocks noGrp="1"/>
          </p:cNvSpPr>
          <p:nvPr/>
        </p:nvSpPr>
        <p:spPr>
          <a:xfrm>
            <a:off x="619125" y="5486400"/>
            <a:ext cx="10953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254FEB"/>
                </a:solidFill>
                <a:latin typeface="黑体"/>
                <a:ea typeface="黑体"/>
                <a:cs typeface="黑体"/>
              </a:defRPr>
            </a:pPr>
            <a:r>
              <a:rPr sz="1875" b="1" dirty="0" err="1">
                <a:solidFill>
                  <a:srgbClr val="254FEB"/>
                </a:solidFill>
                <a:latin typeface="黑体"/>
                <a:ea typeface="黑体"/>
                <a:cs typeface="黑体"/>
              </a:rPr>
              <a:t>ready_mask：前驱已放置的未调度任务；node_mask：设备与容量可行节点</a:t>
            </a:r>
            <a:endParaRPr sz="1875" b="1" dirty="0">
              <a:solidFill>
                <a:srgbClr val="254FEB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0FDA4E8-5580-42FB-93E5-F2CBA7E366BD}"/>
              </a:ext>
            </a:extLst>
          </p:cNvPr>
          <p:cNvSpPr>
            <a:spLocks noGrp="1"/>
          </p:cNvSpPr>
          <p:nvPr/>
        </p:nvSpPr>
        <p:spPr>
          <a:xfrm>
            <a:off x="619125" y="5981700"/>
            <a:ext cx="10953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0">
                <a:solidFill>
                  <a:srgbClr val="00899B"/>
                </a:solidFill>
                <a:latin typeface="黑体"/>
                <a:ea typeface="黑体"/>
                <a:cs typeface="黑体"/>
              </a:defRPr>
            </a:pPr>
            <a:r>
              <a:rPr sz="1725" b="0" dirty="0" err="1">
                <a:solidFill>
                  <a:srgbClr val="00899B"/>
                </a:solidFill>
                <a:latin typeface="黑体"/>
                <a:ea typeface="黑体"/>
                <a:cs typeface="黑体"/>
              </a:rPr>
              <a:t>task_mask</a:t>
            </a:r>
            <a:r>
              <a:rPr sz="1725" b="0" dirty="0">
                <a:solidFill>
                  <a:srgbClr val="00899B"/>
                </a:solidFill>
                <a:latin typeface="黑体"/>
                <a:ea typeface="黑体"/>
                <a:cs typeface="黑体"/>
              </a:rPr>
              <a:t> </a:t>
            </a:r>
            <a:r>
              <a:rPr sz="1725" b="0" dirty="0" err="1">
                <a:solidFill>
                  <a:srgbClr val="00899B"/>
                </a:solidFill>
                <a:latin typeface="黑体"/>
                <a:ea typeface="黑体"/>
                <a:cs typeface="黑体"/>
              </a:rPr>
              <a:t>表示有效任务位置；节点忙碌影响</a:t>
            </a:r>
            <a:r>
              <a:rPr sz="1725" b="0" dirty="0">
                <a:solidFill>
                  <a:srgbClr val="00899B"/>
                </a:solidFill>
                <a:latin typeface="黑体"/>
                <a:ea typeface="黑体"/>
                <a:cs typeface="黑体"/>
              </a:rPr>
              <a:t> EST / </a:t>
            </a:r>
            <a:r>
              <a:rPr sz="1725" b="0" dirty="0" err="1">
                <a:solidFill>
                  <a:srgbClr val="00899B"/>
                </a:solidFill>
                <a:latin typeface="黑体"/>
                <a:ea typeface="黑体"/>
                <a:cs typeface="黑体"/>
              </a:rPr>
              <a:t>EFT，不直接屏蔽动作</a:t>
            </a:r>
            <a:endParaRPr sz="1725" b="0" dirty="0">
              <a:solidFill>
                <a:srgbClr val="00899B"/>
              </a:solidFill>
              <a:latin typeface="黑体"/>
              <a:ea typeface="黑体"/>
              <a:cs typeface="黑体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F1483A-72FB-407F-B57D-40C1CDD0B179}"/>
              </a:ext>
            </a:extLst>
          </p:cNvPr>
          <p:cNvSpPr>
            <a:spLocks noGrp="1"/>
          </p:cNvSpPr>
          <p:nvPr/>
        </p:nvSpPr>
        <p:spPr>
          <a:xfrm>
            <a:off x="523875" y="533400"/>
            <a:ext cx="109537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00" b="1">
                <a:solidFill>
                  <a:srgbClr val="254FEB"/>
                </a:solidFill>
                <a:latin typeface="黑体"/>
                <a:ea typeface="黑体"/>
                <a:cs typeface="黑体"/>
              </a:defRPr>
            </a:pPr>
            <a:r>
              <a:rPr sz="2600" b="1">
                <a:solidFill>
                  <a:srgbClr val="254FEB"/>
                </a:solidFill>
                <a:latin typeface="黑体"/>
                <a:ea typeface="黑体"/>
                <a:cs typeface="黑体"/>
              </a:rPr>
              <a:t>2.1.2 高层 LSTM Actor-Critic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3B21547-4EBA-45A9-9CF7-6A347BA8B8E6}"/>
              </a:ext>
            </a:extLst>
          </p:cNvPr>
          <p:cNvSpPr>
            <a:spLocks noGrp="1"/>
          </p:cNvSpPr>
          <p:nvPr/>
        </p:nvSpPr>
        <p:spPr>
          <a:xfrm>
            <a:off x="619125" y="1438275"/>
            <a:ext cx="1095375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250" b="1">
                <a:solidFill>
                  <a:srgbClr val="14213A"/>
                </a:solidFill>
                <a:latin typeface="黑体"/>
                <a:ea typeface="黑体"/>
                <a:cs typeface="黑体"/>
              </a:defRPr>
            </a:pPr>
            <a:r>
              <a:rPr sz="2250" b="1" dirty="0" err="1">
                <a:solidFill>
                  <a:srgbClr val="14213A"/>
                </a:solidFill>
                <a:latin typeface="黑体"/>
                <a:ea typeface="黑体"/>
                <a:cs typeface="黑体"/>
              </a:rPr>
              <a:t>逐任务生成动作分数，全局汇聚后估计状态价值</a:t>
            </a:r>
            <a:endParaRPr sz="2250" b="1" dirty="0">
              <a:solidFill>
                <a:srgbClr val="14213A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80DB020-C1D7-473B-9AB2-8B7B37377FB6}"/>
              </a:ext>
            </a:extLst>
          </p:cNvPr>
          <p:cNvSpPr>
            <a:spLocks noGrp="1"/>
          </p:cNvSpPr>
          <p:nvPr/>
        </p:nvSpPr>
        <p:spPr>
          <a:xfrm>
            <a:off x="619125" y="6257925"/>
            <a:ext cx="10953750" cy="371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0">
                <a:solidFill>
                  <a:srgbClr val="53657D"/>
                </a:solidFill>
                <a:latin typeface="黑体"/>
                <a:ea typeface="黑体"/>
                <a:cs typeface="黑体"/>
              </a:defRPr>
            </a:pPr>
            <a:r>
              <a:rPr sz="1275" b="0">
                <a:solidFill>
                  <a:srgbClr val="53657D"/>
                </a:solidFill>
                <a:latin typeface="黑体"/>
                <a:ea typeface="黑体"/>
                <a:cs typeface="黑体"/>
              </a:rPr>
              <a:t>models/high_lstm.py：HighLevelLSTMActorCritic；维度对应正式模型 hidden_dim=128</a:t>
            </a: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19125" y="2055813"/>
            <a:ext cx="10953750" cy="3651250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66964722-657B-4522-8A8C-5510F24DF25E}"/>
              </a:ext>
            </a:extLst>
          </p:cNvPr>
          <p:cNvSpPr>
            <a:spLocks noGrp="1"/>
          </p:cNvSpPr>
          <p:nvPr/>
        </p:nvSpPr>
        <p:spPr>
          <a:xfrm>
            <a:off x="619125" y="5886450"/>
            <a:ext cx="109537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00">
                <a:solidFill>
                  <a:srgbClr val="14213A"/>
                </a:solidFill>
                <a:latin typeface="黑体"/>
                <a:ea typeface="黑体"/>
                <a:cs typeface="黑体"/>
              </a:defRPr>
            </a:pPr>
            <a:r>
              <a:rPr sz="1800">
                <a:solidFill>
                  <a:srgbClr val="14213A"/>
                </a:solidFill>
                <a:latin typeface="黑体"/>
                <a:ea typeface="黑体"/>
                <a:cs typeface="黑体"/>
              </a:rPr>
              <a:t>训练采样，评估选最大合法分数；LSTM 隐状态不跨调度决策传递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A90969BA-325C-466D-9F17-A2DACD3B542B}"/>
              </a:ext>
            </a:extLst>
          </p:cNvPr>
          <p:cNvSpPr>
            <a:spLocks noGrp="1"/>
          </p:cNvSpPr>
          <p:nvPr/>
        </p:nvSpPr>
        <p:spPr>
          <a:xfrm>
            <a:off x="523875" y="533400"/>
            <a:ext cx="109537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00" b="1">
                <a:solidFill>
                  <a:srgbClr val="254FEB"/>
                </a:solidFill>
                <a:latin typeface="黑体"/>
                <a:ea typeface="黑体"/>
                <a:cs typeface="黑体"/>
              </a:defRPr>
            </a:pPr>
            <a:r>
              <a:rPr sz="2600" b="1" dirty="0">
                <a:solidFill>
                  <a:srgbClr val="254FEB"/>
                </a:solidFill>
                <a:latin typeface="黑体"/>
                <a:ea typeface="黑体"/>
                <a:cs typeface="黑体"/>
              </a:rPr>
              <a:t>2.1.3 </a:t>
            </a:r>
            <a:r>
              <a:rPr sz="2600" b="1" dirty="0" err="1">
                <a:solidFill>
                  <a:srgbClr val="254FEB"/>
                </a:solidFill>
                <a:latin typeface="黑体"/>
                <a:ea typeface="黑体"/>
                <a:cs typeface="黑体"/>
              </a:rPr>
              <a:t>低层</a:t>
            </a:r>
            <a:r>
              <a:rPr sz="2600" b="1" dirty="0">
                <a:solidFill>
                  <a:srgbClr val="254FEB"/>
                </a:solidFill>
                <a:latin typeface="黑体"/>
                <a:ea typeface="黑体"/>
                <a:cs typeface="黑体"/>
              </a:rPr>
              <a:t> GAT Actor-Critic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E9FFC2E-9AA1-4303-BAFB-C3B59AFD15CD}"/>
              </a:ext>
            </a:extLst>
          </p:cNvPr>
          <p:cNvSpPr>
            <a:spLocks noGrp="1"/>
          </p:cNvSpPr>
          <p:nvPr/>
        </p:nvSpPr>
        <p:spPr>
          <a:xfrm>
            <a:off x="619125" y="1438275"/>
            <a:ext cx="1095375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250" b="1">
                <a:solidFill>
                  <a:srgbClr val="14213A"/>
                </a:solidFill>
                <a:latin typeface="黑体"/>
                <a:ea typeface="黑体"/>
                <a:cs typeface="黑体"/>
              </a:defRPr>
            </a:pPr>
            <a:r>
              <a:rPr sz="2250" b="1" dirty="0" err="1">
                <a:solidFill>
                  <a:srgbClr val="14213A"/>
                </a:solidFill>
                <a:latin typeface="黑体"/>
                <a:ea typeface="黑体"/>
                <a:cs typeface="黑体"/>
              </a:rPr>
              <a:t>资源图表示、任务编码和节点时序特征共同决定节点分配</a:t>
            </a:r>
            <a:endParaRPr sz="2250" b="1" dirty="0">
              <a:solidFill>
                <a:srgbClr val="14213A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37860FD-F689-4834-9204-E5F8F4CD9748}"/>
              </a:ext>
            </a:extLst>
          </p:cNvPr>
          <p:cNvSpPr>
            <a:spLocks noGrp="1"/>
          </p:cNvSpPr>
          <p:nvPr/>
        </p:nvSpPr>
        <p:spPr>
          <a:xfrm>
            <a:off x="619125" y="6257925"/>
            <a:ext cx="10953750" cy="371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0">
                <a:solidFill>
                  <a:srgbClr val="53657D"/>
                </a:solidFill>
                <a:latin typeface="黑体"/>
                <a:ea typeface="黑体"/>
                <a:cs typeface="黑体"/>
              </a:defRPr>
            </a:pPr>
            <a:r>
              <a:rPr sz="1275" b="0">
                <a:solidFill>
                  <a:srgbClr val="53657D"/>
                </a:solidFill>
                <a:latin typeface="黑体"/>
                <a:ea typeface="黑体"/>
                <a:cs typeface="黑体"/>
              </a:rPr>
              <a:t>models/low_gat.py：DenseGATLayer、LowLevelGATActorCritic；正式隐维度 64，头数 4 / 1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97362EB-6F54-4791-B0FB-0BF0FC4F25EF}"/>
              </a:ext>
            </a:extLst>
          </p:cNvPr>
          <p:cNvSpPr>
            <a:spLocks noGrp="1"/>
          </p:cNvSpPr>
          <p:nvPr/>
        </p:nvSpPr>
        <p:spPr>
          <a:xfrm>
            <a:off x="619125" y="5791200"/>
            <a:ext cx="109537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254FEB"/>
                </a:solidFill>
                <a:latin typeface="黑体"/>
                <a:ea typeface="黑体"/>
                <a:cs typeface="黑体"/>
              </a:defRPr>
            </a:pPr>
            <a:r>
              <a:rPr sz="1800" b="0">
                <a:solidFill>
                  <a:srgbClr val="254FEB"/>
                </a:solidFill>
                <a:latin typeface="黑体"/>
                <a:ea typeface="黑体"/>
                <a:cs typeface="黑体"/>
              </a:rPr>
              <a:t>注意力包含带宽 / 时延边特征，按邻接关系聚合，层输出采用 ELU</a:t>
            </a: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19125" y="2055813"/>
            <a:ext cx="10953750" cy="36512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03D343BD-9400-4CC7-9B51-BA125B94859C}"/>
              </a:ext>
            </a:extLst>
          </p:cNvPr>
          <p:cNvSpPr>
            <a:spLocks noGrp="1"/>
          </p:cNvSpPr>
          <p:nvPr/>
        </p:nvSpPr>
        <p:spPr>
          <a:xfrm>
            <a:off x="523875" y="533400"/>
            <a:ext cx="109537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00" b="1">
                <a:solidFill>
                  <a:srgbClr val="254FEB"/>
                </a:solidFill>
                <a:latin typeface="黑体"/>
                <a:ea typeface="黑体"/>
                <a:cs typeface="黑体"/>
              </a:defRPr>
            </a:pPr>
            <a:r>
              <a:rPr sz="2600" b="1">
                <a:solidFill>
                  <a:srgbClr val="254FEB"/>
                </a:solidFill>
                <a:latin typeface="黑体"/>
                <a:ea typeface="黑体"/>
                <a:cs typeface="黑体"/>
              </a:rPr>
              <a:t>2.1.4 模型交互与 PPO 训练闭环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5764F94-70CF-4549-B746-B659C51322FB}"/>
              </a:ext>
            </a:extLst>
          </p:cNvPr>
          <p:cNvSpPr>
            <a:spLocks noGrp="1"/>
          </p:cNvSpPr>
          <p:nvPr/>
        </p:nvSpPr>
        <p:spPr>
          <a:xfrm>
            <a:off x="619125" y="1438275"/>
            <a:ext cx="1095375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250" b="1">
                <a:solidFill>
                  <a:srgbClr val="14213A"/>
                </a:solidFill>
                <a:latin typeface="黑体"/>
                <a:ea typeface="黑体"/>
                <a:cs typeface="黑体"/>
              </a:defRPr>
            </a:pPr>
            <a:r>
              <a:rPr sz="2250" b="1" dirty="0" err="1">
                <a:solidFill>
                  <a:srgbClr val="14213A"/>
                </a:solidFill>
                <a:latin typeface="黑体"/>
                <a:ea typeface="黑体"/>
                <a:cs typeface="黑体"/>
              </a:rPr>
              <a:t>两层接收同一次放置的奖励，分别计算优势并更新自己的参数</a:t>
            </a:r>
            <a:endParaRPr sz="2250" b="1" dirty="0">
              <a:solidFill>
                <a:srgbClr val="14213A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6C0ED49-4AB3-4E0D-91E9-00CDE7F1C064}"/>
              </a:ext>
            </a:extLst>
          </p:cNvPr>
          <p:cNvSpPr>
            <a:spLocks noGrp="1"/>
          </p:cNvSpPr>
          <p:nvPr/>
        </p:nvSpPr>
        <p:spPr>
          <a:xfrm>
            <a:off x="619125" y="6257925"/>
            <a:ext cx="10953750" cy="371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0">
                <a:solidFill>
                  <a:srgbClr val="53657D"/>
                </a:solidFill>
                <a:latin typeface="黑体"/>
                <a:ea typeface="黑体"/>
                <a:cs typeface="黑体"/>
              </a:defRPr>
            </a:pPr>
            <a:r>
              <a:rPr sz="1275" b="0">
                <a:solidFill>
                  <a:srgbClr val="53657D"/>
                </a:solidFill>
                <a:latin typeface="黑体"/>
                <a:ea typeface="黑体"/>
                <a:cs typeface="黑体"/>
              </a:rPr>
              <a:t>说明书第 2.1.2、2.2 节；dag_env.step、hierarchical_trainer.py、ppo.py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B3656D4-7084-4E73-97AF-2DD1D4CFB09D}"/>
              </a:ext>
            </a:extLst>
          </p:cNvPr>
          <p:cNvSpPr>
            <a:spLocks noGrp="1"/>
          </p:cNvSpPr>
          <p:nvPr/>
        </p:nvSpPr>
        <p:spPr>
          <a:xfrm>
            <a:off x="619125" y="5286375"/>
            <a:ext cx="1095375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1">
                <a:solidFill>
                  <a:srgbClr val="254FEB"/>
                </a:solidFill>
                <a:latin typeface="黑体"/>
                <a:ea typeface="黑体"/>
                <a:cs typeface="黑体"/>
              </a:defRPr>
            </a:pPr>
            <a:r>
              <a:rPr sz="1800" b="1">
                <a:solidFill>
                  <a:srgbClr val="254FEB"/>
                </a:solidFill>
                <a:latin typeface="黑体"/>
                <a:ea typeface="黑体"/>
                <a:cs typeface="黑体"/>
              </a:rPr>
              <a:t>联合阶段：高层轨迹与低层轨迹分别保存观测、原 mask、动作、旧概率和价值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A59F40A-50E2-491E-9C5D-8AB3564AAA5F}"/>
              </a:ext>
            </a:extLst>
          </p:cNvPr>
          <p:cNvSpPr>
            <a:spLocks noGrp="1"/>
          </p:cNvSpPr>
          <p:nvPr/>
        </p:nvSpPr>
        <p:spPr>
          <a:xfrm>
            <a:off x="619125" y="5743575"/>
            <a:ext cx="109537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00899B"/>
                </a:solidFill>
                <a:latin typeface="黑体"/>
                <a:ea typeface="黑体"/>
                <a:cs typeface="黑体"/>
              </a:defRPr>
            </a:pPr>
            <a:r>
              <a:rPr sz="1800" b="0">
                <a:solidFill>
                  <a:srgbClr val="00899B"/>
                </a:solidFill>
                <a:latin typeface="黑体"/>
                <a:ea typeface="黑体"/>
                <a:cs typeface="黑体"/>
              </a:rPr>
              <a:t>两层独立 GAE / PPO：γ = 1，λ = 0.95，clip = 0.1；价值误差与熵正则共同优化</a:t>
            </a: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81125" y="2047875"/>
            <a:ext cx="9429750" cy="31432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228FE95A-3340-4817-88C2-66F826014EA9}"/>
              </a:ext>
            </a:extLst>
          </p:cNvPr>
          <p:cNvSpPr>
            <a:spLocks noGrp="1"/>
          </p:cNvSpPr>
          <p:nvPr/>
        </p:nvSpPr>
        <p:spPr>
          <a:xfrm>
            <a:off x="523875" y="533400"/>
            <a:ext cx="109537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00" b="1">
                <a:solidFill>
                  <a:srgbClr val="254FEB"/>
                </a:solidFill>
                <a:latin typeface="黑体"/>
                <a:ea typeface="黑体"/>
                <a:cs typeface="黑体"/>
              </a:defRPr>
            </a:pPr>
            <a:r>
              <a:rPr sz="2600" b="1">
                <a:solidFill>
                  <a:srgbClr val="254FEB"/>
                </a:solidFill>
                <a:latin typeface="黑体"/>
                <a:ea typeface="黑体"/>
                <a:cs typeface="黑体"/>
              </a:rPr>
              <a:t>2.2 实际关键链与任务块搜索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FF9944F-B044-4085-960E-D6FB97C19DC8}"/>
              </a:ext>
            </a:extLst>
          </p:cNvPr>
          <p:cNvSpPr>
            <a:spLocks noGrp="1"/>
          </p:cNvSpPr>
          <p:nvPr/>
        </p:nvSpPr>
        <p:spPr>
          <a:xfrm>
            <a:off x="619125" y="1438275"/>
            <a:ext cx="1095375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250" b="1">
                <a:solidFill>
                  <a:srgbClr val="14213A"/>
                </a:solidFill>
                <a:latin typeface="黑体"/>
                <a:ea typeface="黑体"/>
                <a:cs typeface="黑体"/>
              </a:defRPr>
            </a:pPr>
            <a:r>
              <a:rPr sz="2250" b="1">
                <a:solidFill>
                  <a:srgbClr val="14213A"/>
                </a:solidFill>
                <a:latin typeface="黑体"/>
                <a:ea typeface="黑体"/>
                <a:cs typeface="黑体"/>
              </a:rPr>
              <a:t>同时处理数据等待和节点阻塞，尝试关键任务的联合迁移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BAD5D1E-8ACF-4A8F-9876-AD4C821F583A}"/>
              </a:ext>
            </a:extLst>
          </p:cNvPr>
          <p:cNvSpPr>
            <a:spLocks noGrp="1"/>
          </p:cNvSpPr>
          <p:nvPr/>
        </p:nvSpPr>
        <p:spPr>
          <a:xfrm>
            <a:off x="619125" y="6257925"/>
            <a:ext cx="10953750" cy="371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0">
                <a:solidFill>
                  <a:srgbClr val="53657D"/>
                </a:solidFill>
                <a:latin typeface="黑体"/>
                <a:ea typeface="黑体"/>
                <a:cs typeface="黑体"/>
              </a:defRPr>
            </a:pPr>
            <a:r>
              <a:rPr sz="1275" b="0">
                <a:solidFill>
                  <a:srgbClr val="53657D"/>
                </a:solidFill>
                <a:latin typeface="黑体"/>
                <a:ea typeface="黑体"/>
                <a:cs typeface="黑体"/>
              </a:rPr>
              <a:t>说明书第 2.2.3、5.3 节；policies/portfolio.py、policies/hybrid.py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DD9EB34-8957-41BD-89B6-8D9BC30B97C5}"/>
              </a:ext>
            </a:extLst>
          </p:cNvPr>
          <p:cNvSpPr>
            <a:spLocks noGrp="1"/>
          </p:cNvSpPr>
          <p:nvPr/>
        </p:nvSpPr>
        <p:spPr>
          <a:xfrm>
            <a:off x="619125" y="5581650"/>
            <a:ext cx="109537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950" b="1">
                <a:solidFill>
                  <a:srgbClr val="254FEB"/>
                </a:solidFill>
                <a:latin typeface="黑体"/>
                <a:ea typeface="黑体"/>
                <a:cs typeface="黑体"/>
              </a:defRPr>
            </a:pPr>
            <a:r>
              <a:rPr sz="1950" b="1">
                <a:solidFill>
                  <a:srgbClr val="254FEB"/>
                </a:solidFill>
                <a:latin typeface="黑体"/>
                <a:ea typeface="黑体"/>
                <a:cs typeface="黑体"/>
              </a:rPr>
              <a:t>保留 HEFT、独立搜索和 HRL 完整候选，校验后按同一目标择优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23938" y="2105025"/>
            <a:ext cx="10144125" cy="33813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76AB055E-6301-4219-8A36-76A294A11878}"/>
              </a:ext>
            </a:extLst>
          </p:cNvPr>
          <p:cNvSpPr>
            <a:spLocks noGrp="1"/>
          </p:cNvSpPr>
          <p:nvPr/>
        </p:nvSpPr>
        <p:spPr>
          <a:xfrm>
            <a:off x="523875" y="533400"/>
            <a:ext cx="109537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00" b="1">
                <a:solidFill>
                  <a:srgbClr val="254FEB"/>
                </a:solidFill>
                <a:latin typeface="黑体"/>
                <a:ea typeface="黑体"/>
                <a:cs typeface="黑体"/>
              </a:defRPr>
            </a:pPr>
            <a:r>
              <a:rPr sz="2600" b="1">
                <a:solidFill>
                  <a:srgbClr val="254FEB"/>
                </a:solidFill>
                <a:latin typeface="黑体"/>
                <a:ea typeface="黑体"/>
                <a:cs typeface="黑体"/>
              </a:rPr>
              <a:t>2.3 动态状态隔离与前缀复用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BD0FD6E-2AD4-4D61-9684-1B15D4373CD0}"/>
              </a:ext>
            </a:extLst>
          </p:cNvPr>
          <p:cNvSpPr>
            <a:spLocks noGrp="1"/>
          </p:cNvSpPr>
          <p:nvPr/>
        </p:nvSpPr>
        <p:spPr>
          <a:xfrm>
            <a:off x="619125" y="1438275"/>
            <a:ext cx="1095375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250" b="1">
                <a:solidFill>
                  <a:srgbClr val="14213A"/>
                </a:solidFill>
                <a:latin typeface="黑体"/>
                <a:ea typeface="黑体"/>
                <a:cs typeface="黑体"/>
              </a:defRPr>
            </a:pPr>
            <a:r>
              <a:rPr sz="2250" b="1" dirty="0" err="1">
                <a:solidFill>
                  <a:srgbClr val="14213A"/>
                </a:solidFill>
                <a:latin typeface="黑体"/>
                <a:ea typeface="黑体"/>
                <a:cs typeface="黑体"/>
              </a:rPr>
              <a:t>多个候选复用相同前缀，各分支维护独立的后续时间线</a:t>
            </a:r>
            <a:endParaRPr sz="2250" b="1" dirty="0">
              <a:solidFill>
                <a:srgbClr val="14213A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20F995E-A97B-4CED-AAD3-890FBD1548A5}"/>
              </a:ext>
            </a:extLst>
          </p:cNvPr>
          <p:cNvSpPr>
            <a:spLocks noGrp="1"/>
          </p:cNvSpPr>
          <p:nvPr/>
        </p:nvSpPr>
        <p:spPr>
          <a:xfrm>
            <a:off x="619125" y="6257925"/>
            <a:ext cx="10953750" cy="371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0">
                <a:solidFill>
                  <a:srgbClr val="53657D"/>
                </a:solidFill>
                <a:latin typeface="黑体"/>
                <a:ea typeface="黑体"/>
                <a:cs typeface="黑体"/>
              </a:defRPr>
            </a:pPr>
            <a:r>
              <a:rPr sz="1275" b="0">
                <a:solidFill>
                  <a:srgbClr val="53657D"/>
                </a:solidFill>
                <a:latin typeface="黑体"/>
                <a:ea typeface="黑体"/>
                <a:cs typeface="黑体"/>
              </a:rPr>
              <a:t>说明书第 5.3 节；ScheduleSimulator.clone、portfolio._prefix_template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BBA034E-95E0-4483-94AE-C385E16A569A}"/>
              </a:ext>
            </a:extLst>
          </p:cNvPr>
          <p:cNvSpPr>
            <a:spLocks noGrp="1"/>
          </p:cNvSpPr>
          <p:nvPr/>
        </p:nvSpPr>
        <p:spPr>
          <a:xfrm>
            <a:off x="619125" y="5619750"/>
            <a:ext cx="10858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950" b="1">
                <a:solidFill>
                  <a:srgbClr val="14213A"/>
                </a:solidFill>
                <a:latin typeface="黑体"/>
                <a:ea typeface="黑体"/>
                <a:cs typeface="黑体"/>
              </a:defRPr>
            </a:pPr>
            <a:r>
              <a:rPr sz="1950" b="1">
                <a:solidFill>
                  <a:srgbClr val="14213A"/>
                </a:solidFill>
                <a:latin typeface="黑体"/>
                <a:ea typeface="黑体"/>
                <a:cs typeface="黑体"/>
              </a:rPr>
              <a:t>验证依据：克隆不改变父状态，缓存开关不改变候选结果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95375" y="2257425"/>
            <a:ext cx="10001250" cy="33337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6EAD6A0F-F8FC-4137-98FB-3B509EFE6560}"/>
              </a:ext>
            </a:extLst>
          </p:cNvPr>
          <p:cNvSpPr>
            <a:spLocks noGrp="1"/>
          </p:cNvSpPr>
          <p:nvPr/>
        </p:nvSpPr>
        <p:spPr>
          <a:xfrm>
            <a:off x="523875" y="533400"/>
            <a:ext cx="109537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00" b="1">
                <a:solidFill>
                  <a:srgbClr val="254FEB"/>
                </a:solidFill>
                <a:latin typeface="黑体"/>
                <a:ea typeface="黑体"/>
                <a:cs typeface="黑体"/>
              </a:defRPr>
            </a:pPr>
            <a:r>
              <a:rPr sz="2600" b="1">
                <a:solidFill>
                  <a:srgbClr val="254FEB"/>
                </a:solidFill>
                <a:latin typeface="黑体"/>
                <a:ea typeface="黑体"/>
                <a:cs typeface="黑体"/>
              </a:rPr>
              <a:t>2.4 双开源操作系统运行验证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1A176FC-428C-4C6E-A5DA-75A61AFE9BE1}"/>
              </a:ext>
            </a:extLst>
          </p:cNvPr>
          <p:cNvSpPr>
            <a:spLocks noGrp="1"/>
          </p:cNvSpPr>
          <p:nvPr/>
        </p:nvSpPr>
        <p:spPr>
          <a:xfrm>
            <a:off x="619125" y="1438275"/>
            <a:ext cx="1095375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250" b="1">
                <a:solidFill>
                  <a:srgbClr val="14213A"/>
                </a:solidFill>
                <a:latin typeface="黑体"/>
                <a:ea typeface="黑体"/>
                <a:cs typeface="黑体"/>
              </a:defRPr>
            </a:pPr>
            <a:r>
              <a:rPr sz="2250" b="1">
                <a:solidFill>
                  <a:srgbClr val="14213A"/>
                </a:solidFill>
                <a:latin typeface="黑体"/>
                <a:ea typeface="黑体"/>
                <a:cs typeface="黑体"/>
              </a:rPr>
              <a:t>在 openEuler 与 openKylin 虚拟机完成 CPU 短训练及验证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0882C67-4338-4E8B-A22F-C7A464EE5575}"/>
              </a:ext>
            </a:extLst>
          </p:cNvPr>
          <p:cNvSpPr>
            <a:spLocks noGrp="1"/>
          </p:cNvSpPr>
          <p:nvPr/>
        </p:nvSpPr>
        <p:spPr>
          <a:xfrm>
            <a:off x="619125" y="6257925"/>
            <a:ext cx="10953750" cy="371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0">
                <a:solidFill>
                  <a:srgbClr val="53657D"/>
                </a:solidFill>
                <a:latin typeface="黑体"/>
                <a:ea typeface="黑体"/>
                <a:cs typeface="黑体"/>
              </a:defRPr>
            </a:pPr>
            <a:r>
              <a:rPr sz="1275" b="0">
                <a:solidFill>
                  <a:srgbClr val="53657D"/>
                </a:solidFill>
                <a:latin typeface="黑体"/>
                <a:ea typeface="黑体"/>
                <a:cs typeface="黑体"/>
              </a:rPr>
              <a:t>说明书第 4.1.3、4.2.1 节；tests/platform/ 两份 2026-09-30 归档</a:t>
            </a:r>
          </a:p>
        </p:txBody>
      </p:sp>
      <p:graphicFrame>
        <p:nvGraphicFramePr>
          <p:cNvPr id="9" name="表格 8"/>
          <p:cNvGraphicFramePr/>
          <p:nvPr/>
        </p:nvGraphicFramePr>
        <p:xfrm>
          <a:off x="619125" y="2152650"/>
          <a:ext cx="10953750" cy="3360420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484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验证项目</a:t>
                      </a:r>
                    </a:p>
                  </a:txBody>
                  <a:tcPr marL="114300" marR="95250" marT="76200" marB="76200" anchor="ctr">
                    <a:solidFill>
                      <a:srgbClr val="254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openEuler 24.03 LTS-SP4</a:t>
                      </a:r>
                    </a:p>
                  </a:txBody>
                  <a:tcPr marL="114300" marR="95250" marT="76200" marB="76200" anchor="ctr">
                    <a:solidFill>
                      <a:srgbClr val="254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openKylin 2.0 SP2</a:t>
                      </a:r>
                    </a:p>
                  </a:txBody>
                  <a:tcPr marL="114300" marR="95250" marT="76200" marB="76200" anchor="ctr">
                    <a:solidFill>
                      <a:srgbClr val="254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484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运行范围</a:t>
                      </a:r>
                    </a:p>
                  </a:txBody>
                  <a:tcPr marL="11430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x86_64 虚拟机，CPU 单线程</a:t>
                      </a:r>
                    </a:p>
                  </a:txBody>
                  <a:tcPr marL="11430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x86_64 虚拟机，CPU 单线程</a:t>
                      </a:r>
                    </a:p>
                  </a:txBody>
                  <a:tcPr marL="114300" marR="9525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484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短训练</a:t>
                      </a:r>
                    </a:p>
                  </a:txBody>
                  <a:tcPr marL="114300" marR="95250" marT="76200" marB="76200" anchor="ctr">
                    <a:solidFill>
                      <a:srgbClr val="E7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2 回合，400 次任务决策</a:t>
                      </a:r>
                    </a:p>
                  </a:txBody>
                  <a:tcPr marL="114300" marR="95250" marT="76200" marB="76200" anchor="ctr">
                    <a:solidFill>
                      <a:srgbClr val="E7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2 回合，400 次任务决策</a:t>
                      </a:r>
                    </a:p>
                  </a:txBody>
                  <a:tcPr marL="114300" marR="95250" marT="76200" marB="76200" anchor="ctr">
                    <a:solidFill>
                      <a:srgbClr val="E7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484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验证与合法性</a:t>
                      </a:r>
                    </a:p>
                  </a:txBody>
                  <a:tcPr marL="11430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108 场景，HRL/HEFT 合法率 100%</a:t>
                      </a:r>
                    </a:p>
                  </a:txBody>
                  <a:tcPr marL="11430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108 场景，HRL/HEFT 合法率 100%</a:t>
                      </a:r>
                    </a:p>
                  </a:txBody>
                  <a:tcPr marL="114300" marR="9525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484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测试与重载</a:t>
                      </a:r>
                    </a:p>
                  </a:txBody>
                  <a:tcPr marL="114300" marR="95250" marT="76200" marB="76200" anchor="ctr">
                    <a:solidFill>
                      <a:srgbClr val="E7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188 项测试通过，六阶段 passed</a:t>
                      </a:r>
                    </a:p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训练后与重载评估逐项一致</a:t>
                      </a:r>
                    </a:p>
                  </a:txBody>
                  <a:tcPr marL="114300" marR="95250" marT="76200" marB="76200" anchor="ctr">
                    <a:solidFill>
                      <a:srgbClr val="E7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README 记录 188 项测试与重载</a:t>
                      </a:r>
                    </a:p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逐场景验证结果已保存</a:t>
                      </a:r>
                    </a:p>
                  </a:txBody>
                  <a:tcPr marL="114300" marR="95250" marT="76200" marB="76200" anchor="ctr">
                    <a:solidFill>
                      <a:srgbClr val="E7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8BBCE926-C14D-44F7-A1B0-A1203E686FF4}"/>
              </a:ext>
            </a:extLst>
          </p:cNvPr>
          <p:cNvSpPr>
            <a:spLocks noGrp="1"/>
          </p:cNvSpPr>
          <p:nvPr/>
        </p:nvSpPr>
        <p:spPr>
          <a:xfrm>
            <a:off x="619125" y="5667375"/>
            <a:ext cx="10858500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254FEB"/>
                </a:solidFill>
                <a:latin typeface="黑体"/>
                <a:ea typeface="黑体"/>
                <a:cs typeface="黑体"/>
              </a:defRPr>
            </a:pPr>
            <a:r>
              <a:rPr sz="1875" b="1">
                <a:solidFill>
                  <a:srgbClr val="254FEB"/>
                </a:solidFill>
                <a:latin typeface="黑体"/>
                <a:ea typeface="黑体"/>
                <a:cs typeface="黑体"/>
              </a:rPr>
              <a:t>已有证据支持对应虚拟机的运行兼容性，openKylin 过程日志待补齐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/>
              <a:t>技术难点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630CF638-1CE9-4AEA-8462-4AC700A9421C}"/>
              </a:ext>
            </a:extLst>
          </p:cNvPr>
          <p:cNvSpPr>
            <a:spLocks noGrp="1"/>
          </p:cNvSpPr>
          <p:nvPr/>
        </p:nvSpPr>
        <p:spPr>
          <a:xfrm>
            <a:off x="523875" y="533400"/>
            <a:ext cx="109537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00" b="1">
                <a:solidFill>
                  <a:srgbClr val="254FEB"/>
                </a:solidFill>
                <a:latin typeface="黑体"/>
                <a:ea typeface="黑体"/>
                <a:cs typeface="黑体"/>
              </a:defRPr>
            </a:pPr>
            <a:r>
              <a:rPr sz="2600" b="1">
                <a:solidFill>
                  <a:srgbClr val="254FEB"/>
                </a:solidFill>
                <a:latin typeface="黑体"/>
                <a:ea typeface="黑体"/>
                <a:cs typeface="黑体"/>
              </a:rPr>
              <a:t>3.1 前驱就绪与实际开始时间的一致性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7CE4D30-00BC-4C3B-B952-F6FBAB4DD9C5}"/>
              </a:ext>
            </a:extLst>
          </p:cNvPr>
          <p:cNvSpPr>
            <a:spLocks noGrp="1"/>
          </p:cNvSpPr>
          <p:nvPr/>
        </p:nvSpPr>
        <p:spPr>
          <a:xfrm>
            <a:off x="619125" y="1438275"/>
            <a:ext cx="1095375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250" b="1">
                <a:solidFill>
                  <a:srgbClr val="14213A"/>
                </a:solidFill>
                <a:latin typeface="黑体"/>
                <a:ea typeface="黑体"/>
                <a:cs typeface="黑体"/>
              </a:defRPr>
            </a:pPr>
            <a:r>
              <a:rPr sz="2250" b="1">
                <a:solidFill>
                  <a:srgbClr val="14213A"/>
                </a:solidFill>
                <a:latin typeface="黑体"/>
                <a:ea typeface="黑体"/>
                <a:cs typeface="黑体"/>
              </a:rPr>
              <a:t>前驱已放置决定任务能否选择，实际开始还需等待数据与资源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669BCCA-7448-4DF6-96BA-085C2D80C645}"/>
              </a:ext>
            </a:extLst>
          </p:cNvPr>
          <p:cNvSpPr>
            <a:spLocks noGrp="1"/>
          </p:cNvSpPr>
          <p:nvPr/>
        </p:nvSpPr>
        <p:spPr>
          <a:xfrm>
            <a:off x="619125" y="6257925"/>
            <a:ext cx="10953750" cy="371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0">
                <a:solidFill>
                  <a:srgbClr val="53657D"/>
                </a:solidFill>
                <a:latin typeface="黑体"/>
                <a:ea typeface="黑体"/>
                <a:cs typeface="黑体"/>
              </a:defRPr>
            </a:pPr>
            <a:r>
              <a:rPr sz="1275" b="0">
                <a:solidFill>
                  <a:srgbClr val="53657D"/>
                </a:solidFill>
                <a:latin typeface="黑体"/>
                <a:ea typeface="黑体"/>
                <a:cs typeface="黑体"/>
              </a:rPr>
              <a:t>说明书第 2.1、5.1 节；src/tests/test_simulator.py 最小通信案例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0B8EA85-7199-4089-8B3D-CC047437ABBE}"/>
              </a:ext>
            </a:extLst>
          </p:cNvPr>
          <p:cNvSpPr>
            <a:spLocks noGrp="1"/>
          </p:cNvSpPr>
          <p:nvPr/>
        </p:nvSpPr>
        <p:spPr>
          <a:xfrm>
            <a:off x="619125" y="2162175"/>
            <a:ext cx="10953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025" b="1">
                <a:solidFill>
                  <a:srgbClr val="B74444"/>
                </a:solidFill>
                <a:latin typeface="黑体"/>
                <a:ea typeface="黑体"/>
                <a:cs typeface="黑体"/>
              </a:defRPr>
            </a:pPr>
            <a:r>
              <a:rPr sz="2025" b="1">
                <a:solidFill>
                  <a:srgbClr val="B74444"/>
                </a:solidFill>
                <a:latin typeface="黑体"/>
                <a:ea typeface="黑体"/>
                <a:cs typeface="黑体"/>
              </a:rPr>
              <a:t>风险：忽略跨节点传输，后继可能在数据到达前开始</a:t>
            </a:r>
          </a:p>
        </p:txBody>
      </p:sp>
      <p:graphicFrame>
        <p:nvGraphicFramePr>
          <p:cNvPr id="12" name="表格 11"/>
          <p:cNvGraphicFramePr/>
          <p:nvPr/>
        </p:nvGraphicFramePr>
        <p:xfrm>
          <a:off x="619125" y="2800350"/>
          <a:ext cx="10953750" cy="2171700"/>
        </p:xfrm>
        <a:graphic>
          <a:graphicData uri="http://schemas.openxmlformats.org/drawingml/2006/table">
            <a:tbl>
              <a:tblPr/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43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29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最小案例</a:t>
                      </a:r>
                    </a:p>
                  </a:txBody>
                  <a:tcPr marL="114300" marR="95250" marT="76200" marB="76200" anchor="ctr">
                    <a:solidFill>
                      <a:srgbClr val="254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时间计算</a:t>
                      </a:r>
                    </a:p>
                  </a:txBody>
                  <a:tcPr marL="114300" marR="95250" marT="76200" marB="76200" anchor="ctr">
                    <a:solidFill>
                      <a:srgbClr val="254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2025" b="0" dirty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a 在 slow </a:t>
                      </a:r>
                      <a:r>
                        <a:rPr sz="2025" b="0" dirty="0" err="1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节点执行</a:t>
                      </a:r>
                      <a:endParaRPr sz="2025" b="0" dirty="0">
                        <a:solidFill>
                          <a:srgbClr val="14213A"/>
                        </a:solidFill>
                        <a:latin typeface="黑体"/>
                        <a:ea typeface="黑体"/>
                        <a:cs typeface="黑体"/>
                      </a:endParaRPr>
                    </a:p>
                  </a:txBody>
                  <a:tcPr marL="11430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开始 0，结束 10</a:t>
                      </a:r>
                    </a:p>
                  </a:txBody>
                  <a:tcPr marL="114300" marR="9525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2025" b="0" dirty="0" err="1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数据传到</a:t>
                      </a:r>
                      <a:r>
                        <a:rPr sz="2025" b="0" dirty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 fast </a:t>
                      </a:r>
                      <a:r>
                        <a:rPr sz="2025" b="0" dirty="0" err="1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节点</a:t>
                      </a:r>
                      <a:endParaRPr sz="2025" b="0" dirty="0">
                        <a:solidFill>
                          <a:srgbClr val="14213A"/>
                        </a:solidFill>
                        <a:latin typeface="黑体"/>
                        <a:ea typeface="黑体"/>
                        <a:cs typeface="黑体"/>
                      </a:endParaRPr>
                    </a:p>
                  </a:txBody>
                  <a:tcPr marL="114300" marR="95250" marT="76200" marB="76200" anchor="ctr">
                    <a:solidFill>
                      <a:srgbClr val="E7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数据量 20 / 带宽 10 + 时延 1 = 3</a:t>
                      </a:r>
                    </a:p>
                  </a:txBody>
                  <a:tcPr marL="114300" marR="95250" marT="76200" marB="76200" anchor="ctr">
                    <a:solidFill>
                      <a:srgbClr val="E7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2025" b="0" dirty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b 在 fast </a:t>
                      </a:r>
                      <a:r>
                        <a:rPr sz="2025" b="0" dirty="0" err="1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节点执行</a:t>
                      </a:r>
                      <a:endParaRPr sz="2025" b="0" dirty="0">
                        <a:solidFill>
                          <a:srgbClr val="14213A"/>
                        </a:solidFill>
                        <a:latin typeface="黑体"/>
                        <a:ea typeface="黑体"/>
                        <a:cs typeface="黑体"/>
                      </a:endParaRPr>
                    </a:p>
                  </a:txBody>
                  <a:tcPr marL="11430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 dirty="0" err="1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数据就绪</a:t>
                      </a:r>
                      <a:r>
                        <a:rPr sz="2025" b="0" dirty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 13，执行 5，完成 18</a:t>
                      </a:r>
                    </a:p>
                  </a:txBody>
                  <a:tcPr marL="114300" marR="9525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6463EEB2-B107-43C6-9202-C0B956A2FF1A}"/>
              </a:ext>
            </a:extLst>
          </p:cNvPr>
          <p:cNvSpPr>
            <a:spLocks noGrp="1"/>
          </p:cNvSpPr>
          <p:nvPr/>
        </p:nvSpPr>
        <p:spPr>
          <a:xfrm>
            <a:off x="619125" y="5181600"/>
            <a:ext cx="109537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025" b="1">
                <a:solidFill>
                  <a:srgbClr val="254FEB"/>
                </a:solidFill>
                <a:latin typeface="黑体"/>
                <a:ea typeface="黑体"/>
                <a:cs typeface="黑体"/>
              </a:defRPr>
            </a:pPr>
            <a:r>
              <a:rPr sz="2025" b="1">
                <a:solidFill>
                  <a:srgbClr val="254FEB"/>
                </a:solidFill>
                <a:latin typeface="黑体"/>
                <a:ea typeface="黑体"/>
                <a:cs typeface="黑体"/>
              </a:rPr>
              <a:t>解决：合法动作筛选后，按数据到达与节点空闲区间计算 EST / EFT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25CDB98-3BE5-4322-8B8F-B0F09787D2CD}"/>
              </a:ext>
            </a:extLst>
          </p:cNvPr>
          <p:cNvSpPr>
            <a:spLocks noGrp="1"/>
          </p:cNvSpPr>
          <p:nvPr/>
        </p:nvSpPr>
        <p:spPr>
          <a:xfrm>
            <a:off x="619125" y="5772150"/>
            <a:ext cx="1095375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0">
                <a:solidFill>
                  <a:srgbClr val="14213A"/>
                </a:solidFill>
                <a:latin typeface="黑体"/>
                <a:ea typeface="黑体"/>
                <a:cs typeface="黑体"/>
              </a:defRPr>
            </a:pPr>
            <a:r>
              <a:rPr sz="1875" b="0" dirty="0" err="1">
                <a:solidFill>
                  <a:srgbClr val="14213A"/>
                </a:solidFill>
                <a:latin typeface="黑体"/>
                <a:ea typeface="黑体"/>
                <a:cs typeface="黑体"/>
              </a:rPr>
              <a:t>验证：跨节点就绪时刻</a:t>
            </a:r>
            <a:r>
              <a:rPr sz="1875" b="0" dirty="0">
                <a:solidFill>
                  <a:srgbClr val="14213A"/>
                </a:solidFill>
                <a:latin typeface="黑体"/>
                <a:ea typeface="黑体"/>
                <a:cs typeface="黑体"/>
              </a:rPr>
              <a:t> 13，同节点 10；插入测试能利用 [0, 2] </a:t>
            </a:r>
            <a:r>
              <a:rPr sz="1875" b="0" dirty="0" err="1">
                <a:solidFill>
                  <a:srgbClr val="14213A"/>
                </a:solidFill>
                <a:latin typeface="黑体"/>
                <a:ea typeface="黑体"/>
                <a:cs typeface="黑体"/>
              </a:rPr>
              <a:t>空隙</a:t>
            </a:r>
            <a:endParaRPr sz="1875" b="0" dirty="0">
              <a:solidFill>
                <a:srgbClr val="14213A"/>
              </a:solidFill>
              <a:latin typeface="黑体"/>
              <a:ea typeface="黑体"/>
              <a:cs typeface="黑体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55171636-537F-482A-9372-141C18449548}"/>
              </a:ext>
            </a:extLst>
          </p:cNvPr>
          <p:cNvSpPr>
            <a:spLocks noGrp="1"/>
          </p:cNvSpPr>
          <p:nvPr/>
        </p:nvSpPr>
        <p:spPr>
          <a:xfrm>
            <a:off x="523875" y="533400"/>
            <a:ext cx="109537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00" b="1">
                <a:solidFill>
                  <a:srgbClr val="254FEB"/>
                </a:solidFill>
                <a:latin typeface="黑体"/>
                <a:ea typeface="黑体"/>
                <a:cs typeface="黑体"/>
              </a:defRPr>
            </a:pPr>
            <a:r>
              <a:rPr sz="2600" b="1">
                <a:solidFill>
                  <a:srgbClr val="254FEB"/>
                </a:solidFill>
                <a:latin typeface="黑体"/>
                <a:ea typeface="黑体"/>
                <a:cs typeface="黑体"/>
              </a:rPr>
              <a:t>3.2 两层策略更新的耦合与训练控制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B60C753-5C52-46EC-91C5-885612CAD4F6}"/>
              </a:ext>
            </a:extLst>
          </p:cNvPr>
          <p:cNvSpPr>
            <a:spLocks noGrp="1"/>
          </p:cNvSpPr>
          <p:nvPr/>
        </p:nvSpPr>
        <p:spPr>
          <a:xfrm>
            <a:off x="619125" y="1438275"/>
            <a:ext cx="1095375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250" b="1">
                <a:solidFill>
                  <a:srgbClr val="14213A"/>
                </a:solidFill>
                <a:latin typeface="黑体"/>
                <a:ea typeface="黑体"/>
                <a:cs typeface="黑体"/>
              </a:defRPr>
            </a:pPr>
            <a:r>
              <a:rPr sz="2250" b="1" dirty="0" err="1">
                <a:solidFill>
                  <a:srgbClr val="14213A"/>
                </a:solidFill>
                <a:latin typeface="黑体"/>
                <a:ea typeface="黑体"/>
                <a:cs typeface="黑体"/>
              </a:rPr>
              <a:t>高层改变低层输入分布，低层分配又改变下一轮状态和奖励</a:t>
            </a:r>
            <a:endParaRPr sz="2250" b="1" dirty="0">
              <a:solidFill>
                <a:srgbClr val="14213A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2C4EDED-B791-4171-9B66-951104E21B49}"/>
              </a:ext>
            </a:extLst>
          </p:cNvPr>
          <p:cNvSpPr>
            <a:spLocks noGrp="1"/>
          </p:cNvSpPr>
          <p:nvPr/>
        </p:nvSpPr>
        <p:spPr>
          <a:xfrm>
            <a:off x="619125" y="6257925"/>
            <a:ext cx="10953750" cy="371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0">
                <a:solidFill>
                  <a:srgbClr val="53657D"/>
                </a:solidFill>
                <a:latin typeface="黑体"/>
                <a:ea typeface="黑体"/>
                <a:cs typeface="黑体"/>
              </a:defRPr>
            </a:pPr>
            <a:r>
              <a:rPr sz="1275" b="0">
                <a:solidFill>
                  <a:srgbClr val="53657D"/>
                </a:solidFill>
                <a:latin typeface="黑体"/>
                <a:ea typeface="黑体"/>
                <a:cs typeface="黑体"/>
              </a:rPr>
              <a:t>说明书第 2.2.2、5.2 节；algorithms/phases.py、ppo.py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82C09DB-94AF-4E1B-A724-90F0BAAB53DF}"/>
              </a:ext>
            </a:extLst>
          </p:cNvPr>
          <p:cNvSpPr>
            <a:spLocks noGrp="1"/>
          </p:cNvSpPr>
          <p:nvPr/>
        </p:nvSpPr>
        <p:spPr>
          <a:xfrm>
            <a:off x="619125" y="2162175"/>
            <a:ext cx="10953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025" b="1">
                <a:solidFill>
                  <a:srgbClr val="B74444"/>
                </a:solidFill>
                <a:latin typeface="黑体"/>
                <a:ea typeface="黑体"/>
                <a:cs typeface="黑体"/>
              </a:defRPr>
            </a:pPr>
            <a:r>
              <a:rPr sz="2025" b="1" dirty="0" err="1">
                <a:solidFill>
                  <a:srgbClr val="B74444"/>
                </a:solidFill>
                <a:latin typeface="黑体"/>
                <a:ea typeface="黑体"/>
                <a:cs typeface="黑体"/>
              </a:rPr>
              <a:t>风险：采样与更新策略不一致，或冻结层仍发生状态变化</a:t>
            </a:r>
            <a:endParaRPr sz="2025" b="1" dirty="0">
              <a:solidFill>
                <a:srgbClr val="B74444"/>
              </a:solidFill>
              <a:latin typeface="黑体"/>
              <a:ea typeface="黑体"/>
              <a:cs typeface="黑体"/>
            </a:endParaRPr>
          </a:p>
        </p:txBody>
      </p:sp>
      <p:graphicFrame>
        <p:nvGraphicFramePr>
          <p:cNvPr id="12" name="表格 11"/>
          <p:cNvGraphicFramePr/>
          <p:nvPr/>
        </p:nvGraphicFramePr>
        <p:xfrm>
          <a:off x="619125" y="2800350"/>
          <a:ext cx="10953750" cy="1943100"/>
        </p:xfrm>
        <a:graphic>
          <a:graphicData uri="http://schemas.openxmlformats.org/drawingml/2006/table">
            <a:tbl>
              <a:tblPr/>
              <a:tblGrid>
                <a:gridCol w="323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训练阶段</a:t>
                      </a:r>
                    </a:p>
                  </a:txBody>
                  <a:tcPr marL="114300" marR="95250" marT="76200" marB="76200" anchor="ctr">
                    <a:solidFill>
                      <a:srgbClr val="254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动作来源</a:t>
                      </a:r>
                    </a:p>
                  </a:txBody>
                  <a:tcPr marL="114300" marR="95250" marT="76200" marB="76200" anchor="ctr">
                    <a:solidFill>
                      <a:srgbClr val="254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参数更新</a:t>
                      </a:r>
                    </a:p>
                  </a:txBody>
                  <a:tcPr marL="114300" marR="95250" marT="76200" marB="76200" anchor="ctr">
                    <a:solidFill>
                      <a:srgbClr val="254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前 864 episodes</a:t>
                      </a:r>
                    </a:p>
                  </a:txBody>
                  <a:tcPr marL="11430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高层 PPO，低层固定最小 EFT</a:t>
                      </a:r>
                    </a:p>
                  </a:txBody>
                  <a:tcPr marL="11430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只更新高层</a:t>
                      </a:r>
                    </a:p>
                  </a:txBody>
                  <a:tcPr marL="114300" marR="9525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后 1728 episodes</a:t>
                      </a:r>
                    </a:p>
                  </a:txBody>
                  <a:tcPr marL="114300" marR="95250" marT="76200" marB="76200" anchor="ctr">
                    <a:solidFill>
                      <a:srgbClr val="E7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高层与低层分别由 PPO 采样</a:t>
                      </a:r>
                    </a:p>
                  </a:txBody>
                  <a:tcPr marL="114300" marR="95250" marT="76200" marB="76200" anchor="ctr">
                    <a:solidFill>
                      <a:srgbClr val="E7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分别更新两层</a:t>
                      </a:r>
                    </a:p>
                  </a:txBody>
                  <a:tcPr marL="114300" marR="95250" marT="76200" marB="76200" anchor="ctr">
                    <a:solidFill>
                      <a:srgbClr val="E7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F277BD1D-CD15-4687-857C-5044C54BB794}"/>
              </a:ext>
            </a:extLst>
          </p:cNvPr>
          <p:cNvSpPr>
            <a:spLocks noGrp="1"/>
          </p:cNvSpPr>
          <p:nvPr/>
        </p:nvSpPr>
        <p:spPr>
          <a:xfrm>
            <a:off x="619125" y="4933950"/>
            <a:ext cx="1095375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950" b="1">
                <a:solidFill>
                  <a:srgbClr val="254FEB"/>
                </a:solidFill>
                <a:latin typeface="黑体"/>
                <a:ea typeface="黑体"/>
                <a:cs typeface="黑体"/>
              </a:defRPr>
            </a:pPr>
            <a:r>
              <a:rPr sz="1950" b="1">
                <a:solidFill>
                  <a:srgbClr val="254FEB"/>
                </a:solidFill>
                <a:latin typeface="黑体"/>
                <a:ea typeface="黑体"/>
                <a:cs typeface="黑体"/>
              </a:rPr>
              <a:t>措施：采样时保存 mask，更新复用原可行域；冻结梯度、模式与调度器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6D3A89E-69DC-4836-B9C6-14CEC8738E63}"/>
              </a:ext>
            </a:extLst>
          </p:cNvPr>
          <p:cNvSpPr>
            <a:spLocks noGrp="1"/>
          </p:cNvSpPr>
          <p:nvPr/>
        </p:nvSpPr>
        <p:spPr>
          <a:xfrm>
            <a:off x="619125" y="5619750"/>
            <a:ext cx="10953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0">
                <a:solidFill>
                  <a:srgbClr val="14213A"/>
                </a:solidFill>
                <a:latin typeface="黑体"/>
                <a:ea typeface="黑体"/>
                <a:cs typeface="黑体"/>
              </a:defRPr>
            </a:pPr>
            <a:r>
              <a:rPr sz="1875" b="0">
                <a:solidFill>
                  <a:srgbClr val="14213A"/>
                </a:solidFill>
                <a:latin typeface="黑体"/>
                <a:ea typeface="黑体"/>
                <a:cs typeface="黑体"/>
              </a:rPr>
              <a:t>核验：冻结参数保持不变，活动层发生更新；验证选模保留 step 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0C059082-3490-4EA6-885B-332C59FFA6CA}"/>
              </a:ext>
            </a:extLst>
          </p:cNvPr>
          <p:cNvSpPr>
            <a:spLocks noGrp="1"/>
          </p:cNvSpPr>
          <p:nvPr/>
        </p:nvSpPr>
        <p:spPr>
          <a:xfrm>
            <a:off x="523875" y="533400"/>
            <a:ext cx="109537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00" b="1">
                <a:solidFill>
                  <a:srgbClr val="254FEB"/>
                </a:solidFill>
                <a:latin typeface="黑体"/>
                <a:ea typeface="黑体"/>
                <a:cs typeface="黑体"/>
              </a:defRPr>
            </a:pPr>
            <a:r>
              <a:rPr sz="2600" b="1">
                <a:solidFill>
                  <a:srgbClr val="254FEB"/>
                </a:solidFill>
                <a:latin typeface="黑体"/>
                <a:ea typeface="黑体"/>
                <a:cs typeface="黑体"/>
              </a:rPr>
              <a:t>3.3 搜索分支状态污染与前缀缓存一致性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F609B6B-E1FB-41F0-86B6-EF1A406AE4F2}"/>
              </a:ext>
            </a:extLst>
          </p:cNvPr>
          <p:cNvSpPr>
            <a:spLocks noGrp="1"/>
          </p:cNvSpPr>
          <p:nvPr/>
        </p:nvSpPr>
        <p:spPr>
          <a:xfrm>
            <a:off x="619125" y="1438275"/>
            <a:ext cx="1095375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250" b="1">
                <a:solidFill>
                  <a:srgbClr val="14213A"/>
                </a:solidFill>
                <a:latin typeface="黑体"/>
                <a:ea typeface="黑体"/>
                <a:cs typeface="黑体"/>
              </a:defRPr>
            </a:pPr>
            <a:r>
              <a:rPr sz="2250" b="1">
                <a:solidFill>
                  <a:srgbClr val="14213A"/>
                </a:solidFill>
                <a:latin typeface="黑体"/>
                <a:ea typeface="黑体"/>
                <a:cs typeface="黑体"/>
              </a:rPr>
              <a:t>共享可变时间线会改变兄弟候选，导致比较结果依赖搜索顺序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00E2C16-0BA5-45C0-A1C2-61E6A90C8FA6}"/>
              </a:ext>
            </a:extLst>
          </p:cNvPr>
          <p:cNvSpPr>
            <a:spLocks noGrp="1"/>
          </p:cNvSpPr>
          <p:nvPr/>
        </p:nvSpPr>
        <p:spPr>
          <a:xfrm>
            <a:off x="619125" y="6257925"/>
            <a:ext cx="10953750" cy="371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0">
                <a:solidFill>
                  <a:srgbClr val="53657D"/>
                </a:solidFill>
                <a:latin typeface="黑体"/>
                <a:ea typeface="黑体"/>
                <a:cs typeface="黑体"/>
              </a:defRPr>
            </a:pPr>
            <a:r>
              <a:rPr sz="1275" b="0">
                <a:solidFill>
                  <a:srgbClr val="53657D"/>
                </a:solidFill>
                <a:latin typeface="黑体"/>
                <a:ea typeface="黑体"/>
                <a:cs typeface="黑体"/>
              </a:rPr>
              <a:t>说明书第 5.3 节；simulator.py:clone，test_simulator.py 与 test_advanced_search.py</a:t>
            </a:r>
          </a:p>
        </p:txBody>
      </p:sp>
      <p:graphicFrame>
        <p:nvGraphicFramePr>
          <p:cNvPr id="10" name="表格 9"/>
          <p:cNvGraphicFramePr/>
          <p:nvPr/>
        </p:nvGraphicFramePr>
        <p:xfrm>
          <a:off x="619125" y="2238375"/>
          <a:ext cx="10953750" cy="2659380"/>
        </p:xfrm>
        <a:graphic>
          <a:graphicData uri="http://schemas.openxmlformats.org/drawingml/2006/table">
            <a:tbl>
              <a:tblPr/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3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状态对象</a:t>
                      </a:r>
                    </a:p>
                  </a:txBody>
                  <a:tcPr marL="114300" marR="95250" marT="76200" marB="76200" anchor="ctr">
                    <a:solidFill>
                      <a:srgbClr val="254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直接共享可变状态的后果</a:t>
                      </a:r>
                    </a:p>
                  </a:txBody>
                  <a:tcPr marL="114300" marR="95250" marT="76200" marB="76200" anchor="ctr">
                    <a:solidFill>
                      <a:srgbClr val="254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本项目处理</a:t>
                      </a:r>
                    </a:p>
                  </a:txBody>
                  <a:tcPr marL="114300" marR="95250" marT="76200" marB="76200" anchor="ctr">
                    <a:solidFill>
                      <a:srgbClr val="254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节点时间线、任务放置表</a:t>
                      </a:r>
                    </a:p>
                  </a:txBody>
                  <a:tcPr marL="11430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分支 A 的放置改变父状态与分支 B</a:t>
                      </a:r>
                    </a:p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排队时间与候选评分受到污染</a:t>
                      </a:r>
                    </a:p>
                  </a:txBody>
                  <a:tcPr marL="11430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clone 复制每条时间线及放置表</a:t>
                      </a:r>
                    </a:p>
                  </a:txBody>
                  <a:tcPr marL="114300" marR="9525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就绪集合、决策顺序</a:t>
                      </a:r>
                    </a:p>
                  </a:txBody>
                  <a:tcPr marL="114300" marR="95250" marT="76200" marB="76200" anchor="ctr">
                    <a:solidFill>
                      <a:srgbClr val="E7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已放置状态传播到其他分支</a:t>
                      </a:r>
                    </a:p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候选不再独立生成</a:t>
                      </a:r>
                    </a:p>
                  </a:txBody>
                  <a:tcPr marL="114300" marR="95250" marT="76200" marB="76200" anchor="ctr">
                    <a:solidFill>
                      <a:srgbClr val="E7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复制集合和顺序，静态矩阵共享</a:t>
                      </a:r>
                    </a:p>
                  </a:txBody>
                  <a:tcPr marL="114300" marR="95250" marT="76200" marB="76200" anchor="ctr">
                    <a:solidFill>
                      <a:srgbClr val="E7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同深度的前缀快照</a:t>
                      </a:r>
                    </a:p>
                  </a:txBody>
                  <a:tcPr marL="11430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跨父候选复用得到错误的已有调度</a:t>
                      </a:r>
                    </a:p>
                  </a:txBody>
                  <a:tcPr marL="11430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切换父候选清空并重建快照</a:t>
                      </a:r>
                    </a:p>
                  </a:txBody>
                  <a:tcPr marL="114300" marR="9525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70DF81B6-B9AF-41C3-A68B-F058A3C71C50}"/>
              </a:ext>
            </a:extLst>
          </p:cNvPr>
          <p:cNvSpPr>
            <a:spLocks noGrp="1"/>
          </p:cNvSpPr>
          <p:nvPr/>
        </p:nvSpPr>
        <p:spPr>
          <a:xfrm>
            <a:off x="619125" y="4914900"/>
            <a:ext cx="10953750" cy="704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650" b="0">
                <a:solidFill>
                  <a:srgbClr val="00899B"/>
                </a:solidFill>
                <a:latin typeface="黑体"/>
                <a:ea typeface="黑体"/>
                <a:cs typeface="黑体"/>
              </a:defRPr>
            </a:pPr>
            <a:r>
              <a:rPr sz="1650" b="0" dirty="0" err="1">
                <a:solidFill>
                  <a:srgbClr val="00899B"/>
                </a:solidFill>
                <a:latin typeface="黑体"/>
                <a:ea typeface="黑体"/>
                <a:cs typeface="黑体"/>
              </a:rPr>
              <a:t>duplicate.entries</a:t>
            </a:r>
            <a:r>
              <a:rPr sz="1650" b="0" dirty="0">
                <a:solidFill>
                  <a:srgbClr val="00899B"/>
                </a:solidFill>
                <a:latin typeface="黑体"/>
                <a:ea typeface="黑体"/>
                <a:cs typeface="黑体"/>
              </a:rPr>
              <a:t> = </a:t>
            </a:r>
            <a:r>
              <a:rPr sz="1650" b="0" dirty="0" err="1">
                <a:solidFill>
                  <a:srgbClr val="00899B"/>
                </a:solidFill>
                <a:latin typeface="黑体"/>
                <a:ea typeface="黑体"/>
                <a:cs typeface="黑体"/>
              </a:rPr>
              <a:t>dict</a:t>
            </a:r>
            <a:r>
              <a:rPr sz="1650" b="0" dirty="0">
                <a:solidFill>
                  <a:srgbClr val="00899B"/>
                </a:solidFill>
                <a:latin typeface="黑体"/>
                <a:ea typeface="黑体"/>
                <a:cs typeface="黑体"/>
              </a:rPr>
              <a:t>(</a:t>
            </a:r>
            <a:r>
              <a:rPr sz="1650" b="0" dirty="0" err="1">
                <a:solidFill>
                  <a:srgbClr val="00899B"/>
                </a:solidFill>
                <a:latin typeface="黑体"/>
                <a:ea typeface="黑体"/>
                <a:cs typeface="黑体"/>
              </a:rPr>
              <a:t>self.entries</a:t>
            </a:r>
            <a:r>
              <a:rPr sz="1650" b="0" dirty="0">
                <a:solidFill>
                  <a:srgbClr val="00899B"/>
                </a:solidFill>
                <a:latin typeface="黑体"/>
                <a:ea typeface="黑体"/>
                <a:cs typeface="黑体"/>
              </a:rPr>
              <a:t>)</a:t>
            </a:r>
          </a:p>
          <a:p>
            <a:pPr algn="l">
              <a:defRPr sz="1650" b="0">
                <a:solidFill>
                  <a:srgbClr val="00899B"/>
                </a:solidFill>
                <a:latin typeface="黑体"/>
                <a:ea typeface="黑体"/>
                <a:cs typeface="黑体"/>
              </a:defRPr>
            </a:pPr>
            <a:r>
              <a:rPr sz="1650" b="0" dirty="0" err="1">
                <a:solidFill>
                  <a:srgbClr val="00899B"/>
                </a:solidFill>
                <a:latin typeface="黑体"/>
                <a:ea typeface="黑体"/>
                <a:cs typeface="黑体"/>
              </a:rPr>
              <a:t>duplicate.node_timelines</a:t>
            </a:r>
            <a:r>
              <a:rPr sz="1650" b="0" dirty="0">
                <a:solidFill>
                  <a:srgbClr val="00899B"/>
                </a:solidFill>
                <a:latin typeface="黑体"/>
                <a:ea typeface="黑体"/>
                <a:cs typeface="黑体"/>
              </a:rPr>
              <a:t> = [list(timeline) for timeline in </a:t>
            </a:r>
            <a:r>
              <a:rPr sz="1650" b="0" dirty="0" err="1">
                <a:solidFill>
                  <a:srgbClr val="00899B"/>
                </a:solidFill>
                <a:latin typeface="黑体"/>
                <a:ea typeface="黑体"/>
                <a:cs typeface="黑体"/>
              </a:rPr>
              <a:t>self.node_timelines</a:t>
            </a:r>
            <a:r>
              <a:rPr sz="1650" b="0" dirty="0">
                <a:solidFill>
                  <a:srgbClr val="00899B"/>
                </a:solidFill>
                <a:latin typeface="黑体"/>
                <a:ea typeface="黑体"/>
                <a:cs typeface="黑体"/>
              </a:rPr>
              <a:t>]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D5C30B7-0CF2-4587-97EE-8F3E38ADA493}"/>
              </a:ext>
            </a:extLst>
          </p:cNvPr>
          <p:cNvSpPr>
            <a:spLocks noGrp="1"/>
          </p:cNvSpPr>
          <p:nvPr/>
        </p:nvSpPr>
        <p:spPr>
          <a:xfrm>
            <a:off x="619125" y="5753100"/>
            <a:ext cx="1095375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254FEB"/>
                </a:solidFill>
                <a:latin typeface="黑体"/>
                <a:ea typeface="黑体"/>
                <a:cs typeface="黑体"/>
              </a:defRPr>
            </a:pPr>
            <a:r>
              <a:rPr sz="1875" b="1">
                <a:solidFill>
                  <a:srgbClr val="254FEB"/>
                </a:solidFill>
                <a:latin typeface="黑体"/>
                <a:ea typeface="黑体"/>
                <a:cs typeface="黑体"/>
              </a:rPr>
              <a:t>验证：分支放置不改变父状态，缓存开关保持完整候选与最优结果一致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9BEB405A-2D77-498B-B07B-E4BBB554F5D2}"/>
              </a:ext>
            </a:extLst>
          </p:cNvPr>
          <p:cNvSpPr>
            <a:spLocks noGrp="1"/>
          </p:cNvSpPr>
          <p:nvPr/>
        </p:nvSpPr>
        <p:spPr>
          <a:xfrm>
            <a:off x="523875" y="533400"/>
            <a:ext cx="109537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00" b="1">
                <a:solidFill>
                  <a:srgbClr val="254FEB"/>
                </a:solidFill>
                <a:latin typeface="黑体"/>
                <a:ea typeface="黑体"/>
                <a:cs typeface="黑体"/>
              </a:defRPr>
            </a:pPr>
            <a:r>
              <a:rPr sz="2600" b="1">
                <a:solidFill>
                  <a:srgbClr val="254FEB"/>
                </a:solidFill>
                <a:latin typeface="黑体"/>
                <a:ea typeface="黑体"/>
                <a:cs typeface="黑体"/>
              </a:rPr>
              <a:t>3.4 通信代价形成的单任务迁移障碍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5AF6A20-03B9-4964-9C38-6B27B2EF5916}"/>
              </a:ext>
            </a:extLst>
          </p:cNvPr>
          <p:cNvSpPr>
            <a:spLocks noGrp="1"/>
          </p:cNvSpPr>
          <p:nvPr/>
        </p:nvSpPr>
        <p:spPr>
          <a:xfrm>
            <a:off x="619125" y="1438275"/>
            <a:ext cx="1095375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250" b="1">
                <a:solidFill>
                  <a:srgbClr val="14213A"/>
                </a:solidFill>
                <a:latin typeface="黑体"/>
                <a:ea typeface="黑体"/>
                <a:cs typeface="黑体"/>
              </a:defRPr>
            </a:pPr>
            <a:r>
              <a:rPr sz="2250" b="1">
                <a:solidFill>
                  <a:srgbClr val="14213A"/>
                </a:solidFill>
                <a:latin typeface="黑体"/>
                <a:ea typeface="黑体"/>
                <a:cs typeface="黑体"/>
              </a:rPr>
              <a:t>逐任务迁移都变差时，短关键块共同迁移仍可能改善完成时间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2D1CB33-B82D-4BEE-82C3-32E59E76FC45}"/>
              </a:ext>
            </a:extLst>
          </p:cNvPr>
          <p:cNvSpPr>
            <a:spLocks noGrp="1"/>
          </p:cNvSpPr>
          <p:nvPr/>
        </p:nvSpPr>
        <p:spPr>
          <a:xfrm>
            <a:off x="619125" y="6257925"/>
            <a:ext cx="10953750" cy="371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0">
                <a:solidFill>
                  <a:srgbClr val="53657D"/>
                </a:solidFill>
                <a:latin typeface="黑体"/>
                <a:ea typeface="黑体"/>
                <a:cs typeface="黑体"/>
              </a:defRPr>
            </a:pPr>
            <a:r>
              <a:rPr sz="1275" b="0">
                <a:solidFill>
                  <a:srgbClr val="53657D"/>
                </a:solidFill>
                <a:latin typeface="黑体"/>
                <a:ea typeface="黑体"/>
                <a:cs typeface="黑体"/>
              </a:rPr>
              <a:t>src/tests/test_advanced_search.py：test_joint_block_move_crosses_single_task_barrier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49E6205-ACC7-419B-A6ED-FB33E3A5BCE5}"/>
              </a:ext>
            </a:extLst>
          </p:cNvPr>
          <p:cNvSpPr>
            <a:spLocks noGrp="1"/>
          </p:cNvSpPr>
          <p:nvPr/>
        </p:nvSpPr>
        <p:spPr>
          <a:xfrm>
            <a:off x="619125" y="2209800"/>
            <a:ext cx="5095875" cy="1266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025" b="0">
                <a:solidFill>
                  <a:srgbClr val="14213A"/>
                </a:solidFill>
                <a:latin typeface="黑体"/>
                <a:ea typeface="黑体"/>
                <a:cs typeface="黑体"/>
              </a:defRPr>
            </a:pPr>
            <a:r>
              <a:rPr sz="2025" b="0">
                <a:solidFill>
                  <a:srgbClr val="14213A"/>
                </a:solidFill>
                <a:latin typeface="黑体"/>
                <a:ea typeface="黑体"/>
                <a:cs typeface="黑体"/>
              </a:rPr>
              <a:t>最小案例：a 依赖到 b，工作量 4 / 2</a:t>
            </a:r>
          </a:p>
          <a:p>
            <a:pPr algn="l">
              <a:defRPr sz="2025" b="0">
                <a:solidFill>
                  <a:srgbClr val="14213A"/>
                </a:solidFill>
                <a:latin typeface="黑体"/>
                <a:ea typeface="黑体"/>
                <a:cs typeface="黑体"/>
              </a:defRPr>
            </a:pPr>
            <a:r>
              <a:rPr sz="2025" b="0">
                <a:solidFill>
                  <a:srgbClr val="14213A"/>
                </a:solidFill>
                <a:latin typeface="黑体"/>
                <a:ea typeface="黑体"/>
                <a:cs typeface="黑体"/>
              </a:rPr>
              <a:t>慢节点速度 1，快节点速度 2</a:t>
            </a:r>
          </a:p>
          <a:p>
            <a:pPr algn="l">
              <a:defRPr sz="2025" b="0">
                <a:solidFill>
                  <a:srgbClr val="14213A"/>
                </a:solidFill>
                <a:latin typeface="黑体"/>
                <a:ea typeface="黑体"/>
                <a:cs typeface="黑体"/>
              </a:defRPr>
            </a:pPr>
            <a:r>
              <a:rPr sz="2025" b="0">
                <a:solidFill>
                  <a:srgbClr val="14213A"/>
                </a:solidFill>
                <a:latin typeface="黑体"/>
                <a:ea typeface="黑体"/>
                <a:cs typeface="黑体"/>
              </a:rPr>
              <a:t>跨节点传输需要 10 个模拟时间单位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2B50C9C-5829-464E-B57E-5E41F55303CF}"/>
              </a:ext>
            </a:extLst>
          </p:cNvPr>
          <p:cNvSpPr>
            <a:spLocks noGrp="1"/>
          </p:cNvSpPr>
          <p:nvPr/>
        </p:nvSpPr>
        <p:spPr>
          <a:xfrm>
            <a:off x="619125" y="3743325"/>
            <a:ext cx="49530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B74444"/>
                </a:solidFill>
                <a:latin typeface="黑体"/>
                <a:ea typeface="黑体"/>
                <a:cs typeface="黑体"/>
              </a:defRPr>
            </a:pPr>
            <a:r>
              <a:rPr sz="2100" b="1">
                <a:solidFill>
                  <a:srgbClr val="B74444"/>
                </a:solidFill>
                <a:latin typeface="黑体"/>
                <a:ea typeface="黑体"/>
                <a:cs typeface="黑体"/>
              </a:rPr>
              <a:t>局部障碍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7586813-BBFB-46F0-AC86-80931E8784E7}"/>
              </a:ext>
            </a:extLst>
          </p:cNvPr>
          <p:cNvSpPr>
            <a:spLocks noGrp="1"/>
          </p:cNvSpPr>
          <p:nvPr/>
        </p:nvSpPr>
        <p:spPr>
          <a:xfrm>
            <a:off x="619125" y="4200525"/>
            <a:ext cx="5095875" cy="8286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025" b="0">
                <a:solidFill>
                  <a:srgbClr val="14213A"/>
                </a:solidFill>
                <a:latin typeface="黑体"/>
                <a:ea typeface="黑体"/>
                <a:cs typeface="黑体"/>
              </a:defRPr>
            </a:pPr>
            <a:r>
              <a:rPr sz="2025" b="0">
                <a:solidFill>
                  <a:srgbClr val="14213A"/>
                </a:solidFill>
                <a:latin typeface="黑体"/>
                <a:ea typeface="黑体"/>
                <a:cs typeface="黑体"/>
              </a:rPr>
              <a:t>只迁移 a 或 b 都引入大量通信</a:t>
            </a:r>
          </a:p>
          <a:p>
            <a:pPr algn="l">
              <a:defRPr sz="2025" b="0">
                <a:solidFill>
                  <a:srgbClr val="14213A"/>
                </a:solidFill>
                <a:latin typeface="黑体"/>
                <a:ea typeface="黑体"/>
                <a:cs typeface="黑体"/>
              </a:defRPr>
            </a:pPr>
            <a:r>
              <a:rPr sz="2025" b="0">
                <a:solidFill>
                  <a:srgbClr val="14213A"/>
                </a:solidFill>
                <a:latin typeface="黑体"/>
                <a:ea typeface="黑体"/>
                <a:cs typeface="黑体"/>
              </a:rPr>
              <a:t>逐任务改动无法离开当前方案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E9CA76F-0E1A-4B5C-9500-68B83C19D75E}"/>
              </a:ext>
            </a:extLst>
          </p:cNvPr>
          <p:cNvSpPr>
            <a:spLocks noGrp="1"/>
          </p:cNvSpPr>
          <p:nvPr/>
        </p:nvSpPr>
        <p:spPr>
          <a:xfrm>
            <a:off x="619125" y="5257800"/>
            <a:ext cx="5238750" cy="771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254FEB"/>
                </a:solidFill>
                <a:latin typeface="黑体"/>
                <a:ea typeface="黑体"/>
                <a:cs typeface="黑体"/>
              </a:defRPr>
            </a:pPr>
            <a:r>
              <a:rPr sz="1875" b="1">
                <a:solidFill>
                  <a:srgbClr val="254FEB"/>
                </a:solidFill>
                <a:latin typeface="黑体"/>
                <a:ea typeface="黑体"/>
                <a:cs typeface="黑体"/>
              </a:rPr>
              <a:t>解决：沿实际关键链尝试短块共同迁移</a:t>
            </a:r>
          </a:p>
          <a:p>
            <a:pPr algn="l">
              <a:defRPr sz="1875" b="1">
                <a:solidFill>
                  <a:srgbClr val="254FEB"/>
                </a:solidFill>
                <a:latin typeface="黑体"/>
                <a:ea typeface="黑体"/>
                <a:cs typeface="黑体"/>
              </a:defRPr>
            </a:pPr>
            <a:r>
              <a:rPr sz="1875" b="1">
                <a:solidFill>
                  <a:srgbClr val="254FEB"/>
                </a:solidFill>
                <a:latin typeface="黑体"/>
                <a:ea typeface="黑体"/>
                <a:cs typeface="黑体"/>
              </a:rPr>
              <a:t>满足共同可行节点后，精确重放完整调度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="6191250" y="2209800"/>
          <a:ext cx="5381625" cy="3571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4B4EF3D0-B8B5-445C-BAEF-7173818911F2}"/>
              </a:ext>
            </a:extLst>
          </p:cNvPr>
          <p:cNvSpPr>
            <a:spLocks noGrp="1"/>
          </p:cNvSpPr>
          <p:nvPr/>
        </p:nvSpPr>
        <p:spPr>
          <a:xfrm>
            <a:off x="6334125" y="5867400"/>
            <a:ext cx="5191125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00" b="0">
                <a:solidFill>
                  <a:srgbClr val="53657D"/>
                </a:solidFill>
                <a:latin typeface="黑体"/>
                <a:ea typeface="黑体"/>
                <a:cs typeface="黑体"/>
              </a:defRPr>
            </a:pPr>
            <a:r>
              <a:rPr sz="1500" b="0">
                <a:solidFill>
                  <a:srgbClr val="53657D"/>
                </a:solidFill>
                <a:latin typeface="黑体"/>
                <a:ea typeface="黑体"/>
                <a:cs typeface="黑体"/>
              </a:rPr>
              <a:t>这是机制验证案例，不代表全验证集改善比例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/>
              <a:t>项目测试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4C7E02CC-CFC6-462F-9BC2-6890EAEA2B24}"/>
              </a:ext>
            </a:extLst>
          </p:cNvPr>
          <p:cNvSpPr>
            <a:spLocks noGrp="1"/>
          </p:cNvSpPr>
          <p:nvPr/>
        </p:nvSpPr>
        <p:spPr>
          <a:xfrm>
            <a:off x="523875" y="533400"/>
            <a:ext cx="109537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00" b="1">
                <a:solidFill>
                  <a:srgbClr val="254FEB"/>
                </a:solidFill>
                <a:latin typeface="黑体"/>
                <a:ea typeface="黑体"/>
                <a:cs typeface="黑体"/>
              </a:defRPr>
            </a:pPr>
            <a:r>
              <a:rPr sz="2600" b="1">
                <a:solidFill>
                  <a:srgbClr val="254FEB"/>
                </a:solidFill>
                <a:latin typeface="黑体"/>
                <a:ea typeface="黑体"/>
                <a:cs typeface="黑体"/>
              </a:rPr>
              <a:t>4.1 数据划分与同场景比较协议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57A681C-5D95-4B8F-BF02-F998129BFA91}"/>
              </a:ext>
            </a:extLst>
          </p:cNvPr>
          <p:cNvSpPr>
            <a:spLocks noGrp="1"/>
          </p:cNvSpPr>
          <p:nvPr/>
        </p:nvSpPr>
        <p:spPr>
          <a:xfrm>
            <a:off x="619125" y="1438275"/>
            <a:ext cx="1095375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250" b="1">
                <a:solidFill>
                  <a:srgbClr val="14213A"/>
                </a:solidFill>
                <a:latin typeface="黑体"/>
                <a:ea typeface="黑体"/>
                <a:cs typeface="黑体"/>
              </a:defRPr>
            </a:pPr>
            <a:r>
              <a:rPr sz="2250" b="1">
                <a:solidFill>
                  <a:srgbClr val="14213A"/>
                </a:solidFill>
                <a:latin typeface="黑体"/>
                <a:ea typeface="黑体"/>
                <a:cs typeface="黑体"/>
              </a:rPr>
              <a:t>按基础 DAG 隔离数据，同一环境与同一目标比较方法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09AB4B0-542C-4410-97EE-F30CD86E2953}"/>
              </a:ext>
            </a:extLst>
          </p:cNvPr>
          <p:cNvSpPr>
            <a:spLocks noGrp="1"/>
          </p:cNvSpPr>
          <p:nvPr/>
        </p:nvSpPr>
        <p:spPr>
          <a:xfrm>
            <a:off x="619125" y="6257925"/>
            <a:ext cx="10953750" cy="371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0">
                <a:solidFill>
                  <a:srgbClr val="53657D"/>
                </a:solidFill>
                <a:latin typeface="黑体"/>
                <a:ea typeface="黑体"/>
                <a:cs typeface="黑体"/>
              </a:defRPr>
            </a:pPr>
            <a:r>
              <a:rPr sz="1275" b="0" dirty="0" err="1">
                <a:solidFill>
                  <a:srgbClr val="53657D"/>
                </a:solidFill>
                <a:latin typeface="黑体"/>
                <a:ea typeface="黑体"/>
                <a:cs typeface="黑体"/>
              </a:rPr>
              <a:t>说明书第</a:t>
            </a:r>
            <a:r>
              <a:rPr sz="1275" b="0" dirty="0">
                <a:solidFill>
                  <a:srgbClr val="53657D"/>
                </a:solidFill>
                <a:latin typeface="黑体"/>
                <a:ea typeface="黑体"/>
                <a:cs typeface="黑体"/>
              </a:rPr>
              <a:t> 4.1 节；split_manifest、training_budget.csv、models/graph_baselines.py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879C205-89FC-4C0E-905B-254164559018}"/>
              </a:ext>
            </a:extLst>
          </p:cNvPr>
          <p:cNvSpPr>
            <a:spLocks noGrp="1"/>
          </p:cNvSpPr>
          <p:nvPr/>
        </p:nvSpPr>
        <p:spPr>
          <a:xfrm>
            <a:off x="619125" y="21431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950" b="0">
                <a:solidFill>
                  <a:srgbClr val="14213A"/>
                </a:solidFill>
                <a:latin typeface="黑体"/>
                <a:ea typeface="黑体"/>
                <a:cs typeface="黑体"/>
              </a:defRPr>
            </a:pPr>
            <a:r>
              <a:rPr sz="1950" b="0">
                <a:solidFill>
                  <a:srgbClr val="14213A"/>
                </a:solidFill>
                <a:latin typeface="黑体"/>
                <a:ea typeface="黑体"/>
                <a:cs typeface="黑体"/>
              </a:rPr>
              <a:t>训练 432 基础 DAG / 864 场景，验证 54 基础 DAG / 108 场景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3BC1F6A-A845-44E6-B888-0BBC62C94082}"/>
              </a:ext>
            </a:extLst>
          </p:cNvPr>
          <p:cNvSpPr>
            <a:spLocks noGrp="1"/>
          </p:cNvSpPr>
          <p:nvPr/>
        </p:nvSpPr>
        <p:spPr>
          <a:xfrm>
            <a:off x="619125" y="2609850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950" b="0">
                <a:solidFill>
                  <a:srgbClr val="14213A"/>
                </a:solidFill>
                <a:latin typeface="黑体"/>
                <a:ea typeface="黑体"/>
                <a:cs typeface="黑体"/>
              </a:defRPr>
            </a:pPr>
            <a:r>
              <a:rPr sz="1950" b="0">
                <a:solidFill>
                  <a:srgbClr val="14213A"/>
                </a:solidFill>
                <a:latin typeface="黑体"/>
                <a:ea typeface="黑体"/>
                <a:cs typeface="黑体"/>
              </a:rPr>
              <a:t>50、100、300 任务，同构与异构资源；种子 2026、2027、2028</a:t>
            </a:r>
          </a:p>
        </p:txBody>
      </p:sp>
      <p:graphicFrame>
        <p:nvGraphicFramePr>
          <p:cNvPr id="13" name="表格 12"/>
          <p:cNvGraphicFramePr/>
          <p:nvPr/>
        </p:nvGraphicFramePr>
        <p:xfrm>
          <a:off x="619125" y="3200400"/>
          <a:ext cx="10953750" cy="2466975"/>
        </p:xfrm>
        <a:graphic>
          <a:graphicData uri="http://schemas.openxmlformats.org/drawingml/2006/table">
            <a:tbl>
              <a:tblPr/>
              <a:tblGrid>
                <a:gridCol w="3000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62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339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比较方法</a:t>
                      </a:r>
                    </a:p>
                  </a:txBody>
                  <a:tcPr marL="114300" marR="95250" marT="76200" marB="76200" anchor="ctr">
                    <a:solidFill>
                      <a:srgbClr val="254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决策方式</a:t>
                      </a:r>
                    </a:p>
                  </a:txBody>
                  <a:tcPr marL="114300" marR="95250" marT="76200" marB="76200" anchor="ctr">
                    <a:solidFill>
                      <a:srgbClr val="254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黑体"/>
                          <a:ea typeface="黑体"/>
                          <a:cs typeface="黑体"/>
                        </a:rPr>
                        <a:t>评分条件</a:t>
                      </a:r>
                    </a:p>
                  </a:txBody>
                  <a:tcPr marL="114300" marR="95250" marT="76200" marB="76200" anchor="ctr">
                    <a:solidFill>
                      <a:srgbClr val="254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39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HEFT</a:t>
                      </a:r>
                    </a:p>
                  </a:txBody>
                  <a:tcPr marL="11430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rank 排序，最小 EFT 节点选择</a:t>
                      </a:r>
                    </a:p>
                  </a:txBody>
                  <a:tcPr marL="11430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同一 Scenario 与执行通信模型</a:t>
                      </a:r>
                    </a:p>
                  </a:txBody>
                  <a:tcPr marL="114300" marR="9525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39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GraphPPO / TierMAPPO</a:t>
                      </a:r>
                    </a:p>
                  </a:txBody>
                  <a:tcPr marL="114300" marR="95250" marT="76200" marB="76200" anchor="ctr">
                    <a:solidFill>
                      <a:srgbClr val="E7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本项目适配的图学习比较策略</a:t>
                      </a:r>
                    </a:p>
                  </a:txBody>
                  <a:tcPr marL="114300" marR="95250" marT="76200" marB="76200" anchor="ctr">
                    <a:solidFill>
                      <a:srgbClr val="E7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同一动作约束和插入时间线</a:t>
                      </a:r>
                    </a:p>
                  </a:txBody>
                  <a:tcPr marL="114300" marR="95250" marT="76200" marB="76200" anchor="ctr">
                    <a:solidFill>
                      <a:srgbClr val="E7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39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纯 HRL</a:t>
                      </a:r>
                    </a:p>
                  </a:txBody>
                  <a:tcPr marL="11430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高层任务选择，低层节点分配</a:t>
                      </a:r>
                    </a:p>
                  </a:txBody>
                  <a:tcPr marL="11430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同一 HEFT 归一化分母</a:t>
                      </a:r>
                    </a:p>
                  </a:txBody>
                  <a:tcPr marL="114300" marR="9525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39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独立搜索 / 三候选组合</a:t>
                      </a:r>
                    </a:p>
                  </a:txBody>
                  <a:tcPr marL="114300" marR="95250" marT="76200" marB="76200" anchor="ctr">
                    <a:solidFill>
                      <a:srgbClr val="E7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完整候选搜索、校验与选择</a:t>
                      </a:r>
                    </a:p>
                  </a:txBody>
                  <a:tcPr marL="114300" marR="95250" marT="76200" marB="76200" anchor="ctr">
                    <a:solidFill>
                      <a:srgbClr val="E7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13A"/>
                          </a:solidFill>
                          <a:latin typeface="黑体"/>
                          <a:ea typeface="黑体"/>
                          <a:cs typeface="黑体"/>
                        </a:rPr>
                        <a:t>CPU 单线程，计入候选求解成本</a:t>
                      </a:r>
                    </a:p>
                  </a:txBody>
                  <a:tcPr marL="114300" marR="95250" marT="76200" marB="76200" anchor="ctr">
                    <a:solidFill>
                      <a:srgbClr val="E7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5FE0ED6D-6882-4960-AEFD-9B70D491B08A}"/>
              </a:ext>
            </a:extLst>
          </p:cNvPr>
          <p:cNvSpPr>
            <a:spLocks noGrp="1"/>
          </p:cNvSpPr>
          <p:nvPr/>
        </p:nvSpPr>
        <p:spPr>
          <a:xfrm>
            <a:off x="619125" y="5810250"/>
            <a:ext cx="10953750" cy="390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1">
                <a:solidFill>
                  <a:srgbClr val="254FEB"/>
                </a:solidFill>
                <a:latin typeface="黑体"/>
                <a:ea typeface="黑体"/>
                <a:cs typeface="黑体"/>
              </a:defRPr>
            </a:pPr>
            <a:r>
              <a:rPr sz="1800" b="1" dirty="0" err="1">
                <a:solidFill>
                  <a:srgbClr val="254FEB"/>
                </a:solidFill>
                <a:latin typeface="黑体"/>
                <a:ea typeface="黑体"/>
                <a:cs typeface="黑体"/>
              </a:rPr>
              <a:t>每模型每种子</a:t>
            </a:r>
            <a:r>
              <a:rPr sz="1800" b="1" dirty="0">
                <a:solidFill>
                  <a:srgbClr val="254FEB"/>
                </a:solidFill>
                <a:latin typeface="黑体"/>
                <a:ea typeface="黑体"/>
                <a:cs typeface="黑体"/>
              </a:rPr>
              <a:t> 2592 episodes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28923" y="522637"/>
            <a:ext cx="7624477" cy="491490"/>
          </a:xfrm>
          <a:prstGeom prst="rect">
            <a:avLst/>
          </a:prstGeom>
          <a:noFill/>
          <a:ln>
            <a:noFill/>
          </a:ln>
        </p:spPr>
        <p:txBody>
          <a:bodyPr wrap="none" lIns="91440" tIns="80586" rIns="0" bIns="0" anchor="t" anchorCtr="0">
            <a:noAutofit/>
          </a:bodyPr>
          <a:lstStyle/>
          <a:p>
            <a:pPr algn="l"/>
            <a:r>
              <a:rPr lang="zh-CN" sz="2600" b="1" dirty="0">
                <a:solidFill>
                  <a:srgbClr val="254FEB"/>
                </a:solidFill>
                <a:latin typeface="黑体"/>
                <a:ea typeface="Microsoft YaHei"/>
                <a:cs typeface="黑体"/>
              </a:rPr>
              <a:t>4.2 总体性能与计算代价</a:t>
            </a:r>
          </a:p>
        </p:txBody>
      </p:sp>
      <p:grpSp>
        <p:nvGrpSpPr>
          <p:cNvPr id="7" name="test-lead"/>
          <p:cNvGrpSpPr/>
          <p:nvPr/>
        </p:nvGrpSpPr>
        <p:grpSpPr>
          <a:xfrm>
            <a:off x="607314" y="1473041"/>
            <a:ext cx="7648099" cy="454724"/>
            <a:chOff x="607314" y="1473041"/>
            <a:chExt cx="7648099" cy="454724"/>
          </a:xfrm>
        </p:grpSpPr>
        <p:sp>
          <p:nvSpPr>
            <p:cNvPr id="6" name="TextBox 6"/>
            <p:cNvSpPr/>
            <p:nvPr/>
          </p:nvSpPr>
          <p:spPr>
            <a:xfrm>
              <a:off x="607314" y="1473041"/>
              <a:ext cx="7648099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zh-CN" sz="2320" b="1" dirty="0">
                  <a:solidFill>
                    <a:srgbClr val="14213A"/>
                  </a:solidFill>
                  <a:latin typeface="黑体"/>
                  <a:ea typeface="Microsoft YaHei"/>
                  <a:cs typeface="黑体"/>
                </a:rPr>
                <a:t>三候选组合 mean_ratio 降低约 8.18%，主要来自搜索</a:t>
              </a:r>
            </a:p>
          </p:txBody>
        </p:sp>
      </p:grpSp>
      <p:graphicFrame>
        <p:nvGraphicFramePr>
          <p:cNvPr id="8" name="performance"/>
          <p:cNvGraphicFramePr>
            <a:graphicFrameLocks noGrp="1"/>
          </p:cNvGraphicFramePr>
          <p:nvPr/>
        </p:nvGraphicFramePr>
        <p:xfrm>
          <a:off x="619125" y="2143125"/>
          <a:ext cx="10858500" cy="27146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29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2925">
                <a:tc>
                  <a:txBody>
                    <a:bodyPr/>
                    <a:lstStyle/>
                    <a:p>
                      <a:r>
                        <a:rPr lang="zh-CN" sz="1950" b="1">
                          <a:solidFill>
                            <a:srgbClr val="FFFFFF"/>
                          </a:solidFill>
                        </a:rPr>
                        <a:t>方法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254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950" b="1">
                          <a:solidFill>
                            <a:srgbClr val="FFFFFF"/>
                          </a:solidFill>
                        </a:rPr>
                        <a:t>mean_ratio ± 跨种子标准差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254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950" b="1">
                          <a:solidFill>
                            <a:srgbClr val="FFFFFF"/>
                          </a:solidFill>
                        </a:rPr>
                        <a:t>CPU 推理秒/场景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254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lang="en-US" sz="1950" b="1">
                          <a:solidFill>
                            <a:srgbClr val="14213A"/>
                          </a:solidFill>
                        </a:rPr>
                        <a:t>HEFT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950" b="0" dirty="0">
                          <a:solidFill>
                            <a:srgbClr val="14213A"/>
                          </a:solidFill>
                        </a:rPr>
                        <a:t>1.000000 ± 0.000000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950" b="0">
                          <a:solidFill>
                            <a:srgbClr val="14213A"/>
                          </a:solidFill>
                        </a:rPr>
                        <a:t>0.175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lang="zh-CN" sz="1950" b="1">
                          <a:solidFill>
                            <a:srgbClr val="14213A"/>
                          </a:solidFill>
                        </a:rPr>
                        <a:t>Graph PPO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950" b="0">
                          <a:solidFill>
                            <a:srgbClr val="14213A"/>
                          </a:solidFill>
                        </a:rPr>
                        <a:t>1.029373 ± 0.011873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950" b="0">
                          <a:solidFill>
                            <a:srgbClr val="14213A"/>
                          </a:solidFill>
                        </a:rPr>
                        <a:t>0.821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lang="zh-CN" sz="1950" b="1">
                          <a:solidFill>
                            <a:srgbClr val="14213A"/>
                          </a:solidFill>
                        </a:rPr>
                        <a:t>Tier MAPPO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950" b="0" dirty="0">
                          <a:solidFill>
                            <a:srgbClr val="14213A"/>
                          </a:solidFill>
                        </a:rPr>
                        <a:t>1.097279 ± 0.017729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950" b="0">
                          <a:solidFill>
                            <a:srgbClr val="14213A"/>
                          </a:solidFill>
                        </a:rPr>
                        <a:t>1.060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lang="zh-CN" sz="1950" b="1">
                          <a:solidFill>
                            <a:srgbClr val="14213A"/>
                          </a:solidFill>
                        </a:rPr>
                        <a:t>三候选组合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950" b="0" dirty="0">
                          <a:solidFill>
                            <a:srgbClr val="14213A"/>
                          </a:solidFill>
                        </a:rPr>
                        <a:t>0.918223 ± 0.000498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950" b="0" dirty="0">
                          <a:solidFill>
                            <a:srgbClr val="14213A"/>
                          </a:solidFill>
                        </a:rPr>
                        <a:t>5.297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1" name="test-scope"/>
          <p:cNvGrpSpPr/>
          <p:nvPr/>
        </p:nvGrpSpPr>
        <p:grpSpPr>
          <a:xfrm>
            <a:off x="609981" y="5206365"/>
            <a:ext cx="6926809" cy="630936"/>
            <a:chOff x="609981" y="5206365"/>
            <a:chExt cx="6926809" cy="630936"/>
          </a:xfrm>
        </p:grpSpPr>
        <p:sp>
          <p:nvSpPr>
            <p:cNvPr id="9" name="TextBox 9"/>
            <p:cNvSpPr txBox="1"/>
            <p:nvPr/>
          </p:nvSpPr>
          <p:spPr>
            <a:xfrm>
              <a:off x="609981" y="5206365"/>
              <a:ext cx="67329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213A"/>
                  </a:solidFill>
                  <a:latin typeface="黑体"/>
                  <a:ea typeface="Microsoft YaHei"/>
                  <a:cs typeface="黑体"/>
                </a:rPr>
                <a:t>3 种子复用同一 108 验证场景 / 54 基础 DAG；验证集参与选模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9981" y="5485257"/>
              <a:ext cx="69268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213A"/>
                  </a:solidFill>
                  <a:latin typeface="黑体"/>
                  <a:ea typeface="Microsoft YaHei"/>
                  <a:cs typeface="黑体"/>
                </a:rPr>
                <a:t>HRL 额外严格增益仅来自 seed 2026 的 2 个场景；组合推理更慢</a:t>
              </a:r>
            </a:p>
          </p:txBody>
        </p:sp>
      </p:grpSp>
      <p:grpSp>
        <p:nvGrpSpPr>
          <p:cNvPr id="14" name="evidence"/>
          <p:cNvGrpSpPr/>
          <p:nvPr/>
        </p:nvGrpSpPr>
        <p:grpSpPr>
          <a:xfrm>
            <a:off x="612267" y="6093142"/>
            <a:ext cx="8737092" cy="473203"/>
            <a:chOff x="612267" y="6093142"/>
            <a:chExt cx="8737092" cy="473203"/>
          </a:xfrm>
        </p:grpSpPr>
        <p:sp>
          <p:nvSpPr>
            <p:cNvPr id="12" name="TextBox 12"/>
            <p:cNvSpPr txBox="1"/>
            <p:nvPr/>
          </p:nvSpPr>
          <p:spPr>
            <a:xfrm>
              <a:off x="612267" y="6093142"/>
              <a:ext cx="73199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3657D"/>
                  </a:solidFill>
                  <a:latin typeface="黑体"/>
                  <a:ea typeface="Microsoft YaHei"/>
                  <a:cs typeface="黑体"/>
                </a:rPr>
                <a:t>mean_ratio = 逐场景 makespan / HEFT makespan 的均值；推理耗时包含全部候选与重放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12267" y="6302312"/>
              <a:ext cx="87370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3657D"/>
                  </a:solidFill>
                  <a:latin typeface="黑体"/>
                  <a:ea typeface="Microsoft YaHei"/>
                  <a:cs typeface="黑体"/>
                </a:rPr>
                <a:t>来源：tests/results/multiseed_20260925_122243/mean_std.csv、hybrid_attribution_by_seed.csv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3F2FFB3E-DECC-40AE-A95C-7919AD051C15}"/>
              </a:ext>
            </a:extLst>
          </p:cNvPr>
          <p:cNvSpPr>
            <a:spLocks noGrp="1"/>
          </p:cNvSpPr>
          <p:nvPr/>
        </p:nvSpPr>
        <p:spPr>
          <a:xfrm>
            <a:off x="523875" y="533400"/>
            <a:ext cx="109537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00" b="1">
                <a:solidFill>
                  <a:srgbClr val="254FEB"/>
                </a:solidFill>
                <a:latin typeface="黑体"/>
                <a:ea typeface="黑体"/>
                <a:cs typeface="黑体"/>
              </a:defRPr>
            </a:pPr>
            <a:r>
              <a:rPr sz="2600" b="1">
                <a:solidFill>
                  <a:srgbClr val="254FEB"/>
                </a:solidFill>
                <a:latin typeface="黑体"/>
                <a:ea typeface="黑体"/>
                <a:cs typeface="黑体"/>
              </a:rPr>
              <a:t>4.3 任务规模与资源分组结果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F0F751D-26EA-4DC5-9EFA-991281E62806}"/>
              </a:ext>
            </a:extLst>
          </p:cNvPr>
          <p:cNvSpPr>
            <a:spLocks noGrp="1"/>
          </p:cNvSpPr>
          <p:nvPr/>
        </p:nvSpPr>
        <p:spPr>
          <a:xfrm>
            <a:off x="619125" y="1438275"/>
            <a:ext cx="1095375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250" b="1">
                <a:solidFill>
                  <a:srgbClr val="14213A"/>
                </a:solidFill>
                <a:latin typeface="黑体"/>
                <a:ea typeface="黑体"/>
                <a:cs typeface="黑体"/>
              </a:defRPr>
            </a:pPr>
            <a:r>
              <a:rPr sz="2250" b="1">
                <a:solidFill>
                  <a:srgbClr val="14213A"/>
                </a:solidFill>
                <a:latin typeface="黑体"/>
                <a:ea typeface="黑体"/>
                <a:cs typeface="黑体"/>
              </a:rPr>
              <a:t>当前验证集的收益主要集中在异构资源配置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0E2D295-2688-4573-B95A-7AB2FB15B229}"/>
              </a:ext>
            </a:extLst>
          </p:cNvPr>
          <p:cNvSpPr>
            <a:spLocks noGrp="1"/>
          </p:cNvSpPr>
          <p:nvPr/>
        </p:nvSpPr>
        <p:spPr>
          <a:xfrm>
            <a:off x="619125" y="6257925"/>
            <a:ext cx="10953750" cy="371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0">
                <a:solidFill>
                  <a:srgbClr val="53657D"/>
                </a:solidFill>
                <a:latin typeface="黑体"/>
                <a:ea typeface="黑体"/>
                <a:cs typeface="黑体"/>
              </a:defRPr>
            </a:pPr>
            <a:r>
              <a:rPr sz="1275" b="0">
                <a:solidFill>
                  <a:srgbClr val="53657D"/>
                </a:solidFill>
                <a:latin typeface="黑体"/>
                <a:ea typeface="黑体"/>
                <a:cs typeface="黑体"/>
              </a:rPr>
              <a:t>说明书表 4-6、4-7：三种子组内均值的平均；指标越小越好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="571500" y="2171700"/>
          <a:ext cx="5429250" cy="3257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Chart"/>
          <p:cNvGraphicFramePr/>
          <p:nvPr/>
        </p:nvGraphicFramePr>
        <p:xfrm>
          <a:off x="6286500" y="2171700"/>
          <a:ext cx="5286375" cy="3257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3964907A-9967-48E3-BB26-ED66FD91D08C}"/>
              </a:ext>
            </a:extLst>
          </p:cNvPr>
          <p:cNvSpPr>
            <a:spLocks noGrp="1"/>
          </p:cNvSpPr>
          <p:nvPr/>
        </p:nvSpPr>
        <p:spPr>
          <a:xfrm>
            <a:off x="619125" y="5581650"/>
            <a:ext cx="1085850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025" b="1">
                <a:solidFill>
                  <a:srgbClr val="254FEB"/>
                </a:solidFill>
                <a:latin typeface="黑体"/>
                <a:ea typeface="黑体"/>
                <a:cs typeface="黑体"/>
              </a:defRPr>
            </a:pPr>
            <a:r>
              <a:rPr sz="2025" b="1">
                <a:solidFill>
                  <a:srgbClr val="254FEB"/>
                </a:solidFill>
                <a:latin typeface="黑体"/>
                <a:ea typeface="黑体"/>
                <a:cs typeface="黑体"/>
              </a:rPr>
              <a:t>同构降低约 0.28%，异构降低约 16.07%（均相对 HEFT）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572205E5-E8A6-4D2B-97A8-76152C15D90A}"/>
              </a:ext>
            </a:extLst>
          </p:cNvPr>
          <p:cNvSpPr>
            <a:spLocks noGrp="1"/>
          </p:cNvSpPr>
          <p:nvPr/>
        </p:nvSpPr>
        <p:spPr>
          <a:xfrm>
            <a:off x="523875" y="533400"/>
            <a:ext cx="109537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00" b="1">
                <a:solidFill>
                  <a:srgbClr val="254FEB"/>
                </a:solidFill>
                <a:latin typeface="黑体"/>
                <a:ea typeface="黑体"/>
                <a:cs typeface="黑体"/>
              </a:defRPr>
            </a:pPr>
            <a:r>
              <a:rPr sz="2600" b="1">
                <a:solidFill>
                  <a:srgbClr val="254FEB"/>
                </a:solidFill>
                <a:latin typeface="黑体"/>
                <a:ea typeface="黑体"/>
                <a:cs typeface="黑体"/>
              </a:rPr>
              <a:t>4.4 HRL 训练过程与检查点选择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FE30E46-588F-495A-8B9C-3800E3D9FC6D}"/>
              </a:ext>
            </a:extLst>
          </p:cNvPr>
          <p:cNvSpPr>
            <a:spLocks noGrp="1"/>
          </p:cNvSpPr>
          <p:nvPr/>
        </p:nvSpPr>
        <p:spPr>
          <a:xfrm>
            <a:off x="619125" y="1438275"/>
            <a:ext cx="1095375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250" b="1">
                <a:solidFill>
                  <a:srgbClr val="14213A"/>
                </a:solidFill>
                <a:latin typeface="黑体"/>
                <a:ea typeface="黑体"/>
                <a:cs typeface="黑体"/>
              </a:defRPr>
            </a:pPr>
            <a:r>
              <a:rPr sz="2250" b="1">
                <a:solidFill>
                  <a:srgbClr val="14213A"/>
                </a:solidFill>
                <a:latin typeface="黑体"/>
                <a:ea typeface="黑体"/>
                <a:cs typeface="黑体"/>
              </a:rPr>
              <a:t>正式训练完成，但三个种子的末轮结果均差于初始模型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8B6105A-E92E-4120-B889-06CDB3345E83}"/>
              </a:ext>
            </a:extLst>
          </p:cNvPr>
          <p:cNvSpPr>
            <a:spLocks noGrp="1"/>
          </p:cNvSpPr>
          <p:nvPr/>
        </p:nvSpPr>
        <p:spPr>
          <a:xfrm>
            <a:off x="619125" y="6257925"/>
            <a:ext cx="10953750" cy="371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0">
                <a:solidFill>
                  <a:srgbClr val="53657D"/>
                </a:solidFill>
                <a:latin typeface="黑体"/>
                <a:ea typeface="黑体"/>
                <a:cs typeface="黑体"/>
              </a:defRPr>
            </a:pPr>
            <a:r>
              <a:rPr sz="1275" b="0">
                <a:solidFill>
                  <a:srgbClr val="53657D"/>
                </a:solidFill>
                <a:latin typeface="黑体"/>
                <a:ea typeface="黑体"/>
                <a:cs typeface="黑体"/>
              </a:rPr>
              <a:t>hrl_validation_history.csv；说明书表 4-8；纵轴为 validation mean_ratio，越小越好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="571500" y="2219325"/>
          <a:ext cx="7524750" cy="3524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332A4708-9B54-480C-8030-8FA3D5FEE844}"/>
              </a:ext>
            </a:extLst>
          </p:cNvPr>
          <p:cNvSpPr>
            <a:spLocks noGrp="1"/>
          </p:cNvSpPr>
          <p:nvPr/>
        </p:nvSpPr>
        <p:spPr>
          <a:xfrm>
            <a:off x="8572500" y="2390775"/>
            <a:ext cx="295275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254FEB"/>
                </a:solidFill>
                <a:latin typeface="黑体"/>
                <a:ea typeface="黑体"/>
                <a:cs typeface="黑体"/>
              </a:defRPr>
            </a:pPr>
            <a:r>
              <a:rPr sz="2100" b="1">
                <a:solidFill>
                  <a:srgbClr val="254FEB"/>
                </a:solidFill>
                <a:latin typeface="黑体"/>
                <a:ea typeface="黑体"/>
                <a:cs typeface="黑体"/>
              </a:rPr>
              <a:t>最佳检查点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67DD482-E440-4508-9E4E-E075950675AF}"/>
              </a:ext>
            </a:extLst>
          </p:cNvPr>
          <p:cNvSpPr>
            <a:spLocks noGrp="1"/>
          </p:cNvSpPr>
          <p:nvPr/>
        </p:nvSpPr>
        <p:spPr>
          <a:xfrm>
            <a:off x="8572500" y="2981325"/>
            <a:ext cx="2905125" cy="1428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025" b="0">
                <a:solidFill>
                  <a:srgbClr val="14213A"/>
                </a:solidFill>
                <a:latin typeface="黑体"/>
                <a:ea typeface="黑体"/>
                <a:cs typeface="黑体"/>
              </a:defRPr>
            </a:pPr>
            <a:r>
              <a:rPr sz="2025" b="0">
                <a:solidFill>
                  <a:srgbClr val="14213A"/>
                </a:solidFill>
                <a:latin typeface="黑体"/>
                <a:ea typeface="黑体"/>
                <a:cs typeface="黑体"/>
              </a:rPr>
              <a:t>seed 2026：step 864</a:t>
            </a:r>
          </a:p>
          <a:p>
            <a:pPr algn="l">
              <a:defRPr sz="2025" b="0">
                <a:solidFill>
                  <a:srgbClr val="14213A"/>
                </a:solidFill>
                <a:latin typeface="黑体"/>
                <a:ea typeface="黑体"/>
                <a:cs typeface="黑体"/>
              </a:defRPr>
            </a:pPr>
            <a:r>
              <a:rPr sz="2025" b="0">
                <a:solidFill>
                  <a:srgbClr val="14213A"/>
                </a:solidFill>
                <a:latin typeface="黑体"/>
                <a:ea typeface="黑体"/>
                <a:cs typeface="黑体"/>
              </a:rPr>
              <a:t>seed 2027：step 0</a:t>
            </a:r>
          </a:p>
          <a:p>
            <a:pPr algn="l">
              <a:defRPr sz="2025" b="0">
                <a:solidFill>
                  <a:srgbClr val="14213A"/>
                </a:solidFill>
                <a:latin typeface="黑体"/>
                <a:ea typeface="黑体"/>
                <a:cs typeface="黑体"/>
              </a:defRPr>
            </a:pPr>
            <a:r>
              <a:rPr sz="2025" b="0">
                <a:solidFill>
                  <a:srgbClr val="14213A"/>
                </a:solidFill>
                <a:latin typeface="黑体"/>
                <a:ea typeface="黑体"/>
                <a:cs typeface="黑体"/>
              </a:rPr>
              <a:t>seed 2028：step 0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62396DD-4DB9-4E96-9FE5-58956A219B9D}"/>
              </a:ext>
            </a:extLst>
          </p:cNvPr>
          <p:cNvSpPr>
            <a:spLocks noGrp="1"/>
          </p:cNvSpPr>
          <p:nvPr/>
        </p:nvSpPr>
        <p:spPr>
          <a:xfrm>
            <a:off x="8572500" y="4724400"/>
            <a:ext cx="2924175" cy="1085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0">
                <a:solidFill>
                  <a:srgbClr val="14213A"/>
                </a:solidFill>
                <a:latin typeface="黑体"/>
                <a:ea typeface="黑体"/>
                <a:cs typeface="黑体"/>
              </a:defRPr>
            </a:pPr>
            <a:r>
              <a:rPr sz="1875" b="0">
                <a:solidFill>
                  <a:srgbClr val="14213A"/>
                </a:solidFill>
                <a:latin typeface="黑体"/>
                <a:ea typeface="黑体"/>
                <a:cs typeface="黑体"/>
              </a:rPr>
              <a:t>后续先诊断更新耦合与策略偏移</a:t>
            </a:r>
          </a:p>
          <a:p>
            <a:pPr algn="l">
              <a:defRPr sz="1875" b="0">
                <a:solidFill>
                  <a:srgbClr val="14213A"/>
                </a:solidFill>
                <a:latin typeface="黑体"/>
                <a:ea typeface="黑体"/>
                <a:cs typeface="黑体"/>
              </a:defRPr>
            </a:pPr>
            <a:r>
              <a:rPr sz="1875" b="0">
                <a:solidFill>
                  <a:srgbClr val="14213A"/>
                </a:solidFill>
                <a:latin typeface="黑体"/>
                <a:ea typeface="黑体"/>
                <a:cs typeface="黑体"/>
              </a:rPr>
              <a:t>再决定是否扩大训练预算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1A7A431-E3F5-4A85-BD0C-4AB99501ACCB}"/>
              </a:ext>
            </a:extLst>
          </p:cNvPr>
          <p:cNvSpPr>
            <a:spLocks noGrp="1"/>
          </p:cNvSpPr>
          <p:nvPr/>
        </p:nvSpPr>
        <p:spPr>
          <a:xfrm>
            <a:off x="619125" y="5810250"/>
            <a:ext cx="10858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254FEB"/>
                </a:solidFill>
                <a:latin typeface="黑体"/>
                <a:ea typeface="黑体"/>
                <a:cs typeface="黑体"/>
              </a:defRPr>
            </a:pPr>
            <a:r>
              <a:rPr sz="1875" b="1">
                <a:solidFill>
                  <a:srgbClr val="254FEB"/>
                </a:solidFill>
                <a:latin typeface="黑体"/>
                <a:ea typeface="黑体"/>
                <a:cs typeface="黑体"/>
              </a:rPr>
              <a:t>保留初始与最佳检查点，避免末轮权重覆盖已观测的较好方案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28923" y="522637"/>
            <a:ext cx="7624477" cy="491490"/>
          </a:xfrm>
          <a:prstGeom prst="rect">
            <a:avLst/>
          </a:prstGeom>
          <a:noFill/>
          <a:ln>
            <a:noFill/>
          </a:ln>
        </p:spPr>
        <p:txBody>
          <a:bodyPr wrap="none" lIns="91440" tIns="80586" rIns="0" bIns="0" anchor="t" anchorCtr="0">
            <a:noAutofit/>
          </a:bodyPr>
          <a:lstStyle/>
          <a:p>
            <a:pPr algn="l"/>
            <a:r>
              <a:rPr lang="zh-CN" sz="2600" b="1" dirty="0">
                <a:solidFill>
                  <a:srgbClr val="254FEB"/>
                </a:solidFill>
                <a:latin typeface="黑体"/>
                <a:ea typeface="Microsoft YaHei"/>
                <a:cs typeface="黑体"/>
              </a:rPr>
              <a:t>4.5 组件贡献与收益归因</a:t>
            </a:r>
          </a:p>
        </p:txBody>
      </p:sp>
      <p:graphicFrame>
        <p:nvGraphicFramePr>
          <p:cNvPr id="8" name="attribution-comparison"/>
          <p:cNvGraphicFramePr>
            <a:graphicFrameLocks noGrp="1"/>
          </p:cNvGraphicFramePr>
          <p:nvPr/>
        </p:nvGraphicFramePr>
        <p:xfrm>
          <a:off x="619125" y="2981325"/>
          <a:ext cx="10858500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4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r>
                        <a:rPr lang="zh-CN" sz="1880" b="1">
                          <a:solidFill>
                            <a:srgbClr val="FFFFFF"/>
                          </a:solidFill>
                        </a:rPr>
                        <a:t>组件方法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254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80" b="1">
                          <a:solidFill>
                            <a:srgbClr val="FFFFFF"/>
                          </a:solidFill>
                        </a:rPr>
                        <a:t>mean_ratio ± 跨种子标准差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254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80" b="1">
                          <a:solidFill>
                            <a:srgbClr val="FFFFFF"/>
                          </a:solidFill>
                        </a:rPr>
                        <a:t>CPU 秒/场景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254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lang="zh-CN" sz="1880" b="1">
                          <a:solidFill>
                            <a:srgbClr val="14213A"/>
                          </a:solidFill>
                        </a:rPr>
                        <a:t>纯 HRL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80" b="0">
                          <a:solidFill>
                            <a:srgbClr val="14213A"/>
                          </a:solidFill>
                        </a:rPr>
                        <a:t>0.999058 ± 0.001472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80" b="0">
                          <a:solidFill>
                            <a:srgbClr val="14213A"/>
                          </a:solidFill>
                        </a:rPr>
                        <a:t>0.262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lang="zh-CN" sz="1880" b="1">
                          <a:solidFill>
                            <a:srgbClr val="14213A"/>
                          </a:solidFill>
                        </a:rPr>
                        <a:t>独立搜索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80" b="0">
                          <a:solidFill>
                            <a:srgbClr val="14213A"/>
                          </a:solidFill>
                        </a:rPr>
                        <a:t>0.918239 ± 0.000518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80" b="0">
                          <a:solidFill>
                            <a:srgbClr val="14213A"/>
                          </a:solidFill>
                        </a:rPr>
                        <a:t>4.435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lang="zh-CN" sz="1880" b="1">
                          <a:solidFill>
                            <a:srgbClr val="14213A"/>
                          </a:solidFill>
                        </a:rPr>
                        <a:t>三候选组合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80" b="0">
                          <a:solidFill>
                            <a:srgbClr val="14213A"/>
                          </a:solidFill>
                        </a:rPr>
                        <a:t>0.918223 ± 0.000498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80" b="0">
                          <a:solidFill>
                            <a:srgbClr val="14213A"/>
                          </a:solidFill>
                        </a:rPr>
                        <a:t>5.297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5" name="attribution-text-0"/>
          <p:cNvGrpSpPr/>
          <p:nvPr/>
        </p:nvGrpSpPr>
        <p:grpSpPr>
          <a:xfrm>
            <a:off x="607314" y="1501616"/>
            <a:ext cx="6894627" cy="454724"/>
            <a:chOff x="607314" y="1501616"/>
            <a:chExt cx="6894627" cy="454724"/>
          </a:xfrm>
        </p:grpSpPr>
        <p:sp>
          <p:nvSpPr>
            <p:cNvPr id="4" name="TextBox 4"/>
            <p:cNvSpPr txBox="1"/>
            <p:nvPr/>
          </p:nvSpPr>
          <p:spPr>
            <a:xfrm>
              <a:off x="607314" y="1501616"/>
              <a:ext cx="6894627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320" b="1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主要改善来自搜索，学习增量与推理成本仍需优化</a:t>
              </a:r>
            </a:p>
          </p:txBody>
        </p:sp>
      </p:grpSp>
      <p:grpSp>
        <p:nvGrpSpPr>
          <p:cNvPr id="7" name="attribution-text-1"/>
          <p:cNvGrpSpPr/>
          <p:nvPr/>
        </p:nvGrpSpPr>
        <p:grpSpPr>
          <a:xfrm>
            <a:off x="609981" y="2063115"/>
            <a:ext cx="8555711" cy="352044"/>
            <a:chOff x="609981" y="2063115"/>
            <a:chExt cx="8555711" cy="352044"/>
          </a:xfrm>
        </p:grpSpPr>
        <p:sp>
          <p:nvSpPr>
            <p:cNvPr id="6" name="TextBox 6"/>
            <p:cNvSpPr txBox="1"/>
            <p:nvPr/>
          </p:nvSpPr>
          <p:spPr>
            <a:xfrm>
              <a:off x="609981" y="2063115"/>
              <a:ext cx="85557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3 种子；各学习模型每种子 2592 episodes、384900 次任务决策，训练预算一致</a:t>
              </a:r>
            </a:p>
          </p:txBody>
        </p:sp>
      </p:grpSp>
      <p:grpSp>
        <p:nvGrpSpPr>
          <p:cNvPr id="10" name="attribution-text-2"/>
          <p:cNvGrpSpPr/>
          <p:nvPr/>
        </p:nvGrpSpPr>
        <p:grpSpPr>
          <a:xfrm>
            <a:off x="609981" y="2425065"/>
            <a:ext cx="8376623" cy="352044"/>
            <a:chOff x="609981" y="2425065"/>
            <a:chExt cx="8376623" cy="352044"/>
          </a:xfrm>
        </p:grpSpPr>
        <p:sp>
          <p:nvSpPr>
            <p:cNvPr id="9" name="TextBox 9"/>
            <p:cNvSpPr txBox="1"/>
            <p:nvPr/>
          </p:nvSpPr>
          <p:spPr>
            <a:xfrm>
              <a:off x="609981" y="2425065"/>
              <a:ext cx="837662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同一 108 验证场景 / 54 基础 DAG；ratio = 场景 makespan / HEFT makespan</a:t>
              </a:r>
            </a:p>
          </p:txBody>
        </p:sp>
      </p:grpSp>
      <p:grpSp>
        <p:nvGrpSpPr>
          <p:cNvPr id="12" name="attribution-text-3"/>
          <p:cNvGrpSpPr/>
          <p:nvPr/>
        </p:nvGrpSpPr>
        <p:grpSpPr>
          <a:xfrm>
            <a:off x="609981" y="5168265"/>
            <a:ext cx="7206957" cy="352044"/>
            <a:chOff x="609981" y="5168265"/>
            <a:chExt cx="7206957" cy="352044"/>
          </a:xfrm>
        </p:grpSpPr>
        <p:sp>
          <p:nvSpPr>
            <p:cNvPr id="11" name="TextBox 11"/>
            <p:cNvSpPr txBox="1"/>
            <p:nvPr/>
          </p:nvSpPr>
          <p:spPr>
            <a:xfrm>
              <a:off x="609981" y="5168265"/>
              <a:ext cx="72069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每种子相对 HEFT：106 场景改善、0 退化、2 持平；全部调度合法</a:t>
              </a:r>
            </a:p>
          </p:txBody>
        </p:sp>
      </p:grpSp>
      <p:grpSp>
        <p:nvGrpSpPr>
          <p:cNvPr id="14" name="attribution-text-4"/>
          <p:cNvGrpSpPr/>
          <p:nvPr/>
        </p:nvGrpSpPr>
        <p:grpSpPr>
          <a:xfrm>
            <a:off x="609981" y="5539740"/>
            <a:ext cx="9340855" cy="352044"/>
            <a:chOff x="609981" y="5539740"/>
            <a:chExt cx="9340855" cy="352044"/>
          </a:xfrm>
        </p:grpSpPr>
        <p:sp>
          <p:nvSpPr>
            <p:cNvPr id="13" name="TextBox 13"/>
            <p:cNvSpPr txBox="1"/>
            <p:nvPr/>
          </p:nvSpPr>
          <p:spPr>
            <a:xfrm>
              <a:off x="609981" y="5539740"/>
              <a:ext cx="934085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HRL 比搜索的额外改善仅来自 seed 2026 的 2 个场景，平均增量约 0.001603 个百分点</a:t>
              </a:r>
            </a:p>
          </p:txBody>
        </p:sp>
      </p:grpSp>
      <p:grpSp>
        <p:nvGrpSpPr>
          <p:cNvPr id="16" name="attribution-text-5"/>
          <p:cNvGrpSpPr/>
          <p:nvPr/>
        </p:nvGrpSpPr>
        <p:grpSpPr>
          <a:xfrm>
            <a:off x="609981" y="5911215"/>
            <a:ext cx="6601384" cy="352044"/>
            <a:chOff x="609981" y="5911215"/>
            <a:chExt cx="6601384" cy="352044"/>
          </a:xfrm>
        </p:grpSpPr>
        <p:sp>
          <p:nvSpPr>
            <p:cNvPr id="15" name="TextBox 15"/>
            <p:cNvSpPr txBox="1"/>
            <p:nvPr/>
          </p:nvSpPr>
          <p:spPr>
            <a:xfrm>
              <a:off x="609981" y="5911215"/>
              <a:ext cx="66013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验证集同时用于选模与报告，当前结论尚无独立 test 泛化证据</a:t>
              </a:r>
            </a:p>
          </p:txBody>
        </p:sp>
      </p:grpSp>
      <p:grpSp>
        <p:nvGrpSpPr>
          <p:cNvPr id="18" name="attribution-text-6"/>
          <p:cNvGrpSpPr/>
          <p:nvPr/>
        </p:nvGrpSpPr>
        <p:grpSpPr>
          <a:xfrm>
            <a:off x="612267" y="6331268"/>
            <a:ext cx="8571021" cy="264033"/>
            <a:chOff x="612267" y="6331268"/>
            <a:chExt cx="8571021" cy="264033"/>
          </a:xfrm>
        </p:grpSpPr>
        <p:sp>
          <p:nvSpPr>
            <p:cNvPr id="17" name="TextBox 17"/>
            <p:cNvSpPr txBox="1"/>
            <p:nvPr/>
          </p:nvSpPr>
          <p:spPr>
            <a:xfrm>
              <a:off x="612267" y="6331268"/>
              <a:ext cx="85710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3657D"/>
                  </a:solidFill>
                  <a:latin typeface="Arial"/>
                  <a:ea typeface="Microsoft YaHei"/>
                  <a:cs typeface="Arial"/>
                </a:rPr>
                <a:t>来源：multiseed_20260925_122243/mean_std.csv、training_budget.csv、hybrid_attribution_by_seed.csv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/>
              <a:t>作品演示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28923" y="522637"/>
            <a:ext cx="7624477" cy="491490"/>
          </a:xfrm>
          <a:prstGeom prst="rect">
            <a:avLst/>
          </a:prstGeom>
          <a:noFill/>
          <a:ln>
            <a:noFill/>
          </a:ln>
        </p:spPr>
        <p:txBody>
          <a:bodyPr wrap="none" lIns="91440" tIns="80586" rIns="0" bIns="0" anchor="t" anchorCtr="0">
            <a:noAutofit/>
          </a:bodyPr>
          <a:lstStyle/>
          <a:p>
            <a:pPr algn="l"/>
            <a:r>
              <a:rPr lang="zh-CN" sz="2600" b="1" dirty="0">
                <a:solidFill>
                  <a:srgbClr val="254FEB"/>
                </a:solidFill>
                <a:latin typeface="黑体"/>
                <a:ea typeface="Microsoft YaHei"/>
                <a:cs typeface="黑体"/>
              </a:rPr>
              <a:t>5.1 作品演示播放：启动与场景</a:t>
            </a:r>
          </a:p>
        </p:txBody>
      </p:sp>
      <p:grpSp>
        <p:nvGrpSpPr>
          <p:cNvPr id="7" name="scene-metrics"/>
          <p:cNvGrpSpPr/>
          <p:nvPr/>
        </p:nvGrpSpPr>
        <p:grpSpPr>
          <a:xfrm>
            <a:off x="619125" y="1524000"/>
            <a:ext cx="7715250" cy="4343400"/>
            <a:chOff x="619125" y="1524000"/>
            <a:chExt cx="7715250" cy="4343400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9125" y="1524000"/>
              <a:ext cx="7715250" cy="4343400"/>
            </a:xfrm>
            <a:prstGeom prst="rect">
              <a:avLst/>
            </a:prstGeom>
          </p:spPr>
        </p:pic>
      </p:grpSp>
      <p:grpSp>
        <p:nvGrpSpPr>
          <p:cNvPr id="9" name="start-demo"/>
          <p:cNvGrpSpPr/>
          <p:nvPr/>
        </p:nvGrpSpPr>
        <p:grpSpPr>
          <a:xfrm>
            <a:off x="8752332" y="1592580"/>
            <a:ext cx="1717548" cy="410718"/>
            <a:chOff x="8752332" y="1592580"/>
            <a:chExt cx="1717548" cy="410718"/>
          </a:xfrm>
        </p:grpSpPr>
        <p:sp>
          <p:nvSpPr>
            <p:cNvPr id="8" name="TextBox 8"/>
            <p:cNvSpPr txBox="1"/>
            <p:nvPr/>
          </p:nvSpPr>
          <p:spPr>
            <a:xfrm>
              <a:off x="8752332" y="1592580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54FEB"/>
                  </a:solidFill>
                  <a:latin typeface="黑体"/>
                  <a:ea typeface="Microsoft YaHei"/>
                  <a:cs typeface="黑体"/>
                </a:rPr>
                <a:t>启动离线演示</a:t>
              </a:r>
            </a:p>
          </p:txBody>
        </p:sp>
      </p:grpSp>
      <p:grpSp>
        <p:nvGrpSpPr>
          <p:cNvPr id="12" name="start-command"/>
          <p:cNvGrpSpPr/>
          <p:nvPr/>
        </p:nvGrpSpPr>
        <p:grpSpPr>
          <a:xfrm>
            <a:off x="8753475" y="2188369"/>
            <a:ext cx="2511943" cy="657224"/>
            <a:chOff x="8753475" y="2188369"/>
            <a:chExt cx="2511943" cy="657224"/>
          </a:xfrm>
        </p:grpSpPr>
        <p:sp>
          <p:nvSpPr>
            <p:cNvPr id="10" name="TextBox 10"/>
            <p:cNvSpPr txBox="1"/>
            <p:nvPr/>
          </p:nvSpPr>
          <p:spPr>
            <a:xfrm>
              <a:off x="8753475" y="2188369"/>
              <a:ext cx="1790649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dirty="0">
                  <a:solidFill>
                    <a:srgbClr val="14213A"/>
                  </a:solidFill>
                  <a:latin typeface="黑体"/>
                  <a:ea typeface="Microsoft YaHei"/>
                  <a:cs typeface="黑体"/>
                </a:rPr>
                <a:t>项目根目录运行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753475" y="2478881"/>
              <a:ext cx="2511943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80" dirty="0">
                  <a:solidFill>
                    <a:srgbClr val="14213A"/>
                  </a:solidFill>
                  <a:latin typeface="黑体"/>
                  <a:ea typeface="黑体"/>
                  <a:cs typeface="黑体"/>
                </a:rPr>
                <a:t>python run_demo.py</a:t>
              </a:r>
            </a:p>
          </p:txBody>
        </p:sp>
      </p:grpSp>
      <p:grpSp>
        <p:nvGrpSpPr>
          <p:cNvPr id="16" name="select-scene"/>
          <p:cNvGrpSpPr/>
          <p:nvPr/>
        </p:nvGrpSpPr>
        <p:grpSpPr>
          <a:xfrm>
            <a:off x="8753094" y="3256598"/>
            <a:ext cx="2343017" cy="985646"/>
            <a:chOff x="8753094" y="3256598"/>
            <a:chExt cx="2343017" cy="985646"/>
          </a:xfrm>
        </p:grpSpPr>
        <p:sp>
          <p:nvSpPr>
            <p:cNvPr id="13" name="TextBox 13"/>
            <p:cNvSpPr txBox="1"/>
            <p:nvPr/>
          </p:nvSpPr>
          <p:spPr>
            <a:xfrm>
              <a:off x="8753094" y="3256598"/>
              <a:ext cx="166049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4213A"/>
                  </a:solidFill>
                  <a:latin typeface="黑体"/>
                  <a:ea typeface="Microsoft YaHei"/>
                  <a:cs typeface="黑体"/>
                </a:rPr>
                <a:t>选择 100 任务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753094" y="3558730"/>
              <a:ext cx="159486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4213A"/>
                  </a:solidFill>
                  <a:latin typeface="黑体"/>
                  <a:ea typeface="Microsoft YaHei"/>
                  <a:cs typeface="黑体"/>
                </a:rPr>
                <a:t>异构资源场景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753094" y="3860863"/>
              <a:ext cx="234301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4213A"/>
                  </a:solidFill>
                  <a:latin typeface="黑体"/>
                  <a:ea typeface="Microsoft YaHei"/>
                  <a:cs typeface="黑体"/>
                </a:rPr>
                <a:t>检查 4 / 4 方案合法</a:t>
              </a:r>
            </a:p>
          </p:txBody>
        </p:sp>
      </p:grpSp>
      <p:grpSp>
        <p:nvGrpSpPr>
          <p:cNvPr id="18" name="offline-link"/>
          <p:cNvGrpSpPr/>
          <p:nvPr/>
        </p:nvGrpSpPr>
        <p:grpSpPr>
          <a:xfrm>
            <a:off x="8753475" y="4636294"/>
            <a:ext cx="2508147" cy="366712"/>
            <a:chOff x="8753475" y="4636294"/>
            <a:chExt cx="2508147" cy="366712"/>
          </a:xfrm>
        </p:grpSpPr>
        <p:sp>
          <p:nvSpPr>
            <p:cNvPr id="17" name="TextBox 17"/>
            <p:cNvSpPr txBox="1"/>
            <p:nvPr/>
          </p:nvSpPr>
          <p:spPr>
            <a:xfrm>
              <a:off x="8753475" y="4636294"/>
              <a:ext cx="2508147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254FEB"/>
                  </a:solidFill>
                  <a:latin typeface="黑体"/>
                  <a:ea typeface="Microsoft YaHei"/>
                  <a:cs typeface="黑体"/>
                </a:rPr>
                <a:t>打开：演示页面.html</a:t>
              </a:r>
            </a:p>
          </p:txBody>
        </p:sp>
      </p:grpSp>
      <p:grpSp>
        <p:nvGrpSpPr>
          <p:cNvPr id="21" name="demo-scope"/>
          <p:cNvGrpSpPr/>
          <p:nvPr/>
        </p:nvGrpSpPr>
        <p:grpSpPr>
          <a:xfrm>
            <a:off x="8753475" y="5303044"/>
            <a:ext cx="1552844" cy="657224"/>
            <a:chOff x="8753475" y="5303044"/>
            <a:chExt cx="1552844" cy="657224"/>
          </a:xfrm>
        </p:grpSpPr>
        <p:sp>
          <p:nvSpPr>
            <p:cNvPr id="19" name="TextBox 19"/>
            <p:cNvSpPr txBox="1"/>
            <p:nvPr/>
          </p:nvSpPr>
          <p:spPr>
            <a:xfrm>
              <a:off x="8753475" y="5303044"/>
              <a:ext cx="1322441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dirty="0">
                  <a:solidFill>
                    <a:srgbClr val="53657D"/>
                  </a:solidFill>
                  <a:latin typeface="黑体"/>
                  <a:ea typeface="Microsoft YaHei"/>
                  <a:cs typeface="黑体"/>
                </a:rPr>
                <a:t>固定 6 场景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753475" y="5593556"/>
              <a:ext cx="1552844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dirty="0">
                  <a:solidFill>
                    <a:srgbClr val="53657D"/>
                  </a:solidFill>
                  <a:latin typeface="黑体"/>
                  <a:ea typeface="Microsoft YaHei"/>
                  <a:cs typeface="黑体"/>
                </a:rPr>
                <a:t>CPU 离线演示</a:t>
              </a:r>
            </a:p>
          </p:txBody>
        </p:sp>
      </p:grpSp>
      <p:grpSp>
        <p:nvGrpSpPr>
          <p:cNvPr id="24" name="evidence"/>
          <p:cNvGrpSpPr/>
          <p:nvPr/>
        </p:nvGrpSpPr>
        <p:grpSpPr>
          <a:xfrm>
            <a:off x="612267" y="6093142"/>
            <a:ext cx="6501727" cy="473203"/>
            <a:chOff x="612267" y="6093142"/>
            <a:chExt cx="6501727" cy="473203"/>
          </a:xfrm>
        </p:grpSpPr>
        <p:sp>
          <p:nvSpPr>
            <p:cNvPr id="22" name="TextBox 22"/>
            <p:cNvSpPr txBox="1"/>
            <p:nvPr/>
          </p:nvSpPr>
          <p:spPr>
            <a:xfrm>
              <a:off x="612267" y="6093142"/>
              <a:ext cx="65017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3657D"/>
                  </a:solidFill>
                  <a:latin typeface="黑体"/>
                  <a:ea typeface="Microsoft YaHei"/>
                  <a:cs typeface="黑体"/>
                </a:rPr>
                <a:t>真实界面：2026-10-01 保存运行；样例改善 24.22%，6 场景平均改善约 5.36%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12267" y="6302312"/>
              <a:ext cx="62382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3657D"/>
                  </a:solidFill>
                  <a:latin typeface="黑体"/>
                  <a:ea typeface="Microsoft YaHei"/>
                  <a:cs typeface="黑体"/>
                </a:rPr>
                <a:t>演示子集不能替代完整 108 场景验证成绩；现场重新计算会生成独立运行记录</a:t>
              </a: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28923" y="522637"/>
            <a:ext cx="7624477" cy="491490"/>
          </a:xfrm>
          <a:prstGeom prst="rect">
            <a:avLst/>
          </a:prstGeom>
          <a:noFill/>
          <a:ln>
            <a:noFill/>
          </a:ln>
        </p:spPr>
        <p:txBody>
          <a:bodyPr wrap="none" lIns="91440" tIns="80586" rIns="0" bIns="0" anchor="t" anchorCtr="0">
            <a:noAutofit/>
          </a:bodyPr>
          <a:lstStyle/>
          <a:p>
            <a:pPr algn="l"/>
            <a:r>
              <a:rPr lang="zh-CN" sz="2600" b="1" dirty="0">
                <a:solidFill>
                  <a:srgbClr val="254FEB"/>
                </a:solidFill>
                <a:latin typeface="黑体"/>
                <a:ea typeface="Microsoft YaHei"/>
                <a:cs typeface="黑体"/>
              </a:rPr>
              <a:t>5.2 作品演示：策略与时间线</a:t>
            </a:r>
          </a:p>
        </p:txBody>
      </p:sp>
      <p:grpSp>
        <p:nvGrpSpPr>
          <p:cNvPr id="7" name="timeline-lead"/>
          <p:cNvGrpSpPr/>
          <p:nvPr/>
        </p:nvGrpSpPr>
        <p:grpSpPr>
          <a:xfrm>
            <a:off x="607314" y="1482566"/>
            <a:ext cx="6269990" cy="454724"/>
            <a:chOff x="607314" y="1482566"/>
            <a:chExt cx="6269990" cy="454724"/>
          </a:xfrm>
        </p:grpSpPr>
        <p:sp>
          <p:nvSpPr>
            <p:cNvPr id="6" name="TextBox 6"/>
            <p:cNvSpPr txBox="1"/>
            <p:nvPr/>
          </p:nvSpPr>
          <p:spPr>
            <a:xfrm>
              <a:off x="607314" y="1482566"/>
              <a:ext cx="6269990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320" b="1" dirty="0">
                  <a:solidFill>
                    <a:srgbClr val="14213A"/>
                  </a:solidFill>
                  <a:latin typeface="黑体"/>
                  <a:ea typeface="Microsoft YaHei"/>
                  <a:cs typeface="黑体"/>
                </a:rPr>
                <a:t>同一场景切换策略，比较节点分配与完成时间</a:t>
              </a:r>
            </a:p>
          </p:txBody>
        </p:sp>
      </p:grpSp>
      <p:grpSp>
        <p:nvGrpSpPr>
          <p:cNvPr id="9" name="actual-gantt"/>
          <p:cNvGrpSpPr/>
          <p:nvPr/>
        </p:nvGrpSpPr>
        <p:grpSpPr>
          <a:xfrm>
            <a:off x="1706294" y="2124075"/>
            <a:ext cx="8684163" cy="3648075"/>
            <a:chOff x="1706294" y="2124075"/>
            <a:chExt cx="8684163" cy="3648075"/>
          </a:xfrm>
        </p:grpSpPr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06294" y="2124075"/>
              <a:ext cx="8684163" cy="3648075"/>
            </a:xfrm>
            <a:prstGeom prst="rect">
              <a:avLst/>
            </a:prstGeom>
          </p:spPr>
        </p:pic>
      </p:grpSp>
      <p:sp>
        <p:nvSpPr>
          <p:cNvPr id="12" name="TextBox 12"/>
          <p:cNvSpPr txBox="1"/>
          <p:nvPr/>
        </p:nvSpPr>
        <p:spPr>
          <a:xfrm>
            <a:off x="611886" y="6304121"/>
            <a:ext cx="599779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3657D"/>
                </a:solidFill>
                <a:latin typeface="黑体"/>
                <a:ea typeface="Microsoft YaHei"/>
                <a:cs typeface="黑体"/>
              </a:rPr>
              <a:t>播放 / 暂停 / 时间滑块回放已验证调度；时间单位沿用源数据与模拟器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28923" y="522637"/>
            <a:ext cx="7624477" cy="491490"/>
          </a:xfrm>
          <a:prstGeom prst="rect">
            <a:avLst/>
          </a:prstGeom>
          <a:noFill/>
          <a:ln>
            <a:noFill/>
          </a:ln>
        </p:spPr>
        <p:txBody>
          <a:bodyPr wrap="none" lIns="91440" tIns="80586" rIns="0" bIns="0" anchor="t" anchorCtr="0">
            <a:noAutofit/>
          </a:bodyPr>
          <a:lstStyle/>
          <a:p>
            <a:pPr algn="l"/>
            <a:r>
              <a:rPr lang="zh-CN" sz="2600" b="1" dirty="0">
                <a:solidFill>
                  <a:srgbClr val="254FEB"/>
                </a:solidFill>
                <a:latin typeface="黑体"/>
                <a:ea typeface="Microsoft YaHei"/>
                <a:cs typeface="黑体"/>
              </a:rPr>
              <a:t>5.3 作品演示：依赖与结果导出</a:t>
            </a:r>
          </a:p>
        </p:txBody>
      </p:sp>
      <p:grpSp>
        <p:nvGrpSpPr>
          <p:cNvPr id="7" name="actual-dag"/>
          <p:cNvGrpSpPr/>
          <p:nvPr/>
        </p:nvGrpSpPr>
        <p:grpSpPr>
          <a:xfrm>
            <a:off x="619125" y="1536793"/>
            <a:ext cx="8096250" cy="4146364"/>
            <a:chOff x="619125" y="1536793"/>
            <a:chExt cx="8096250" cy="4146364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9125" y="1536793"/>
              <a:ext cx="8096250" cy="4146364"/>
            </a:xfrm>
            <a:prstGeom prst="rect">
              <a:avLst/>
            </a:prstGeom>
          </p:spPr>
        </p:pic>
      </p:grpSp>
      <p:grpSp>
        <p:nvGrpSpPr>
          <p:cNvPr id="9" name="task-audit-title"/>
          <p:cNvGrpSpPr/>
          <p:nvPr/>
        </p:nvGrpSpPr>
        <p:grpSpPr>
          <a:xfrm>
            <a:off x="9067038" y="1600676"/>
            <a:ext cx="1924101" cy="396050"/>
            <a:chOff x="9067038" y="1600676"/>
            <a:chExt cx="1924101" cy="396050"/>
          </a:xfrm>
        </p:grpSpPr>
        <p:sp>
          <p:nvSpPr>
            <p:cNvPr id="8" name="TextBox 8"/>
            <p:cNvSpPr txBox="1"/>
            <p:nvPr/>
          </p:nvSpPr>
          <p:spPr>
            <a:xfrm>
              <a:off x="9067038" y="1600676"/>
              <a:ext cx="1924101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254FEB"/>
                  </a:solidFill>
                  <a:latin typeface="黑体"/>
                  <a:ea typeface="Microsoft YaHei"/>
                  <a:cs typeface="黑体"/>
                </a:rPr>
                <a:t>任务依赖可追踪</a:t>
              </a:r>
            </a:p>
          </p:txBody>
        </p:sp>
      </p:grpSp>
      <p:grpSp>
        <p:nvGrpSpPr>
          <p:cNvPr id="15" name="task-audit"/>
          <p:cNvGrpSpPr/>
          <p:nvPr/>
        </p:nvGrpSpPr>
        <p:grpSpPr>
          <a:xfrm>
            <a:off x="9067800" y="2188369"/>
            <a:ext cx="1689415" cy="1528762"/>
            <a:chOff x="9067800" y="2188369"/>
            <a:chExt cx="1689415" cy="1528762"/>
          </a:xfrm>
        </p:grpSpPr>
        <p:sp>
          <p:nvSpPr>
            <p:cNvPr id="10" name="TextBox 10"/>
            <p:cNvSpPr txBox="1"/>
            <p:nvPr/>
          </p:nvSpPr>
          <p:spPr>
            <a:xfrm>
              <a:off x="9067800" y="2188369"/>
              <a:ext cx="1046673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dirty="0">
                  <a:solidFill>
                    <a:srgbClr val="14213A"/>
                  </a:solidFill>
                  <a:latin typeface="黑体"/>
                  <a:ea typeface="Microsoft YaHei"/>
                  <a:cs typeface="黑体"/>
                </a:rPr>
                <a:t>点击 T49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67800" y="2478881"/>
              <a:ext cx="1575526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dirty="0">
                  <a:solidFill>
                    <a:srgbClr val="14213A"/>
                  </a:solidFill>
                  <a:latin typeface="黑体"/>
                  <a:ea typeface="Microsoft YaHei"/>
                  <a:cs typeface="黑体"/>
                </a:rPr>
                <a:t>查看 7 个前驱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67800" y="2769394"/>
              <a:ext cx="1689415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dirty="0">
                  <a:solidFill>
                    <a:srgbClr val="14213A"/>
                  </a:solidFill>
                  <a:latin typeface="黑体"/>
                  <a:ea typeface="Microsoft YaHei"/>
                  <a:cs typeface="黑体"/>
                </a:rPr>
                <a:t>节点：cloud_1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067800" y="3059906"/>
              <a:ext cx="1613489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dirty="0">
                  <a:solidFill>
                    <a:srgbClr val="14213A"/>
                  </a:solidFill>
                  <a:latin typeface="黑体"/>
                  <a:ea typeface="Microsoft YaHei"/>
                  <a:cs typeface="黑体"/>
                </a:rPr>
                <a:t>执行：56.740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067800" y="3350419"/>
              <a:ext cx="1183244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dirty="0">
                  <a:solidFill>
                    <a:srgbClr val="14213A"/>
                  </a:solidFill>
                  <a:latin typeface="黑体"/>
                  <a:ea typeface="Microsoft YaHei"/>
                  <a:cs typeface="黑体"/>
                </a:rPr>
                <a:t>至 64.194</a:t>
              </a:r>
            </a:p>
          </p:txBody>
        </p:sp>
      </p:grpSp>
      <p:grpSp>
        <p:nvGrpSpPr>
          <p:cNvPr id="17" name="export-title"/>
          <p:cNvGrpSpPr/>
          <p:nvPr/>
        </p:nvGrpSpPr>
        <p:grpSpPr>
          <a:xfrm>
            <a:off x="9067038" y="4362926"/>
            <a:ext cx="1924101" cy="396050"/>
            <a:chOff x="9067038" y="4362926"/>
            <a:chExt cx="1924101" cy="396050"/>
          </a:xfrm>
        </p:grpSpPr>
        <p:sp>
          <p:nvSpPr>
            <p:cNvPr id="16" name="TextBox 16"/>
            <p:cNvSpPr txBox="1"/>
            <p:nvPr/>
          </p:nvSpPr>
          <p:spPr>
            <a:xfrm>
              <a:off x="9067038" y="4362926"/>
              <a:ext cx="1924101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254FEB"/>
                  </a:solidFill>
                  <a:latin typeface="黑体"/>
                  <a:ea typeface="Microsoft YaHei"/>
                  <a:cs typeface="黑体"/>
                </a:rPr>
                <a:t>结果可导出复核</a:t>
              </a:r>
            </a:p>
          </p:txBody>
        </p:sp>
      </p:grpSp>
      <p:grpSp>
        <p:nvGrpSpPr>
          <p:cNvPr id="21" name="export-types"/>
          <p:cNvGrpSpPr/>
          <p:nvPr/>
        </p:nvGrpSpPr>
        <p:grpSpPr>
          <a:xfrm>
            <a:off x="9068181" y="4958715"/>
            <a:ext cx="2199132" cy="909828"/>
            <a:chOff x="9068181" y="4958715"/>
            <a:chExt cx="2199132" cy="909828"/>
          </a:xfrm>
        </p:grpSpPr>
        <p:sp>
          <p:nvSpPr>
            <p:cNvPr id="18" name="TextBox 18"/>
            <p:cNvSpPr txBox="1"/>
            <p:nvPr/>
          </p:nvSpPr>
          <p:spPr>
            <a:xfrm>
              <a:off x="9068181" y="4958715"/>
              <a:ext cx="16788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213A"/>
                  </a:solidFill>
                  <a:latin typeface="黑体"/>
                  <a:ea typeface="Microsoft YaHei"/>
                  <a:cs typeface="黑体"/>
                </a:rPr>
                <a:t>页面导出 JSON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068181" y="5237607"/>
              <a:ext cx="20295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213A"/>
                  </a:solidFill>
                  <a:latin typeface="黑体"/>
                  <a:ea typeface="Microsoft YaHei"/>
                  <a:cs typeface="黑体"/>
                </a:rPr>
                <a:t>保存 metrics.csv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068181" y="5516499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213A"/>
                  </a:solidFill>
                  <a:latin typeface="黑体"/>
                  <a:ea typeface="Microsoft YaHei"/>
                  <a:cs typeface="黑体"/>
                </a:rPr>
                <a:t>保留来源与运行记录</a:t>
              </a:r>
            </a:p>
          </p:txBody>
        </p:sp>
      </p:grpSp>
      <p:grpSp>
        <p:nvGrpSpPr>
          <p:cNvPr id="24" name="evidence"/>
          <p:cNvGrpSpPr/>
          <p:nvPr/>
        </p:nvGrpSpPr>
        <p:grpSpPr>
          <a:xfrm>
            <a:off x="612267" y="6093142"/>
            <a:ext cx="6492162" cy="416919"/>
            <a:chOff x="612267" y="6093142"/>
            <a:chExt cx="6492162" cy="416919"/>
          </a:xfrm>
        </p:grpSpPr>
        <p:sp>
          <p:nvSpPr>
            <p:cNvPr id="22" name="TextBox 22"/>
            <p:cNvSpPr txBox="1"/>
            <p:nvPr/>
          </p:nvSpPr>
          <p:spPr>
            <a:xfrm>
              <a:off x="612267" y="6093142"/>
              <a:ext cx="50296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3657D"/>
                  </a:solidFill>
                  <a:latin typeface="黑体"/>
                  <a:ea typeface="Microsoft YaHei"/>
                  <a:cs typeface="黑体"/>
                </a:rPr>
                <a:t>操作闭环：选场景 → 看候选 → 回放时间线 → 查依赖 → 导出结果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12267" y="6302312"/>
              <a:ext cx="6492162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3657D"/>
                  </a:solidFill>
                  <a:latin typeface="黑体"/>
                  <a:ea typeface="Microsoft YaHei"/>
                  <a:cs typeface="黑体"/>
                </a:rPr>
                <a:t>results.json、metrics.csv、provenance.json、status.json（同一演示运行目录）</a:t>
              </a: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28923" y="522637"/>
            <a:ext cx="7624477" cy="491490"/>
          </a:xfrm>
          <a:prstGeom prst="rect">
            <a:avLst/>
          </a:prstGeom>
          <a:noFill/>
          <a:ln>
            <a:noFill/>
          </a:ln>
        </p:spPr>
        <p:txBody>
          <a:bodyPr wrap="none" lIns="91440" tIns="80586" rIns="0" bIns="0" anchor="t" anchorCtr="0">
            <a:noAutofit/>
          </a:bodyPr>
          <a:lstStyle/>
          <a:p>
            <a:pPr algn="l"/>
            <a:r>
              <a:rPr lang="zh-CN" sz="2600" b="1" dirty="0">
                <a:solidFill>
                  <a:srgbClr val="254FEB"/>
                </a:solidFill>
                <a:latin typeface="黑体"/>
                <a:ea typeface="Microsoft YaHei"/>
                <a:cs typeface="黑体"/>
              </a:rPr>
              <a:t>项目价值与后续计划</a:t>
            </a:r>
          </a:p>
        </p:txBody>
      </p:sp>
      <p:grpSp>
        <p:nvGrpSpPr>
          <p:cNvPr id="5" name="roadmap-text-0"/>
          <p:cNvGrpSpPr/>
          <p:nvPr/>
        </p:nvGrpSpPr>
        <p:grpSpPr>
          <a:xfrm>
            <a:off x="607314" y="1501616"/>
            <a:ext cx="6269990" cy="454724"/>
            <a:chOff x="607314" y="1501616"/>
            <a:chExt cx="6269990" cy="454724"/>
          </a:xfrm>
        </p:grpSpPr>
        <p:sp>
          <p:nvSpPr>
            <p:cNvPr id="4" name="TextBox 4"/>
            <p:cNvSpPr txBox="1"/>
            <p:nvPr/>
          </p:nvSpPr>
          <p:spPr>
            <a:xfrm>
              <a:off x="607314" y="1501616"/>
              <a:ext cx="6269990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320" b="1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以可复核的调度结果支撑方案比较与后续优化</a:t>
              </a:r>
            </a:p>
          </p:txBody>
        </p:sp>
      </p:grpSp>
      <p:grpSp>
        <p:nvGrpSpPr>
          <p:cNvPr id="7" name="roadmap-text-1"/>
          <p:cNvGrpSpPr/>
          <p:nvPr/>
        </p:nvGrpSpPr>
        <p:grpSpPr>
          <a:xfrm>
            <a:off x="607695" y="2262188"/>
            <a:ext cx="1840230" cy="440055"/>
            <a:chOff x="607695" y="2262188"/>
            <a:chExt cx="1840230" cy="440055"/>
          </a:xfrm>
        </p:grpSpPr>
        <p:sp>
          <p:nvSpPr>
            <p:cNvPr id="6" name="TextBox 6"/>
            <p:cNvSpPr txBox="1"/>
            <p:nvPr/>
          </p:nvSpPr>
          <p:spPr>
            <a:xfrm>
              <a:off x="607695" y="2262188"/>
              <a:ext cx="184023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54FEB"/>
                  </a:solidFill>
                  <a:latin typeface="Arial"/>
                  <a:ea typeface="Microsoft YaHei"/>
                  <a:cs typeface="Arial"/>
                </a:rPr>
                <a:t>当前交付价值</a:t>
              </a:r>
            </a:p>
          </p:txBody>
        </p:sp>
      </p:grpSp>
      <p:grpSp>
        <p:nvGrpSpPr>
          <p:cNvPr id="9" name="roadmap-text-2"/>
          <p:cNvGrpSpPr/>
          <p:nvPr/>
        </p:nvGrpSpPr>
        <p:grpSpPr>
          <a:xfrm>
            <a:off x="608457" y="2811780"/>
            <a:ext cx="3979164" cy="410718"/>
            <a:chOff x="608457" y="2811780"/>
            <a:chExt cx="3979164" cy="410718"/>
          </a:xfrm>
        </p:grpSpPr>
        <p:sp>
          <p:nvSpPr>
            <p:cNvPr id="8" name="TextBox 8"/>
            <p:cNvSpPr txBox="1"/>
            <p:nvPr/>
          </p:nvSpPr>
          <p:spPr>
            <a:xfrm>
              <a:off x="608457" y="2811780"/>
              <a:ext cx="39791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可比较：同一环境评估不同策略</a:t>
              </a:r>
            </a:p>
          </p:txBody>
        </p:sp>
      </p:grpSp>
      <p:grpSp>
        <p:nvGrpSpPr>
          <p:cNvPr id="11" name="roadmap-text-3"/>
          <p:cNvGrpSpPr/>
          <p:nvPr/>
        </p:nvGrpSpPr>
        <p:grpSpPr>
          <a:xfrm>
            <a:off x="609219" y="3228022"/>
            <a:ext cx="4482465" cy="381381"/>
            <a:chOff x="609219" y="3228022"/>
            <a:chExt cx="4482465" cy="381381"/>
          </a:xfrm>
        </p:grpSpPr>
        <p:sp>
          <p:nvSpPr>
            <p:cNvPr id="10" name="TextBox 10"/>
            <p:cNvSpPr txBox="1"/>
            <p:nvPr/>
          </p:nvSpPr>
          <p:spPr>
            <a:xfrm>
              <a:off x="609219" y="3228022"/>
              <a:ext cx="448246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同时呈现完成时间、合法性与推理耗时</a:t>
              </a:r>
            </a:p>
          </p:txBody>
        </p:sp>
      </p:grpSp>
      <p:grpSp>
        <p:nvGrpSpPr>
          <p:cNvPr id="13" name="roadmap-text-4"/>
          <p:cNvGrpSpPr/>
          <p:nvPr/>
        </p:nvGrpSpPr>
        <p:grpSpPr>
          <a:xfrm>
            <a:off x="608457" y="3783330"/>
            <a:ext cx="4261866" cy="410718"/>
            <a:chOff x="608457" y="3783330"/>
            <a:chExt cx="4261866" cy="410718"/>
          </a:xfrm>
        </p:grpSpPr>
        <p:sp>
          <p:nvSpPr>
            <p:cNvPr id="12" name="TextBox 12"/>
            <p:cNvSpPr txBox="1"/>
            <p:nvPr/>
          </p:nvSpPr>
          <p:spPr>
            <a:xfrm>
              <a:off x="608457" y="3783330"/>
              <a:ext cx="426186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可解释：追踪任务依赖和节点等待</a:t>
              </a:r>
            </a:p>
          </p:txBody>
        </p:sp>
      </p:grpSp>
      <p:grpSp>
        <p:nvGrpSpPr>
          <p:cNvPr id="15" name="roadmap-text-5"/>
          <p:cNvGrpSpPr/>
          <p:nvPr/>
        </p:nvGrpSpPr>
        <p:grpSpPr>
          <a:xfrm>
            <a:off x="609219" y="4199572"/>
            <a:ext cx="4450100" cy="381381"/>
            <a:chOff x="609219" y="4199572"/>
            <a:chExt cx="4450100" cy="381381"/>
          </a:xfrm>
        </p:grpSpPr>
        <p:sp>
          <p:nvSpPr>
            <p:cNvPr id="14" name="TextBox 14"/>
            <p:cNvSpPr txBox="1"/>
            <p:nvPr/>
          </p:nvSpPr>
          <p:spPr>
            <a:xfrm>
              <a:off x="609219" y="4199572"/>
              <a:ext cx="445010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通过时间线与 DAG 详情定位执行区间</a:t>
              </a:r>
            </a:p>
          </p:txBody>
        </p:sp>
      </p:grpSp>
      <p:grpSp>
        <p:nvGrpSpPr>
          <p:cNvPr id="17" name="roadmap-text-6"/>
          <p:cNvGrpSpPr/>
          <p:nvPr/>
        </p:nvGrpSpPr>
        <p:grpSpPr>
          <a:xfrm>
            <a:off x="608457" y="4754880"/>
            <a:ext cx="3696462" cy="410718"/>
            <a:chOff x="608457" y="4754880"/>
            <a:chExt cx="3696462" cy="410718"/>
          </a:xfrm>
        </p:grpSpPr>
        <p:sp>
          <p:nvSpPr>
            <p:cNvPr id="16" name="TextBox 16"/>
            <p:cNvSpPr txBox="1"/>
            <p:nvPr/>
          </p:nvSpPr>
          <p:spPr>
            <a:xfrm>
              <a:off x="608457" y="4754880"/>
              <a:ext cx="369646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可复核：导出结果与运行来源</a:t>
              </a:r>
            </a:p>
          </p:txBody>
        </p:sp>
      </p:grpSp>
      <p:grpSp>
        <p:nvGrpSpPr>
          <p:cNvPr id="19" name="roadmap-text-7"/>
          <p:cNvGrpSpPr/>
          <p:nvPr/>
        </p:nvGrpSpPr>
        <p:grpSpPr>
          <a:xfrm>
            <a:off x="609219" y="5171122"/>
            <a:ext cx="3957447" cy="381381"/>
            <a:chOff x="609219" y="5171122"/>
            <a:chExt cx="3957447" cy="381381"/>
          </a:xfrm>
        </p:grpSpPr>
        <p:sp>
          <p:nvSpPr>
            <p:cNvPr id="18" name="TextBox 18"/>
            <p:cNvSpPr txBox="1"/>
            <p:nvPr/>
          </p:nvSpPr>
          <p:spPr>
            <a:xfrm>
              <a:off x="609219" y="5171122"/>
              <a:ext cx="395744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保存配置、模型来源与逐场景结果</a:t>
              </a:r>
            </a:p>
          </p:txBody>
        </p:sp>
      </p:grpSp>
      <p:grpSp>
        <p:nvGrpSpPr>
          <p:cNvPr id="21" name="roadmap-text-8"/>
          <p:cNvGrpSpPr/>
          <p:nvPr/>
        </p:nvGrpSpPr>
        <p:grpSpPr>
          <a:xfrm>
            <a:off x="6179820" y="2262188"/>
            <a:ext cx="1840230" cy="440055"/>
            <a:chOff x="6179820" y="2262188"/>
            <a:chExt cx="1840230" cy="440055"/>
          </a:xfrm>
        </p:grpSpPr>
        <p:sp>
          <p:nvSpPr>
            <p:cNvPr id="20" name="TextBox 20"/>
            <p:cNvSpPr txBox="1"/>
            <p:nvPr/>
          </p:nvSpPr>
          <p:spPr>
            <a:xfrm>
              <a:off x="6179820" y="2262188"/>
              <a:ext cx="184023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54FEB"/>
                  </a:solidFill>
                  <a:latin typeface="Arial"/>
                  <a:ea typeface="Microsoft YaHei"/>
                  <a:cs typeface="Arial"/>
                </a:rPr>
                <a:t>后续验证重点</a:t>
              </a:r>
            </a:p>
          </p:txBody>
        </p:sp>
      </p:grpSp>
      <p:grpSp>
        <p:nvGrpSpPr>
          <p:cNvPr id="23" name="roadmap-text-9"/>
          <p:cNvGrpSpPr/>
          <p:nvPr/>
        </p:nvGrpSpPr>
        <p:grpSpPr>
          <a:xfrm>
            <a:off x="6180582" y="2811780"/>
            <a:ext cx="2565654" cy="410718"/>
            <a:chOff x="6180582" y="2811780"/>
            <a:chExt cx="2565654" cy="410718"/>
          </a:xfrm>
        </p:grpSpPr>
        <p:sp>
          <p:nvSpPr>
            <p:cNvPr id="22" name="TextBox 22"/>
            <p:cNvSpPr txBox="1"/>
            <p:nvPr/>
          </p:nvSpPr>
          <p:spPr>
            <a:xfrm>
              <a:off x="6180582" y="2811780"/>
              <a:ext cx="25656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独立测试与学习增益</a:t>
              </a:r>
            </a:p>
          </p:txBody>
        </p:sp>
      </p:grpSp>
      <p:grpSp>
        <p:nvGrpSpPr>
          <p:cNvPr id="25" name="roadmap-text-10"/>
          <p:cNvGrpSpPr/>
          <p:nvPr/>
        </p:nvGrpSpPr>
        <p:grpSpPr>
          <a:xfrm>
            <a:off x="6181344" y="3228022"/>
            <a:ext cx="4715993" cy="381381"/>
            <a:chOff x="6181344" y="3228022"/>
            <a:chExt cx="4715993" cy="381381"/>
          </a:xfrm>
        </p:grpSpPr>
        <p:sp>
          <p:nvSpPr>
            <p:cNvPr id="24" name="TextBox 24"/>
            <p:cNvSpPr txBox="1"/>
            <p:nvPr/>
          </p:nvSpPr>
          <p:spPr>
            <a:xfrm>
              <a:off x="6181344" y="3228022"/>
              <a:ext cx="471599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冻结配置后评估 test，受控比较训练阶段</a:t>
              </a:r>
            </a:p>
          </p:txBody>
        </p:sp>
      </p:grpSp>
      <p:grpSp>
        <p:nvGrpSpPr>
          <p:cNvPr id="27" name="roadmap-text-11"/>
          <p:cNvGrpSpPr/>
          <p:nvPr/>
        </p:nvGrpSpPr>
        <p:grpSpPr>
          <a:xfrm>
            <a:off x="6180582" y="3783330"/>
            <a:ext cx="2565654" cy="410718"/>
            <a:chOff x="6180582" y="3783330"/>
            <a:chExt cx="2565654" cy="410718"/>
          </a:xfrm>
        </p:grpSpPr>
        <p:sp>
          <p:nvSpPr>
            <p:cNvPr id="26" name="TextBox 26"/>
            <p:cNvSpPr txBox="1"/>
            <p:nvPr/>
          </p:nvSpPr>
          <p:spPr>
            <a:xfrm>
              <a:off x="6180582" y="3783330"/>
              <a:ext cx="25656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搜索成本与质量取舍</a:t>
              </a:r>
            </a:p>
          </p:txBody>
        </p:sp>
      </p:grpSp>
      <p:grpSp>
        <p:nvGrpSpPr>
          <p:cNvPr id="29" name="roadmap-text-12"/>
          <p:cNvGrpSpPr/>
          <p:nvPr/>
        </p:nvGrpSpPr>
        <p:grpSpPr>
          <a:xfrm>
            <a:off x="6181344" y="4199572"/>
            <a:ext cx="4744974" cy="381381"/>
            <a:chOff x="6181344" y="4199572"/>
            <a:chExt cx="4744974" cy="381381"/>
          </a:xfrm>
        </p:grpSpPr>
        <p:sp>
          <p:nvSpPr>
            <p:cNvPr id="28" name="TextBox 28"/>
            <p:cNvSpPr txBox="1"/>
            <p:nvPr/>
          </p:nvSpPr>
          <p:spPr>
            <a:xfrm>
              <a:off x="6181344" y="4199572"/>
              <a:ext cx="474497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比较搜索预算，减少重复计算与推理耗时</a:t>
              </a:r>
            </a:p>
          </p:txBody>
        </p:sp>
      </p:grpSp>
      <p:grpSp>
        <p:nvGrpSpPr>
          <p:cNvPr id="31" name="roadmap-text-13"/>
          <p:cNvGrpSpPr/>
          <p:nvPr/>
        </p:nvGrpSpPr>
        <p:grpSpPr>
          <a:xfrm>
            <a:off x="6180582" y="4754880"/>
            <a:ext cx="2565654" cy="410718"/>
            <a:chOff x="6180582" y="4754880"/>
            <a:chExt cx="2565654" cy="410718"/>
          </a:xfrm>
        </p:grpSpPr>
        <p:sp>
          <p:nvSpPr>
            <p:cNvPr id="30" name="TextBox 30"/>
            <p:cNvSpPr txBox="1"/>
            <p:nvPr/>
          </p:nvSpPr>
          <p:spPr>
            <a:xfrm>
              <a:off x="6180582" y="4754880"/>
              <a:ext cx="25656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真实执行与运行反馈</a:t>
              </a:r>
            </a:p>
          </p:txBody>
        </p:sp>
      </p:grpSp>
      <p:grpSp>
        <p:nvGrpSpPr>
          <p:cNvPr id="33" name="roadmap-text-14"/>
          <p:cNvGrpSpPr/>
          <p:nvPr/>
        </p:nvGrpSpPr>
        <p:grpSpPr>
          <a:xfrm>
            <a:off x="6181344" y="5171122"/>
            <a:ext cx="4219956" cy="381381"/>
            <a:chOff x="6181344" y="5171122"/>
            <a:chExt cx="4219956" cy="381381"/>
          </a:xfrm>
        </p:grpSpPr>
        <p:sp>
          <p:nvSpPr>
            <p:cNvPr id="32" name="TextBox 32"/>
            <p:cNvSpPr txBox="1"/>
            <p:nvPr/>
          </p:nvSpPr>
          <p:spPr>
            <a:xfrm>
              <a:off x="6181344" y="5171122"/>
              <a:ext cx="421995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验证多机通信、执行误差与故障处理</a:t>
              </a:r>
            </a:p>
          </p:txBody>
        </p:sp>
      </p:grpSp>
      <p:grpSp>
        <p:nvGrpSpPr>
          <p:cNvPr id="35" name="roadmap-text-15"/>
          <p:cNvGrpSpPr/>
          <p:nvPr/>
        </p:nvGrpSpPr>
        <p:grpSpPr>
          <a:xfrm>
            <a:off x="611505" y="6124575"/>
            <a:ext cx="7466773" cy="293370"/>
            <a:chOff x="611505" y="6124575"/>
            <a:chExt cx="7466773" cy="293370"/>
          </a:xfrm>
        </p:grpSpPr>
        <p:sp>
          <p:nvSpPr>
            <p:cNvPr id="34" name="TextBox 34"/>
            <p:cNvSpPr txBox="1"/>
            <p:nvPr/>
          </p:nvSpPr>
          <p:spPr>
            <a:xfrm>
              <a:off x="611505" y="6124575"/>
              <a:ext cx="74667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3657D"/>
                  </a:solidFill>
                  <a:latin typeface="Arial"/>
                  <a:ea typeface="Microsoft YaHei"/>
                  <a:cs typeface="Arial"/>
                </a:rPr>
                <a:t>已完成 openEuler / openKylin CPU 虚拟机兼容性烟测；真实集群性能仍需单独验证</a:t>
              </a: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本占位符 37"/>
          <p:cNvSpPr>
            <a:spLocks noGrp="1"/>
          </p:cNvSpPr>
          <p:nvPr>
            <p:ph type="body" sz="quarter" idx="14"/>
          </p:nvPr>
        </p:nvSpPr>
        <p:spPr>
          <a:xfrm>
            <a:off x="5356805" y="4787265"/>
            <a:ext cx="3866483" cy="290227"/>
          </a:xfrm>
          <a:prstGeom prst="rect">
            <a:avLst/>
          </a:prstGeom>
          <a:noFill/>
          <a:ln>
            <a:noFill/>
          </a:ln>
        </p:spPr>
        <p:txBody>
          <a:bodyPr wrap="none" lIns="82582" tIns="3143" rIns="0" bIns="0" anchor="t" anchorCtr="0">
            <a:no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黑体"/>
                <a:ea typeface="Microsoft YaHei"/>
                <a:cs typeface="黑体"/>
              </a:rPr>
              <a:t>云边智链</a:t>
            </a:r>
          </a:p>
        </p:txBody>
      </p:sp>
      <p:sp>
        <p:nvSpPr>
          <p:cNvPr id="40" name="文本占位符 39"/>
          <p:cNvSpPr>
            <a:spLocks noGrp="1"/>
          </p:cNvSpPr>
          <p:nvPr>
            <p:ph type="body" sz="quarter" idx="20"/>
          </p:nvPr>
        </p:nvSpPr>
        <p:spPr>
          <a:xfrm>
            <a:off x="5356805" y="5223510"/>
            <a:ext cx="3866483" cy="290227"/>
          </a:xfrm>
          <a:prstGeom prst="rect">
            <a:avLst/>
          </a:prstGeom>
          <a:noFill/>
          <a:ln>
            <a:noFill/>
          </a:ln>
        </p:spPr>
        <p:txBody>
          <a:bodyPr wrap="none" lIns="82582" tIns="5048" rIns="0" bIns="0" anchor="t" anchorCtr="0">
            <a:no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黑体"/>
                <a:ea typeface="Microsoft YaHei"/>
                <a:cs typeface="黑体"/>
              </a:rPr>
              <a:t>2026年10月</a:t>
            </a:r>
          </a:p>
        </p:txBody>
      </p:sp>
      <p:sp>
        <p:nvSpPr>
          <p:cNvPr id="33" name="文本占位符 50"/>
          <p:cNvSpPr>
            <a:spLocks noGrp="1"/>
          </p:cNvSpPr>
          <p:nvPr/>
        </p:nvSpPr>
        <p:spPr>
          <a:xfrm>
            <a:off x="4195000" y="4787123"/>
            <a:ext cx="1161805" cy="29036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参赛团队：</a:t>
            </a:r>
          </a:p>
        </p:txBody>
      </p:sp>
      <p:sp>
        <p:nvSpPr>
          <p:cNvPr id="34" name="文本占位符 53"/>
          <p:cNvSpPr>
            <a:spLocks noGrp="1"/>
          </p:cNvSpPr>
          <p:nvPr/>
        </p:nvSpPr>
        <p:spPr>
          <a:xfrm>
            <a:off x="4195005" y="5223498"/>
            <a:ext cx="1161805" cy="29037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完成日期：</a:t>
            </a:r>
          </a:p>
        </p:txBody>
      </p:sp>
      <p:grpSp>
        <p:nvGrpSpPr>
          <p:cNvPr id="10" name="thanks"/>
          <p:cNvGrpSpPr/>
          <p:nvPr/>
        </p:nvGrpSpPr>
        <p:grpSpPr>
          <a:xfrm>
            <a:off x="2633515" y="1845469"/>
            <a:ext cx="6924973" cy="520142"/>
            <a:chOff x="2633515" y="1845469"/>
            <a:chExt cx="6924973" cy="520142"/>
          </a:xfrm>
        </p:grpSpPr>
        <p:sp>
          <p:nvSpPr>
            <p:cNvPr id="9" name="TextBox 9"/>
            <p:cNvSpPr txBox="1"/>
            <p:nvPr/>
          </p:nvSpPr>
          <p:spPr>
            <a:xfrm>
              <a:off x="2633515" y="1845469"/>
              <a:ext cx="6924973" cy="5201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80" b="1" dirty="0">
                  <a:solidFill>
                    <a:srgbClr val="FFFFFF"/>
                  </a:solidFill>
                  <a:latin typeface="黑体"/>
                  <a:ea typeface="Microsoft YaHei"/>
                  <a:cs typeface="黑体"/>
                </a:rPr>
                <a:t>让调度方案更</a:t>
              </a:r>
              <a:r>
                <a:rPr lang="zh-CN" altLang="en-US" sz="3380" b="1" dirty="0">
                  <a:solidFill>
                    <a:srgbClr val="FFFFFF"/>
                  </a:solidFill>
                  <a:latin typeface="黑体"/>
                  <a:ea typeface="Microsoft YaHei"/>
                  <a:cs typeface="黑体"/>
                </a:rPr>
                <a:t>高效</a:t>
              </a:r>
              <a:r>
                <a:rPr lang="zh-CN" sz="3380" b="1" dirty="0">
                  <a:solidFill>
                    <a:srgbClr val="FFFFFF"/>
                  </a:solidFill>
                  <a:latin typeface="黑体"/>
                  <a:ea typeface="Microsoft YaHei"/>
                  <a:cs typeface="黑体"/>
                </a:rPr>
                <a:t>、可校验、可复现</a:t>
              </a:r>
            </a:p>
          </p:txBody>
        </p:sp>
      </p:grpSp>
      <p:grpSp>
        <p:nvGrpSpPr>
          <p:cNvPr id="15" name="closing"/>
          <p:cNvGrpSpPr/>
          <p:nvPr/>
        </p:nvGrpSpPr>
        <p:grpSpPr>
          <a:xfrm>
            <a:off x="4195000" y="3043422"/>
            <a:ext cx="3801999" cy="498729"/>
            <a:chOff x="4195000" y="4001452"/>
            <a:chExt cx="3801999" cy="498729"/>
          </a:xfrm>
        </p:grpSpPr>
        <p:sp>
          <p:nvSpPr>
            <p:cNvPr id="14" name="TextBox 14"/>
            <p:cNvSpPr txBox="1"/>
            <p:nvPr/>
          </p:nvSpPr>
          <p:spPr>
            <a:xfrm>
              <a:off x="4195000" y="4001452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FFFFFF"/>
                  </a:solidFill>
                  <a:latin typeface="黑体"/>
                  <a:ea typeface="Microsoft YaHei"/>
                  <a:cs typeface="黑体"/>
                </a:rPr>
                <a:t>谢谢各位评委，欢迎提问</a:t>
              </a:r>
            </a:p>
          </p:txBody>
        </p:sp>
      </p:grp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DFlMjQ2NDczNzA0OWJlNDA3OTJmZGZiMDA3NzgwZj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AICARD_INVALID" val="Invalid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AICARD_INVALID" val="Invalid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6955</Words>
  <Application>Microsoft Office PowerPoint</Application>
  <PresentationFormat>宽屏</PresentationFormat>
  <Paragraphs>401</Paragraphs>
  <Slides>35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0" baseType="lpstr">
      <vt:lpstr>等线</vt:lpstr>
      <vt:lpstr>黑体</vt:lpstr>
      <vt:lpstr>Microsoft YaHei</vt:lpstr>
      <vt:lpstr>Arial</vt:lpstr>
      <vt:lpstr>Office 主题​​</vt:lpstr>
      <vt:lpstr>PowerPoint 演示文稿</vt:lpstr>
      <vt:lpstr>PowerPoint 演示文稿</vt:lpstr>
      <vt:lpstr>项目介绍</vt:lpstr>
      <vt:lpstr>PowerPoint 演示文稿</vt:lpstr>
      <vt:lpstr>PowerPoint 演示文稿</vt:lpstr>
      <vt:lpstr>1.2 设计目标</vt:lpstr>
      <vt:lpstr>1.3 较同类产品的优势</vt:lpstr>
      <vt:lpstr>PowerPoint 演示文稿</vt:lpstr>
      <vt:lpstr>1.5 应用场景与问题范围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4.2 总体性能与计算代价</vt:lpstr>
      <vt:lpstr>PowerPoint 演示文稿</vt:lpstr>
      <vt:lpstr>PowerPoint 演示文稿</vt:lpstr>
      <vt:lpstr>4.5 组件贡献与收益归因</vt:lpstr>
      <vt:lpstr>PowerPoint 演示文稿</vt:lpstr>
      <vt:lpstr>5.1 作品演示播放：启动与场景</vt:lpstr>
      <vt:lpstr>5.2 作品演示：策略与时间线</vt:lpstr>
      <vt:lpstr>5.3 作品演示：依赖与结果导出</vt:lpstr>
      <vt:lpstr>项目价值与后续计划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17 Amzingj</cp:lastModifiedBy>
  <cp:revision>91</cp:revision>
  <dcterms:created xsi:type="dcterms:W3CDTF">2024-08-05T03:21:00Z</dcterms:created>
  <dcterms:modified xsi:type="dcterms:W3CDTF">2026-10-06T12:49:59Z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635092E4E9B944459AE593E852D97D2E_13</vt:lpwstr>
  </property>
  <property fmtid="{D5CDD505-2E9C-101B-9397-08002B2CF9AE}" pid="3" name="KSOProductBuildVer">
    <vt:lpwstr>2052-12.1.0.26895</vt:lpwstr>
  </property>
</Properties>
</file>